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28292" y="2781604"/>
            <a:ext cx="3905402" cy="39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428292" y="1123797"/>
            <a:ext cx="738377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INTRODUCING · CLAUDE TAG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428292" y="1505102"/>
            <a:ext cx="7383779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Helvetica Neue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Meet </a:t>
            </a:r>
            <a:r>
              <a:rPr b="1" i="0" lang="en-US" sz="63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  <a:p>
            <a:pPr indent="0" lvl="0" marL="0" marR="0" rtl="0" algn="l">
              <a:lnSpc>
                <a:spcPct val="1020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Helvetica Neue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on your team.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428292" y="3384194"/>
            <a:ext cx="5829300" cy="9857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581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720"/>
              <a:buFont typeface="Helvetica Neue"/>
              <a:buNone/>
            </a:pPr>
            <a:r>
              <a:rPr b="0" i="0" lang="en-US" sz="17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 turns Anthropic's most capable model into a teammate that lives inside your Slack — tagged, trusted, and always working.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626096" y="3438144"/>
            <a:ext cx="4187037" cy="2367381"/>
          </a:xfrm>
          <a:prstGeom prst="roundRect">
            <a:avLst>
              <a:gd fmla="val 7240" name="adj"/>
            </a:avLst>
          </a:prstGeom>
          <a:solidFill>
            <a:srgbClr val="2B0F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488936" y="3273552"/>
            <a:ext cx="4205325" cy="2786176"/>
          </a:xfrm>
          <a:prstGeom prst="roundRect">
            <a:avLst>
              <a:gd fmla="val 61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726679" y="3630168"/>
            <a:ext cx="437083" cy="437083"/>
          </a:xfrm>
          <a:prstGeom prst="roundRect">
            <a:avLst>
              <a:gd fmla="val 2398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726679" y="3630168"/>
            <a:ext cx="445312" cy="43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284464" y="3593592"/>
            <a:ext cx="666597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9015984" y="3611880"/>
            <a:ext cx="4791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9:41 AM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8302752" y="3749039"/>
            <a:ext cx="3161080" cy="724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you draft the launch FAQ?</a:t>
            </a:r>
            <a:endParaRPr/>
          </a:p>
        </p:txBody>
      </p:sp>
      <p:pic>
        <p:nvPicPr>
          <p:cNvPr descr="claude_avatar.png" id="107" name="Google Shape;10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4626864"/>
            <a:ext cx="437083" cy="437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8330183" y="4599432"/>
            <a:ext cx="595274" cy="2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8988552" y="4608576"/>
            <a:ext cx="341985" cy="176479"/>
          </a:xfrm>
          <a:prstGeom prst="roundRect">
            <a:avLst>
              <a:gd fmla="val 216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8988552" y="4608576"/>
            <a:ext cx="349300" cy="176479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409176" y="4599432"/>
            <a:ext cx="4791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9:41 AM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339327" y="4745736"/>
            <a:ext cx="3161080" cy="724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it — pulling context from </a:t>
            </a:r>
            <a:r>
              <a:rPr b="1" i="0" lang="en-US" sz="1500" u="none" cap="none" strike="noStrike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#launch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now.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8375904" y="5559552"/>
            <a:ext cx="484632" cy="258775"/>
          </a:xfrm>
          <a:prstGeom prst="roundRect">
            <a:avLst>
              <a:gd fmla="val 4789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8494776" y="5632704"/>
            <a:ext cx="108813" cy="108813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8924544" y="5532120"/>
            <a:ext cx="484632" cy="258775"/>
          </a:xfrm>
          <a:prstGeom prst="roundRect">
            <a:avLst>
              <a:gd fmla="val 4789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043416" y="5605272"/>
            <a:ext cx="108813" cy="108813"/>
          </a:xfrm>
          <a:prstGeom prst="roundRect">
            <a:avLst>
              <a:gd fmla="val 50000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122" name="Google Shape;1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123" name="Google Shape;1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304" y="-1428292"/>
            <a:ext cx="4953304" cy="4953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125" name="Google Shape;1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428292" y="1428292"/>
            <a:ext cx="893826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THE WHOLE IDEA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428292" y="1848002"/>
            <a:ext cx="893826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 it.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go do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something else.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28292" y="4515307"/>
            <a:ext cx="6217920" cy="5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650"/>
              <a:buFont typeface="Helvetica Neue"/>
              <a:buNone/>
            </a:pPr>
            <a:r>
              <a:rPr b="0" i="0" lang="en-US" sz="165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new app to learn. No prompt to perfect. You already know how to @mention a teammate.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1428292" y="5257800"/>
            <a:ext cx="8001000" cy="629107"/>
          </a:xfrm>
          <a:prstGeom prst="roundRect">
            <a:avLst>
              <a:gd fmla="val 2121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1638604" y="5443423"/>
            <a:ext cx="924458" cy="256946"/>
          </a:xfrm>
          <a:prstGeom prst="roundRect">
            <a:avLst>
              <a:gd fmla="val 2222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638604" y="5443423"/>
            <a:ext cx="942746" cy="256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658160" y="5458053"/>
            <a:ext cx="4910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today's standup and DM me the action items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7566660" y="5467197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9080906" y="5486400"/>
            <a:ext cx="1426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428292" y="6000292"/>
            <a:ext cx="816102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A7B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A7BA"/>
                </a:solidFill>
                <a:latin typeface="Arial"/>
                <a:ea typeface="Arial"/>
                <a:cs typeface="Arial"/>
                <a:sym typeface="Arial"/>
              </a:rPr>
              <a:t>message #team-standup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5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2" name="Google Shape;162;p15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173" name="Google Shape;1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30861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5"/>
          <p:cNvCxnSpPr/>
          <p:nvPr/>
        </p:nvCxnSpPr>
        <p:spPr>
          <a:xfrm>
            <a:off x="3295497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3" name="Google Shape;183;p15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184" name="Google Shape;184;p15"/>
          <p:cNvCxnSpPr/>
          <p:nvPr/>
        </p:nvCxnSpPr>
        <p:spPr>
          <a:xfrm>
            <a:off x="4821631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5" name="Google Shape;185;p15"/>
          <p:cNvSpPr txBox="1"/>
          <p:nvPr/>
        </p:nvSpPr>
        <p:spPr>
          <a:xfrm>
            <a:off x="4817059" y="219456"/>
            <a:ext cx="152796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this, exactly?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3676802" y="895197"/>
            <a:ext cx="418795" cy="4187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3676802" y="895197"/>
            <a:ext cx="427939" cy="418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4238244" y="895197"/>
            <a:ext cx="65745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4968849" y="933602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10:02 AM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4238244" y="1152144"/>
            <a:ext cx="772393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what are you, exactly? A bot?</a:t>
            </a:r>
            <a:endParaRPr/>
          </a:p>
        </p:txBody>
      </p:sp>
      <p:pic>
        <p:nvPicPr>
          <p:cNvPr descr="claude_avatar.png" id="198" name="Google Shape;1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802" y="1656892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/>
          <p:nvPr/>
        </p:nvSpPr>
        <p:spPr>
          <a:xfrm>
            <a:off x="4238244" y="1656892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899355" y="1686153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4899355" y="1686153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5319979" y="1695297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10:02 AM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4238244" y="1914753"/>
            <a:ext cx="7723936" cy="2143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47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79"/>
              <a:buFont typeface="Helvetica Neue"/>
              <a:buNone/>
            </a:pP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bot — a </a:t>
            </a:r>
            <a:r>
              <a:rPr b="1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teammate</a:t>
            </a: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There's one of me in this channel, working alongside all of you.</a:t>
            </a:r>
            <a:endParaRPr/>
          </a:p>
          <a:p>
            <a:pPr indent="0" lvl="0" marL="0" marR="0" rtl="0" algn="l">
              <a:lnSpc>
                <a:spcPct val="149547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79"/>
              <a:buFont typeface="Helvetica Neue"/>
              <a:buNone/>
            </a:pP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</a:t>
            </a:r>
            <a:r>
              <a:rPr b="1" i="0" lang="en-US" sz="188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 like anyone else. I read the channel, pick up context, break the request into steps, use the tools I'm given, and reply right here in the thread.</a:t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4238244" y="4162348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352544" y="4229100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4788712" y="4162348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903012" y="4229100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5340096" y="4162348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5454396" y="4229100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215" name="Google Shape;2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6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16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239" name="Google Shape;2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30861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6"/>
          <p:cNvCxnSpPr/>
          <p:nvPr/>
        </p:nvCxnSpPr>
        <p:spPr>
          <a:xfrm>
            <a:off x="3295497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9" name="Google Shape;249;p16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250" name="Google Shape;250;p16"/>
          <p:cNvCxnSpPr/>
          <p:nvPr/>
        </p:nvCxnSpPr>
        <p:spPr>
          <a:xfrm>
            <a:off x="4451299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6"/>
          <p:cNvSpPr txBox="1"/>
          <p:nvPr/>
        </p:nvSpPr>
        <p:spPr>
          <a:xfrm>
            <a:off x="4446727" y="219456"/>
            <a:ext cx="207568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Claude. The whole team.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3676802" y="838504"/>
            <a:ext cx="418795" cy="4187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3676802" y="838504"/>
            <a:ext cx="427939" cy="418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4238244" y="838504"/>
            <a:ext cx="65745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4968849" y="875995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11:14 AM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4238244" y="1095451"/>
            <a:ext cx="772393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what's left before we ship?</a:t>
            </a:r>
            <a:endParaRPr/>
          </a:p>
        </p:txBody>
      </p:sp>
      <p:pic>
        <p:nvPicPr>
          <p:cNvPr descr="claude_avatar.png" id="264" name="Google Shape;26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802" y="1600200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/>
        </p:nvSpPr>
        <p:spPr>
          <a:xfrm>
            <a:off x="4238244" y="1600200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4899355" y="1628546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4899355" y="1628546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5319979" y="1638604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11:14 AM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4238244" y="1857146"/>
            <a:ext cx="772393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open items. I'll keep this thread updated as they close.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3676802" y="2361895"/>
            <a:ext cx="418795" cy="4187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3676802" y="2361895"/>
            <a:ext cx="427939" cy="418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MT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4238244" y="2361895"/>
            <a:ext cx="5888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4902098" y="2400300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11:16 AM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4238244" y="2619756"/>
            <a:ext cx="772393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 the security review to that list</a:t>
            </a:r>
            <a:endParaRPr/>
          </a:p>
        </p:txBody>
      </p:sp>
      <p:pic>
        <p:nvPicPr>
          <p:cNvPr descr="claude_avatar.png" id="275" name="Google Shape;27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802" y="3124504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4238244" y="3124504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899355" y="3152851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4899355" y="3152851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5319979" y="3161995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11:16 AM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4238244" y="3381451"/>
            <a:ext cx="772393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Added. Same list, same Claude — everyone here sees one shared source of truth.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4238244" y="3781044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4352544" y="3847795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4788712" y="3781044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4903012" y="3847795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3676802" y="5876848"/>
            <a:ext cx="8134502" cy="733348"/>
          </a:xfrm>
          <a:prstGeom prst="roundRect">
            <a:avLst>
              <a:gd fmla="val 15580" name="adj"/>
            </a:avLst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3676802" y="5876848"/>
            <a:ext cx="8297265" cy="733348"/>
          </a:xfrm>
          <a:prstGeom prst="rect">
            <a:avLst/>
          </a:prstGeom>
          <a:noFill/>
          <a:ln>
            <a:noFill/>
          </a:ln>
        </p:spPr>
        <p:txBody>
          <a:bodyPr anchorCtr="0" anchor="t" bIns="152700" lIns="209375" spcFirstLastPara="1" rIns="209375" wrap="square" tIns="152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Multiplayer by default.</a:t>
            </a: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35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Within a channel there's one Claude that interacts with everyone — no private silos, no repeated context.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292" name="Google Shape;2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294" name="Google Shape;2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724204" y="0"/>
            <a:ext cx="11466576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7"/>
          <p:cNvCxnSpPr/>
          <p:nvPr/>
        </p:nvCxnSpPr>
        <p:spPr>
          <a:xfrm>
            <a:off x="724204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5" name="Google Shape;305;p17"/>
          <p:cNvSpPr txBox="1"/>
          <p:nvPr/>
        </p:nvSpPr>
        <p:spPr>
          <a:xfrm>
            <a:off x="990295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306" name="Google Shape;306;p17"/>
          <p:cNvCxnSpPr/>
          <p:nvPr/>
        </p:nvCxnSpPr>
        <p:spPr>
          <a:xfrm>
            <a:off x="3194913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7" name="Google Shape;307;p17"/>
          <p:cNvSpPr txBox="1"/>
          <p:nvPr/>
        </p:nvSpPr>
        <p:spPr>
          <a:xfrm>
            <a:off x="3190341" y="219456"/>
            <a:ext cx="2507284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gets sharper the longer it's around</a:t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11064240" y="128016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1119104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11119104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11283696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11283696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1457432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11457432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1390802" y="1047902"/>
            <a:ext cx="10337292" cy="5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450"/>
              <a:buFont typeface="Helvetica Neue"/>
              <a:buNone/>
            </a:pPr>
            <a:r>
              <a:rPr b="1" i="0" lang="en-US" sz="34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remembers.</a:t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1390802" y="1676095"/>
            <a:ext cx="6606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accumulates context over time — and, with permission, learns from your other channels and connected data sources.</a:t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1390802" y="2691079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7"/>
          <p:cNvCxnSpPr/>
          <p:nvPr/>
        </p:nvCxnSpPr>
        <p:spPr>
          <a:xfrm>
            <a:off x="1390802" y="2695651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9" name="Google Shape;319;p17"/>
          <p:cNvCxnSpPr/>
          <p:nvPr/>
        </p:nvCxnSpPr>
        <p:spPr>
          <a:xfrm>
            <a:off x="4243730" y="2691079"/>
            <a:ext cx="0" cy="5047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0" name="Google Shape;320;p17"/>
          <p:cNvCxnSpPr/>
          <p:nvPr/>
        </p:nvCxnSpPr>
        <p:spPr>
          <a:xfrm>
            <a:off x="1390802" y="3191256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1" name="Google Shape;321;p17"/>
          <p:cNvCxnSpPr/>
          <p:nvPr/>
        </p:nvCxnSpPr>
        <p:spPr>
          <a:xfrm>
            <a:off x="1414576" y="2691079"/>
            <a:ext cx="0" cy="504749"/>
          </a:xfrm>
          <a:prstGeom prst="straightConnector1">
            <a:avLst/>
          </a:prstGeom>
          <a:noFill/>
          <a:ln cap="flat" cmpd="sng" w="48250">
            <a:solidFill>
              <a:srgbClr val="2EB6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2" name="Google Shape;322;p17"/>
          <p:cNvSpPr txBox="1"/>
          <p:nvPr/>
        </p:nvSpPr>
        <p:spPr>
          <a:xfrm>
            <a:off x="1390802" y="2691079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every channel</a:t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1390802" y="3329330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17"/>
          <p:cNvCxnSpPr/>
          <p:nvPr/>
        </p:nvCxnSpPr>
        <p:spPr>
          <a:xfrm>
            <a:off x="1390802" y="3333902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5" name="Google Shape;325;p17"/>
          <p:cNvCxnSpPr/>
          <p:nvPr/>
        </p:nvCxnSpPr>
        <p:spPr>
          <a:xfrm>
            <a:off x="4243730" y="3329330"/>
            <a:ext cx="0" cy="5047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6" name="Google Shape;326;p17"/>
          <p:cNvCxnSpPr/>
          <p:nvPr/>
        </p:nvCxnSpPr>
        <p:spPr>
          <a:xfrm>
            <a:off x="1390802" y="3829507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7" name="Google Shape;327;p17"/>
          <p:cNvCxnSpPr/>
          <p:nvPr/>
        </p:nvCxnSpPr>
        <p:spPr>
          <a:xfrm>
            <a:off x="1414576" y="3329330"/>
            <a:ext cx="0" cy="504749"/>
          </a:xfrm>
          <a:prstGeom prst="straightConnector1">
            <a:avLst/>
          </a:prstGeom>
          <a:noFill/>
          <a:ln cap="flat" cmpd="sng" w="48250">
            <a:solidFill>
              <a:srgbClr val="36C5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8" name="Google Shape;328;p17"/>
          <p:cNvSpPr txBox="1"/>
          <p:nvPr/>
        </p:nvSpPr>
        <p:spPr>
          <a:xfrm>
            <a:off x="1390802" y="3329330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Connected data sources</a:t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1390802" y="3967581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7"/>
          <p:cNvCxnSpPr/>
          <p:nvPr/>
        </p:nvCxnSpPr>
        <p:spPr>
          <a:xfrm>
            <a:off x="1390802" y="3972153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1" name="Google Shape;331;p17"/>
          <p:cNvCxnSpPr/>
          <p:nvPr/>
        </p:nvCxnSpPr>
        <p:spPr>
          <a:xfrm>
            <a:off x="4243730" y="3967581"/>
            <a:ext cx="0" cy="5047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2" name="Google Shape;332;p17"/>
          <p:cNvCxnSpPr/>
          <p:nvPr/>
        </p:nvCxnSpPr>
        <p:spPr>
          <a:xfrm>
            <a:off x="1390802" y="4466844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17"/>
          <p:cNvCxnSpPr/>
          <p:nvPr/>
        </p:nvCxnSpPr>
        <p:spPr>
          <a:xfrm>
            <a:off x="1414576" y="3967581"/>
            <a:ext cx="0" cy="504749"/>
          </a:xfrm>
          <a:prstGeom prst="straightConnector1">
            <a:avLst/>
          </a:prstGeom>
          <a:noFill/>
          <a:ln cap="flat" cmpd="sng" w="48250">
            <a:solidFill>
              <a:srgbClr val="ECB2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17"/>
          <p:cNvSpPr txBox="1"/>
          <p:nvPr/>
        </p:nvSpPr>
        <p:spPr>
          <a:xfrm>
            <a:off x="1390802" y="3967581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Past threads &amp; decisions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4533595" y="3338474"/>
            <a:ext cx="413308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⟶</a:t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 rot="360000">
            <a:off x="5395874" y="2799892"/>
            <a:ext cx="1561795" cy="1561795"/>
          </a:xfrm>
          <a:prstGeom prst="roundRect">
            <a:avLst>
              <a:gd fmla="val 1707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5510174" y="2915107"/>
            <a:ext cx="1333195" cy="1333195"/>
          </a:xfrm>
          <a:prstGeom prst="roundRect">
            <a:avLst>
              <a:gd fmla="val 1714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338" name="Google Shape;3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479" y="303855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7"/>
          <p:cNvSpPr txBox="1"/>
          <p:nvPr/>
        </p:nvSpPr>
        <p:spPr>
          <a:xfrm>
            <a:off x="5820156" y="3685946"/>
            <a:ext cx="728776" cy="437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Claude's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7414869" y="3338474"/>
            <a:ext cx="413308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⟶</a:t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8106156" y="2763316"/>
            <a:ext cx="3419856" cy="1634947"/>
          </a:xfrm>
          <a:prstGeom prst="roundRect">
            <a:avLst>
              <a:gd fmla="val 9320" name="adj"/>
            </a:avLst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8353044" y="2991916"/>
            <a:ext cx="298277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7B9D8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7B9D8"/>
                </a:solidFill>
                <a:latin typeface="Arial"/>
                <a:ea typeface="Arial"/>
                <a:cs typeface="Arial"/>
                <a:sym typeface="Arial"/>
              </a:rPr>
              <a:t>THE PAYOFF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8353044" y="3258921"/>
            <a:ext cx="2982772" cy="911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8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Helvetica Neu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Answers grounded in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your team actually works</a:t>
            </a:r>
            <a:r>
              <a:rPr b="0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not a blank slate every time.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1390802" y="4819802"/>
            <a:ext cx="103372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Arial"/>
                <a:ea typeface="Arial"/>
                <a:cs typeface="Arial"/>
                <a:sym typeface="Arial"/>
              </a:rPr>
              <a:t>🔒 Access is admin-controlled — Claude only learns where it's granted permission.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350" name="Google Shape;3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8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352" name="Google Shape;3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8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8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3" name="Google Shape;363;p18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71" name="Google Shape;371;p18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374" name="Google Shape;3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30861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8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8"/>
          <p:cNvCxnSpPr/>
          <p:nvPr/>
        </p:nvCxnSpPr>
        <p:spPr>
          <a:xfrm>
            <a:off x="3295497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4" name="Google Shape;384;p18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385" name="Google Shape;385;p18"/>
          <p:cNvCxnSpPr/>
          <p:nvPr/>
        </p:nvCxnSpPr>
        <p:spPr>
          <a:xfrm>
            <a:off x="4821631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6" name="Google Shape;386;p18"/>
          <p:cNvSpPr txBox="1"/>
          <p:nvPr/>
        </p:nvSpPr>
        <p:spPr>
          <a:xfrm>
            <a:off x="4817059" y="219456"/>
            <a:ext cx="1388059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Ambient mode · on</a:t>
            </a:r>
            <a:endParaRPr/>
          </a:p>
        </p:txBody>
      </p:sp>
      <p:sp>
        <p:nvSpPr>
          <p:cNvPr id="387" name="Google Shape;387;p18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3676802" y="895197"/>
            <a:ext cx="8297265" cy="5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300"/>
              <a:buFont typeface="Helvetica Neue"/>
              <a:buNone/>
            </a:pPr>
            <a:r>
              <a:rPr b="1" i="0" lang="en-US" sz="33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speaks up first.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3676802" y="1485900"/>
            <a:ext cx="6995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Turn on ambient behavior and Claude proactively flags what you need to know — and follows up on what's still open.</a:t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3847795" y="2553004"/>
            <a:ext cx="7239304" cy="1143000"/>
          </a:xfrm>
          <a:prstGeom prst="roundRect">
            <a:avLst>
              <a:gd fmla="val 13330" name="adj"/>
            </a:avLst>
          </a:prstGeom>
          <a:solidFill>
            <a:srgbClr val="F1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3676802" y="2324404"/>
            <a:ext cx="7239304" cy="1457553"/>
          </a:xfrm>
          <a:prstGeom prst="roundRect">
            <a:avLst>
              <a:gd fmla="val 1046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398" name="Google Shape;3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4546" y="2523744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8"/>
          <p:cNvSpPr txBox="1"/>
          <p:nvPr/>
        </p:nvSpPr>
        <p:spPr>
          <a:xfrm>
            <a:off x="4476902" y="2523744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5137099" y="2553004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5137099" y="2553004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402" name="Google Shape;402;p18"/>
          <p:cNvSpPr txBox="1"/>
          <p:nvPr/>
        </p:nvSpPr>
        <p:spPr>
          <a:xfrm>
            <a:off x="5557723" y="2562148"/>
            <a:ext cx="47457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now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4476902" y="2781604"/>
            <a:ext cx="6324904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Heads up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the vendor finally replied in </a:t>
            </a:r>
            <a:r>
              <a:rPr b="1" i="0" lang="en-US" sz="1500" u="none" cap="none" strike="noStrike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#legal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 contract blocker you flagged Tuesday is cleared. Want me to ping the team?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4533595" y="3962095"/>
            <a:ext cx="7239304" cy="1800453"/>
          </a:xfrm>
          <a:prstGeom prst="roundRect">
            <a:avLst>
              <a:gd fmla="val 84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18"/>
          <p:cNvCxnSpPr/>
          <p:nvPr/>
        </p:nvCxnSpPr>
        <p:spPr>
          <a:xfrm>
            <a:off x="4533595" y="3967581"/>
            <a:ext cx="7239305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6" name="Google Shape;406;p18"/>
          <p:cNvCxnSpPr/>
          <p:nvPr/>
        </p:nvCxnSpPr>
        <p:spPr>
          <a:xfrm>
            <a:off x="11768328" y="3962095"/>
            <a:ext cx="0" cy="1800453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7" name="Google Shape;407;p18"/>
          <p:cNvCxnSpPr/>
          <p:nvPr/>
        </p:nvCxnSpPr>
        <p:spPr>
          <a:xfrm>
            <a:off x="4533595" y="5757976"/>
            <a:ext cx="7239305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8" name="Google Shape;408;p18"/>
          <p:cNvCxnSpPr/>
          <p:nvPr/>
        </p:nvCxnSpPr>
        <p:spPr>
          <a:xfrm>
            <a:off x="4557369" y="3962095"/>
            <a:ext cx="0" cy="1800453"/>
          </a:xfrm>
          <a:prstGeom prst="straightConnector1">
            <a:avLst/>
          </a:prstGeom>
          <a:noFill/>
          <a:ln cap="flat" cmpd="sng" w="482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claude_avatar.png" id="409" name="Google Shape;4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9744" y="4162348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8"/>
          <p:cNvSpPr txBox="1"/>
          <p:nvPr/>
        </p:nvSpPr>
        <p:spPr>
          <a:xfrm>
            <a:off x="5372100" y="4162348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6032296" y="4190695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6032296" y="4190695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413" name="Google Shape;413;p18"/>
          <p:cNvSpPr txBox="1"/>
          <p:nvPr/>
        </p:nvSpPr>
        <p:spPr>
          <a:xfrm>
            <a:off x="6453835" y="4200753"/>
            <a:ext cx="472744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8:00 AM</a:t>
            </a:r>
            <a:endParaRPr/>
          </a:p>
        </p:txBody>
      </p:sp>
      <p:sp>
        <p:nvSpPr>
          <p:cNvPr id="414" name="Google Shape;414;p18"/>
          <p:cNvSpPr txBox="1"/>
          <p:nvPr/>
        </p:nvSpPr>
        <p:spPr>
          <a:xfrm>
            <a:off x="5372100" y="4419295"/>
            <a:ext cx="6285585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3 open items from yesterday: 2 done, 1 waiting on design. I'll nudge them at noon if it's still open.</a:t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5372100" y="5115153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5486400" y="5181904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422" name="Google Shape;4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423" name="Google Shape;4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902" y="2971800"/>
            <a:ext cx="3714292" cy="371429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9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425" name="Google Shape;4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9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1428292" y="914400"/>
            <a:ext cx="505206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ASYNCHRONOUS BY DESIGN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1428292" y="1295704"/>
            <a:ext cx="5052060" cy="185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works</a:t>
            </a:r>
            <a:endParaRPr/>
          </a:p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you're</a:t>
            </a:r>
            <a:endParaRPr/>
          </a:p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away.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1428292" y="3384194"/>
            <a:ext cx="4177893" cy="714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580"/>
              <a:buFont typeface="Helvetica Neue"/>
              <a:buNone/>
            </a:pPr>
            <a:r>
              <a:rPr b="0" i="0" lang="en-US" sz="158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 off a project and close the laptop. Claude schedules its own tasks and pursues the goal autonomously — over hours or days.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6858000" y="1143000"/>
            <a:ext cx="4476902" cy="3323844"/>
          </a:xfrm>
          <a:prstGeom prst="roundRect">
            <a:avLst>
              <a:gd fmla="val 5160" name="adj"/>
            </a:avLst>
          </a:prstGeom>
          <a:solidFill>
            <a:srgbClr val="34153A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 txBox="1"/>
          <p:nvPr/>
        </p:nvSpPr>
        <p:spPr>
          <a:xfrm>
            <a:off x="7134148" y="1399946"/>
            <a:ext cx="400324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C9AFC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C9AFCB"/>
                </a:solidFill>
                <a:latin typeface="Arial"/>
                <a:ea typeface="Arial"/>
                <a:cs typeface="Arial"/>
                <a:sym typeface="Arial"/>
              </a:rPr>
              <a:t>THREAD · MIGRATE-BILLING</a:t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7134148" y="1781251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7401153" y="1733702"/>
            <a:ext cx="2165299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Mapped the legacy schema</a:t>
            </a: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7401153" y="1952243"/>
            <a:ext cx="2165299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09:12 · done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7134148" y="2324404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7401153" y="2276856"/>
            <a:ext cx="2147925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+ ran migration tests</a:t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7401153" y="2495397"/>
            <a:ext cx="214792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14:40 · done</a:t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7134148" y="2866644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 txBox="1"/>
          <p:nvPr/>
        </p:nvSpPr>
        <p:spPr>
          <a:xfrm>
            <a:off x="7401153" y="2819095"/>
            <a:ext cx="2242108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Scheduled overnight backfill</a:t>
            </a:r>
            <a:endParaRPr/>
          </a:p>
        </p:txBody>
      </p:sp>
      <p:sp>
        <p:nvSpPr>
          <p:cNvPr id="447" name="Google Shape;447;p19"/>
          <p:cNvSpPr txBox="1"/>
          <p:nvPr/>
        </p:nvSpPr>
        <p:spPr>
          <a:xfrm>
            <a:off x="7401153" y="3038551"/>
            <a:ext cx="2242108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23:00 · queued</a:t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7134148" y="3409797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 txBox="1"/>
          <p:nvPr/>
        </p:nvSpPr>
        <p:spPr>
          <a:xfrm>
            <a:off x="7401153" y="3362248"/>
            <a:ext cx="163769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report back here</a:t>
            </a:r>
            <a:endParaRPr/>
          </a:p>
        </p:txBody>
      </p:sp>
      <p:sp>
        <p:nvSpPr>
          <p:cNvPr id="450" name="Google Shape;450;p19"/>
          <p:cNvSpPr txBox="1"/>
          <p:nvPr/>
        </p:nvSpPr>
        <p:spPr>
          <a:xfrm>
            <a:off x="7401153" y="3581704"/>
            <a:ext cx="163769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Tue 08:00 · upcoming</a:t>
            </a:r>
            <a:endParaRPr/>
          </a:p>
        </p:txBody>
      </p:sp>
      <p:cxnSp>
        <p:nvCxnSpPr>
          <p:cNvPr id="451" name="Google Shape;451;p19"/>
          <p:cNvCxnSpPr/>
          <p:nvPr/>
        </p:nvCxnSpPr>
        <p:spPr>
          <a:xfrm>
            <a:off x="7134148" y="3909974"/>
            <a:ext cx="3924605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2" name="Google Shape;452;p19"/>
          <p:cNvSpPr txBox="1"/>
          <p:nvPr/>
        </p:nvSpPr>
        <p:spPr>
          <a:xfrm>
            <a:off x="7134148" y="3905402"/>
            <a:ext cx="4003243" cy="3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5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babysitting. It checks back in when it's done.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458" name="Google Shape;4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0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460" name="Google Shape;4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724204" y="0"/>
            <a:ext cx="11466576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0"/>
          <p:cNvCxnSpPr/>
          <p:nvPr/>
        </p:nvCxnSpPr>
        <p:spPr>
          <a:xfrm>
            <a:off x="724204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1" name="Google Shape;471;p20"/>
          <p:cNvSpPr txBox="1"/>
          <p:nvPr/>
        </p:nvSpPr>
        <p:spPr>
          <a:xfrm>
            <a:off x="990295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472" name="Google Shape;472;p20"/>
          <p:cNvCxnSpPr/>
          <p:nvPr/>
        </p:nvCxnSpPr>
        <p:spPr>
          <a:xfrm>
            <a:off x="2485339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3" name="Google Shape;473;p20"/>
          <p:cNvSpPr txBox="1"/>
          <p:nvPr/>
        </p:nvSpPr>
        <p:spPr>
          <a:xfrm>
            <a:off x="2480767" y="219456"/>
            <a:ext cx="1968703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@mention to delivered</a:t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11064240" y="128016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1119104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11119104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11283696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 txBox="1"/>
          <p:nvPr/>
        </p:nvSpPr>
        <p:spPr>
          <a:xfrm>
            <a:off x="11283696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11457432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11457432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481" name="Google Shape;481;p20"/>
          <p:cNvSpPr txBox="1"/>
          <p:nvPr/>
        </p:nvSpPr>
        <p:spPr>
          <a:xfrm>
            <a:off x="1333195" y="1028700"/>
            <a:ext cx="10453420" cy="5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450"/>
              <a:buFont typeface="Helvetica Neue"/>
              <a:buNone/>
            </a:pPr>
            <a:r>
              <a:rPr b="1" i="0" lang="en-US" sz="34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moves, every time.</a:t>
            </a:r>
            <a:endParaRPr/>
          </a:p>
        </p:txBody>
      </p:sp>
      <p:sp>
        <p:nvSpPr>
          <p:cNvPr id="482" name="Google Shape;482;p20"/>
          <p:cNvSpPr txBox="1"/>
          <p:nvPr/>
        </p:nvSpPr>
        <p:spPr>
          <a:xfrm>
            <a:off x="1333195" y="1656892"/>
            <a:ext cx="104534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loop, whether the task takes ten seconds or two days.</a:t>
            </a: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1333195" y="2286000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20"/>
          <p:cNvCxnSpPr/>
          <p:nvPr/>
        </p:nvCxnSpPr>
        <p:spPr>
          <a:xfrm>
            <a:off x="1333195" y="2314346"/>
            <a:ext cx="2419502" cy="0"/>
          </a:xfrm>
          <a:prstGeom prst="straightConnector1">
            <a:avLst/>
          </a:prstGeom>
          <a:noFill/>
          <a:ln cap="flat" cmpd="sng" w="57150">
            <a:solidFill>
              <a:srgbClr val="E01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5" name="Google Shape;485;p20"/>
          <p:cNvCxnSpPr/>
          <p:nvPr/>
        </p:nvCxnSpPr>
        <p:spPr>
          <a:xfrm>
            <a:off x="3748125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6" name="Google Shape;486;p20"/>
          <p:cNvCxnSpPr/>
          <p:nvPr/>
        </p:nvCxnSpPr>
        <p:spPr>
          <a:xfrm>
            <a:off x="1333195" y="4134916"/>
            <a:ext cx="2419502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7" name="Google Shape;487;p20"/>
          <p:cNvCxnSpPr/>
          <p:nvPr/>
        </p:nvCxnSpPr>
        <p:spPr>
          <a:xfrm>
            <a:off x="1338681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8" name="Google Shape;488;p20"/>
          <p:cNvSpPr txBox="1"/>
          <p:nvPr/>
        </p:nvSpPr>
        <p:spPr>
          <a:xfrm>
            <a:off x="1552651" y="2571292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1E5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01E5A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89" name="Google Shape;489;p20"/>
          <p:cNvSpPr txBox="1"/>
          <p:nvPr/>
        </p:nvSpPr>
        <p:spPr>
          <a:xfrm>
            <a:off x="1552651" y="2838297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tag it</a:t>
            </a:r>
            <a:endParaRPr/>
          </a:p>
        </p:txBody>
      </p:sp>
      <p:sp>
        <p:nvSpPr>
          <p:cNvPr id="490" name="Google Shape;490;p20"/>
          <p:cNvSpPr txBox="1"/>
          <p:nvPr/>
        </p:nvSpPr>
        <p:spPr>
          <a:xfrm>
            <a:off x="1552651" y="3196742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plus a plain-language request, right in the channel.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3942892" y="2286000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0"/>
          <p:cNvCxnSpPr/>
          <p:nvPr/>
        </p:nvCxnSpPr>
        <p:spPr>
          <a:xfrm>
            <a:off x="3942892" y="2314346"/>
            <a:ext cx="2419503" cy="0"/>
          </a:xfrm>
          <a:prstGeom prst="straightConnector1">
            <a:avLst/>
          </a:prstGeom>
          <a:noFill/>
          <a:ln cap="flat" cmpd="sng" w="57150">
            <a:solidFill>
              <a:srgbClr val="36C5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93" name="Google Shape;493;p20"/>
          <p:cNvCxnSpPr/>
          <p:nvPr/>
        </p:nvCxnSpPr>
        <p:spPr>
          <a:xfrm>
            <a:off x="6357823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94" name="Google Shape;494;p20"/>
          <p:cNvCxnSpPr/>
          <p:nvPr/>
        </p:nvCxnSpPr>
        <p:spPr>
          <a:xfrm>
            <a:off x="3942892" y="4134916"/>
            <a:ext cx="2419503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95" name="Google Shape;495;p20"/>
          <p:cNvCxnSpPr/>
          <p:nvPr/>
        </p:nvCxnSpPr>
        <p:spPr>
          <a:xfrm>
            <a:off x="3948379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6" name="Google Shape;496;p20"/>
          <p:cNvSpPr txBox="1"/>
          <p:nvPr/>
        </p:nvSpPr>
        <p:spPr>
          <a:xfrm>
            <a:off x="4162348" y="2571292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6C5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6C5F0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497" name="Google Shape;497;p20"/>
          <p:cNvSpPr txBox="1"/>
          <p:nvPr/>
        </p:nvSpPr>
        <p:spPr>
          <a:xfrm>
            <a:off x="4162348" y="2838297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plans</a:t>
            </a:r>
            <a:endParaRPr/>
          </a:p>
        </p:txBody>
      </p:sp>
      <p:sp>
        <p:nvSpPr>
          <p:cNvPr id="498" name="Google Shape;498;p20"/>
          <p:cNvSpPr txBox="1"/>
          <p:nvPr/>
        </p:nvSpPr>
        <p:spPr>
          <a:xfrm>
            <a:off x="4162348" y="3196742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breaks the request into stages and decides what each one needs.</a:t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6553504" y="2286000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20"/>
          <p:cNvCxnSpPr/>
          <p:nvPr/>
        </p:nvCxnSpPr>
        <p:spPr>
          <a:xfrm>
            <a:off x="6553504" y="2314346"/>
            <a:ext cx="2418588" cy="0"/>
          </a:xfrm>
          <a:prstGeom prst="straightConnector1">
            <a:avLst/>
          </a:prstGeom>
          <a:noFill/>
          <a:ln cap="flat" cmpd="sng" w="57150">
            <a:solidFill>
              <a:srgbClr val="2EB6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01" name="Google Shape;501;p20"/>
          <p:cNvCxnSpPr/>
          <p:nvPr/>
        </p:nvCxnSpPr>
        <p:spPr>
          <a:xfrm>
            <a:off x="8967520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02" name="Google Shape;502;p20"/>
          <p:cNvCxnSpPr/>
          <p:nvPr/>
        </p:nvCxnSpPr>
        <p:spPr>
          <a:xfrm>
            <a:off x="6553504" y="4134916"/>
            <a:ext cx="241858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03" name="Google Shape;503;p20"/>
          <p:cNvCxnSpPr/>
          <p:nvPr/>
        </p:nvCxnSpPr>
        <p:spPr>
          <a:xfrm>
            <a:off x="6558076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4" name="Google Shape;504;p20"/>
          <p:cNvSpPr txBox="1"/>
          <p:nvPr/>
        </p:nvSpPr>
        <p:spPr>
          <a:xfrm>
            <a:off x="6772046" y="2571292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B67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EB67D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</p:txBody>
      </p:sp>
      <p:sp>
        <p:nvSpPr>
          <p:cNvPr id="505" name="Google Shape;505;p20"/>
          <p:cNvSpPr txBox="1"/>
          <p:nvPr/>
        </p:nvSpPr>
        <p:spPr>
          <a:xfrm>
            <a:off x="6772046" y="2838297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uses tools</a:t>
            </a:r>
            <a:endParaRPr/>
          </a:p>
        </p:txBody>
      </p:sp>
      <p:sp>
        <p:nvSpPr>
          <p:cNvPr id="506" name="Google Shape;506;p20"/>
          <p:cNvSpPr txBox="1"/>
          <p:nvPr/>
        </p:nvSpPr>
        <p:spPr>
          <a:xfrm>
            <a:off x="6772046" y="3196742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through the stages with the tools and data it's been granted.</a:t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9163202" y="2286000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9163202" y="2314346"/>
            <a:ext cx="2419502" cy="0"/>
          </a:xfrm>
          <a:prstGeom prst="straightConnector1">
            <a:avLst/>
          </a:prstGeom>
          <a:noFill/>
          <a:ln cap="flat" cmpd="sng" w="57150">
            <a:solidFill>
              <a:srgbClr val="ECB2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09" name="Google Shape;509;p20"/>
          <p:cNvCxnSpPr/>
          <p:nvPr/>
        </p:nvCxnSpPr>
        <p:spPr>
          <a:xfrm>
            <a:off x="11577218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0" name="Google Shape;510;p20"/>
          <p:cNvCxnSpPr/>
          <p:nvPr/>
        </p:nvCxnSpPr>
        <p:spPr>
          <a:xfrm>
            <a:off x="9163202" y="4134916"/>
            <a:ext cx="2419502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1" name="Google Shape;511;p20"/>
          <p:cNvCxnSpPr/>
          <p:nvPr/>
        </p:nvCxnSpPr>
        <p:spPr>
          <a:xfrm>
            <a:off x="9167774" y="2286000"/>
            <a:ext cx="0" cy="185348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2" name="Google Shape;512;p20"/>
          <p:cNvSpPr txBox="1"/>
          <p:nvPr/>
        </p:nvSpPr>
        <p:spPr>
          <a:xfrm>
            <a:off x="9381744" y="2571292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CB22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CB22E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/>
          </a:p>
        </p:txBody>
      </p:sp>
      <p:sp>
        <p:nvSpPr>
          <p:cNvPr id="513" name="Google Shape;513;p20"/>
          <p:cNvSpPr txBox="1"/>
          <p:nvPr/>
        </p:nvSpPr>
        <p:spPr>
          <a:xfrm>
            <a:off x="9381744" y="2838297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replies</a:t>
            </a:r>
            <a:endParaRPr/>
          </a:p>
        </p:txBody>
      </p:sp>
      <p:sp>
        <p:nvSpPr>
          <p:cNvPr id="514" name="Google Shape;514;p20"/>
          <p:cNvSpPr txBox="1"/>
          <p:nvPr/>
        </p:nvSpPr>
        <p:spPr>
          <a:xfrm>
            <a:off x="9381744" y="3196742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land back in the thread — visible to the whole team.</a:t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1333195" y="4463186"/>
            <a:ext cx="10248595" cy="847648"/>
          </a:xfrm>
          <a:prstGeom prst="roundRect">
            <a:avLst>
              <a:gd fmla="val 13480" name="adj"/>
            </a:avLst>
          </a:prstGeom>
          <a:solidFill>
            <a:srgbClr val="F5F3F0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 txBox="1"/>
          <p:nvPr/>
        </p:nvSpPr>
        <p:spPr>
          <a:xfrm>
            <a:off x="1333195" y="4463186"/>
            <a:ext cx="10453420" cy="847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900" lIns="209375" spcFirstLastPara="1" rIns="209375" wrap="square" tIns="171900">
            <a:spAutoFit/>
          </a:bodyPr>
          <a:lstStyle/>
          <a:p>
            <a:pPr indent="0" lvl="0" marL="0" marR="0" rtl="0" algn="l">
              <a:lnSpc>
                <a:spcPct val="17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@Claude</a:t>
            </a:r>
            <a:r>
              <a:rPr b="0" i="0" lang="en-US" sz="112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reconcile the Q2 numbers against the data room and post a summary</a:t>
            </a:r>
            <a:endParaRPr/>
          </a:p>
          <a:p>
            <a:pPr indent="0" lvl="0" marL="0" marR="0" rtl="0" algn="l">
              <a:lnSpc>
                <a:spcPct val="170535"/>
              </a:lnSpc>
              <a:spcBef>
                <a:spcPts val="0"/>
              </a:spcBef>
              <a:spcAft>
                <a:spcPts val="0"/>
              </a:spcAft>
              <a:buClr>
                <a:srgbClr val="2EB67D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2EB67D"/>
                </a:solidFill>
                <a:latin typeface="Arial"/>
                <a:ea typeface="Arial"/>
                <a:cs typeface="Arial"/>
                <a:sym typeface="Arial"/>
              </a:rPr>
              <a:t>✓ planning · reading data room · cross-checking · drafting</a:t>
            </a:r>
            <a:r>
              <a:rPr b="0" i="0" lang="en-US" sz="112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20" u="none" cap="none" strike="noStrike">
                <a:solidFill>
                  <a:srgbClr val="696769"/>
                </a:solidFill>
                <a:latin typeface="Arial"/>
                <a:ea typeface="Arial"/>
                <a:cs typeface="Arial"/>
                <a:sym typeface="Arial"/>
              </a:rPr>
              <a:t>→ reply in thread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522" name="Google Shape;5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1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524" name="Google Shape;5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1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29" name="Google Shape;529;p21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31" name="Google Shape;531;p21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21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5" name="Google Shape;535;p21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536" name="Google Shape;536;p21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38" name="Google Shape;538;p21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43" name="Google Shape;543;p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44" name="Google Shape;544;p21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45" name="Google Shape;545;p21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546" name="Google Shape;5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30861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1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21"/>
          <p:cNvCxnSpPr/>
          <p:nvPr/>
        </p:nvCxnSpPr>
        <p:spPr>
          <a:xfrm>
            <a:off x="3295497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6" name="Google Shape;556;p21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557" name="Google Shape;557;p21"/>
          <p:cNvCxnSpPr/>
          <p:nvPr/>
        </p:nvCxnSpPr>
        <p:spPr>
          <a:xfrm>
            <a:off x="5209336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8" name="Google Shape;558;p21"/>
          <p:cNvSpPr txBox="1"/>
          <p:nvPr/>
        </p:nvSpPr>
        <p:spPr>
          <a:xfrm>
            <a:off x="5204764" y="219456"/>
            <a:ext cx="2415844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decide what Claude can touch</a:t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11073384" y="128016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11119104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 txBox="1"/>
          <p:nvPr/>
        </p:nvSpPr>
        <p:spPr>
          <a:xfrm>
            <a:off x="11119104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11292840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 txBox="1"/>
          <p:nvPr/>
        </p:nvSpPr>
        <p:spPr>
          <a:xfrm>
            <a:off x="11292840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11457432" y="182880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 txBox="1"/>
          <p:nvPr/>
        </p:nvSpPr>
        <p:spPr>
          <a:xfrm>
            <a:off x="11457432" y="182880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566" name="Google Shape;566;p21"/>
          <p:cNvSpPr txBox="1"/>
          <p:nvPr/>
        </p:nvSpPr>
        <p:spPr>
          <a:xfrm>
            <a:off x="3676802" y="933602"/>
            <a:ext cx="8297265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150"/>
              <a:buFont typeface="Helvetica Neue"/>
              <a:buNone/>
            </a:pPr>
            <a:r>
              <a:rPr b="1" i="0" lang="en-US" sz="31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Powerful, and on a leash.</a:t>
            </a:r>
            <a:endParaRPr/>
          </a:p>
        </p:txBody>
      </p:sp>
      <p:sp>
        <p:nvSpPr>
          <p:cNvPr id="567" name="Google Shape;567;p21"/>
          <p:cNvSpPr txBox="1"/>
          <p:nvPr/>
        </p:nvSpPr>
        <p:spPr>
          <a:xfrm>
            <a:off x="3676802" y="1495044"/>
            <a:ext cx="7383779" cy="437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420"/>
              <a:buFont typeface="Helvetica Neue"/>
              <a:buNone/>
            </a:pPr>
            <a:r>
              <a:rPr b="0" i="0" lang="en-US" sz="14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Admins configure tools and data access per channel — so the right Claude shows up in the right room.</a:t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3676802" y="2219248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3895344" y="2419502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 txBox="1"/>
          <p:nvPr/>
        </p:nvSpPr>
        <p:spPr>
          <a:xfrm>
            <a:off x="3895344" y="2419502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☉</a:t>
            </a:r>
            <a:endParaRPr/>
          </a:p>
        </p:txBody>
      </p:sp>
      <p:sp>
        <p:nvSpPr>
          <p:cNvPr id="571" name="Google Shape;571;p21"/>
          <p:cNvSpPr txBox="1"/>
          <p:nvPr/>
        </p:nvSpPr>
        <p:spPr>
          <a:xfrm>
            <a:off x="4371746" y="2481681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Separate identities</a:t>
            </a:r>
            <a:endParaRPr/>
          </a:p>
        </p:txBody>
      </p:sp>
      <p:sp>
        <p:nvSpPr>
          <p:cNvPr id="572" name="Google Shape;572;p21"/>
          <p:cNvSpPr txBox="1"/>
          <p:nvPr/>
        </p:nvSpPr>
        <p:spPr>
          <a:xfrm>
            <a:off x="3895344" y="2895904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different Claude per channel — each with its own tools, data scope, and personality.</a:t>
            </a:r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7829092" y="2219248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8048548" y="2419502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 txBox="1"/>
          <p:nvPr/>
        </p:nvSpPr>
        <p:spPr>
          <a:xfrm>
            <a:off x="8048548" y="2419502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☉</a:t>
            </a: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8524951" y="2481681"/>
            <a:ext cx="1414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Scoped access</a:t>
            </a: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8048548" y="2895904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Choose exactly which tools and data sources each Claude can reach.</a:t>
            </a:r>
            <a:endParaRPr/>
          </a:p>
        </p:txBody>
      </p:sp>
      <p:sp>
        <p:nvSpPr>
          <p:cNvPr id="578" name="Google Shape;578;p21"/>
          <p:cNvSpPr/>
          <p:nvPr/>
        </p:nvSpPr>
        <p:spPr>
          <a:xfrm>
            <a:off x="3676802" y="3724351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3895344" y="3924604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3895344" y="3924604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☉</a:t>
            </a:r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4371746" y="3985869"/>
            <a:ext cx="114391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Spend limits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3895344" y="4400092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token budgets so usage stays predictable and under control.</a:t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7829092" y="3724351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8048548" y="3924604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8048548" y="3924604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☉</a:t>
            </a:r>
            <a:endParaRPr/>
          </a:p>
        </p:txBody>
      </p:sp>
      <p:sp>
        <p:nvSpPr>
          <p:cNvPr id="586" name="Google Shape;586;p21"/>
          <p:cNvSpPr txBox="1"/>
          <p:nvPr/>
        </p:nvSpPr>
        <p:spPr>
          <a:xfrm>
            <a:off x="8524951" y="3985869"/>
            <a:ext cx="125821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audit trail</a:t>
            </a:r>
            <a:endParaRPr/>
          </a:p>
        </p:txBody>
      </p:sp>
      <p:sp>
        <p:nvSpPr>
          <p:cNvPr id="587" name="Google Shape;587;p21"/>
          <p:cNvSpPr txBox="1"/>
          <p:nvPr/>
        </p:nvSpPr>
        <p:spPr>
          <a:xfrm>
            <a:off x="8048548" y="4400092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action Claude takes is logged and reviewable.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593" name="Google Shape;5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594" name="Google Shape;5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195" y="-1428292"/>
            <a:ext cx="4000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596" name="Google Shape;5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2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03" name="Google Shape;603;p22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 txBox="1"/>
          <p:nvPr/>
        </p:nvSpPr>
        <p:spPr>
          <a:xfrm>
            <a:off x="1428292" y="1123797"/>
            <a:ext cx="9715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PROOF, FROM INSIDE ANTHROPIC</a:t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1428292" y="1466697"/>
            <a:ext cx="512064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8130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Helvetica Neue"/>
              <a:buNone/>
            </a:pPr>
            <a:r>
              <a:rPr b="1" i="0" lang="en-US" sz="2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65</a:t>
            </a:r>
            <a:endParaRPr/>
          </a:p>
        </p:txBody>
      </p:sp>
      <p:sp>
        <p:nvSpPr>
          <p:cNvPr id="607" name="Google Shape;607;p22"/>
          <p:cNvSpPr txBox="1"/>
          <p:nvPr/>
        </p:nvSpPr>
        <p:spPr>
          <a:xfrm>
            <a:off x="4657039" y="2609697"/>
            <a:ext cx="11658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0"/>
              <a:buFont typeface="Helvetica Neue"/>
              <a:buNone/>
            </a:pPr>
            <a:r>
              <a:rPr b="1" i="0" lang="en-US" sz="9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</a:t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1428292" y="4038904"/>
            <a:ext cx="66065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our product team's code is now written by our internal version of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</a:t>
            </a: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609" name="Google Shape;609;p22"/>
          <p:cNvSpPr/>
          <p:nvPr/>
        </p:nvSpPr>
        <p:spPr>
          <a:xfrm>
            <a:off x="8286292" y="4058107"/>
            <a:ext cx="3143707" cy="2133295"/>
          </a:xfrm>
          <a:prstGeom prst="roundRect">
            <a:avLst>
              <a:gd fmla="val 7140" name="adj"/>
            </a:avLst>
          </a:prstGeom>
          <a:solidFill>
            <a:srgbClr val="FFFFFF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610" name="Google Shape;6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5748" y="4276648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2"/>
          <p:cNvSpPr txBox="1"/>
          <p:nvPr/>
        </p:nvSpPr>
        <p:spPr>
          <a:xfrm>
            <a:off x="9068104" y="4276648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612" name="Google Shape;612;p22"/>
          <p:cNvSpPr/>
          <p:nvPr/>
        </p:nvSpPr>
        <p:spPr>
          <a:xfrm>
            <a:off x="9728301" y="4304995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 txBox="1"/>
          <p:nvPr/>
        </p:nvSpPr>
        <p:spPr>
          <a:xfrm>
            <a:off x="9728301" y="4304995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614" name="Google Shape;614;p22"/>
          <p:cNvSpPr txBox="1"/>
          <p:nvPr/>
        </p:nvSpPr>
        <p:spPr>
          <a:xfrm>
            <a:off x="9068104" y="4533595"/>
            <a:ext cx="2186330" cy="886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Shipped 14 PRs this week. Review queue is clear.</a:t>
            </a:r>
            <a:endParaRPr/>
          </a:p>
        </p:txBody>
      </p:sp>
      <p:sp>
        <p:nvSpPr>
          <p:cNvPr id="615" name="Google Shape;615;p22"/>
          <p:cNvSpPr/>
          <p:nvPr/>
        </p:nvSpPr>
        <p:spPr>
          <a:xfrm>
            <a:off x="9068104" y="5524804"/>
            <a:ext cx="548640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9182404" y="5591556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9692640" y="5524804"/>
            <a:ext cx="474573" cy="237744"/>
          </a:xfrm>
          <a:prstGeom prst="roundRect">
            <a:avLst>
              <a:gd fmla="val 50000" name="adj"/>
            </a:avLst>
          </a:prstGeom>
          <a:solidFill>
            <a:srgbClr val="EAF1FA"/>
          </a:solidFill>
          <a:ln cap="flat" cmpd="sng" w="10150">
            <a:solidFill>
              <a:srgbClr val="D7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9806940" y="5591556"/>
            <a:ext cx="105156" cy="105156"/>
          </a:xfrm>
          <a:prstGeom prst="roundRect">
            <a:avLst>
              <a:gd fmla="val 50000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624" name="Google Shape;6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3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626" name="Google Shape;6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31" name="Google Shape;631;p23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23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7" name="Google Shape;637;p2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638" name="Google Shape;638;p23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639" name="Google Shape;639;p23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0" name="Google Shape;640;p23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43" name="Google Shape;643;p23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5" name="Google Shape;645;p23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6" name="Google Shape;646;p23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280"/>
              <a:buFont typeface="Helvetica Neue"/>
              <a:buNone/>
            </a:pPr>
            <a:r>
              <a:rPr b="0" i="0" lang="en-US" sz="128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7" name="Google Shape;647;p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648" name="Google Shape;6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30861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3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652" name="Google Shape;652;p23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23"/>
          <p:cNvCxnSpPr/>
          <p:nvPr/>
        </p:nvCxnSpPr>
        <p:spPr>
          <a:xfrm>
            <a:off x="3295497" y="604418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8" name="Google Shape;658;p23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cxnSp>
        <p:nvCxnSpPr>
          <p:cNvPr id="659" name="Google Shape;659;p23"/>
          <p:cNvCxnSpPr/>
          <p:nvPr/>
        </p:nvCxnSpPr>
        <p:spPr>
          <a:xfrm>
            <a:off x="5305348" y="219456"/>
            <a:ext cx="0" cy="1618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0" name="Google Shape;660;p23"/>
          <p:cNvSpPr txBox="1"/>
          <p:nvPr/>
        </p:nvSpPr>
        <p:spPr>
          <a:xfrm>
            <a:off x="5300776" y="219456"/>
            <a:ext cx="92811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in beta</a:t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3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664" name="Google Shape;664;p23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3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3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pic>
        <p:nvPicPr>
          <p:cNvPr descr="claude_avatar.png" id="668" name="Google Shape;6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802" y="895197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3"/>
          <p:cNvSpPr txBox="1"/>
          <p:nvPr/>
        </p:nvSpPr>
        <p:spPr>
          <a:xfrm>
            <a:off x="4238244" y="895197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4899355" y="923544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 txBox="1"/>
          <p:nvPr/>
        </p:nvSpPr>
        <p:spPr>
          <a:xfrm>
            <a:off x="4899355" y="923544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B65A3C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B65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672" name="Google Shape;672;p23"/>
          <p:cNvSpPr txBox="1"/>
          <p:nvPr/>
        </p:nvSpPr>
        <p:spPr>
          <a:xfrm>
            <a:off x="5319979" y="933602"/>
            <a:ext cx="336499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</a:t>
            </a:r>
            <a:endParaRPr/>
          </a:p>
        </p:txBody>
      </p:sp>
      <p:sp>
        <p:nvSpPr>
          <p:cNvPr id="673" name="Google Shape;673;p23"/>
          <p:cNvSpPr txBox="1"/>
          <p:nvPr/>
        </p:nvSpPr>
        <p:spPr>
          <a:xfrm>
            <a:off x="4238244" y="1152144"/>
            <a:ext cx="7723936" cy="371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43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950"/>
              <a:buFont typeface="Helvetica Neue"/>
              <a:buNone/>
            </a:pPr>
            <a:r>
              <a:rPr b="1" i="0" lang="en-US" sz="19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 is live in beta.</a:t>
            </a:r>
            <a:endParaRPr/>
          </a:p>
        </p:txBody>
      </p:sp>
      <p:sp>
        <p:nvSpPr>
          <p:cNvPr id="674" name="Google Shape;674;p23"/>
          <p:cNvSpPr/>
          <p:nvPr/>
        </p:nvSpPr>
        <p:spPr>
          <a:xfrm>
            <a:off x="4238244" y="1733702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 txBox="1"/>
          <p:nvPr/>
        </p:nvSpPr>
        <p:spPr>
          <a:xfrm>
            <a:off x="4238244" y="1733702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676" name="Google Shape;676;p23"/>
          <p:cNvSpPr txBox="1"/>
          <p:nvPr/>
        </p:nvSpPr>
        <p:spPr>
          <a:xfrm>
            <a:off x="4610404" y="1733702"/>
            <a:ext cx="6708952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Enterprise &amp; Team customers.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Rolling out now to eligible organizations.</a:t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4238244" y="2143353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 txBox="1"/>
          <p:nvPr/>
        </p:nvSpPr>
        <p:spPr>
          <a:xfrm>
            <a:off x="4238244" y="2143353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679" name="Google Shape;679;p23"/>
          <p:cNvSpPr txBox="1"/>
          <p:nvPr/>
        </p:nvSpPr>
        <p:spPr>
          <a:xfrm>
            <a:off x="4610404" y="2143353"/>
            <a:ext cx="6807708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Replaces the existing Claude in Slack app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same place, far more capable.</a:t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4238244" y="2553004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 txBox="1"/>
          <p:nvPr/>
        </p:nvSpPr>
        <p:spPr>
          <a:xfrm>
            <a:off x="4238244" y="2553004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682" name="Google Shape;682;p23"/>
          <p:cNvSpPr txBox="1"/>
          <p:nvPr/>
        </p:nvSpPr>
        <p:spPr>
          <a:xfrm>
            <a:off x="4610404" y="2553004"/>
            <a:ext cx="4787798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 credits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provided to eligible orgs to get started.</a:t>
            </a:r>
            <a:endParaRPr/>
          </a:p>
        </p:txBody>
      </p:sp>
      <p:sp>
        <p:nvSpPr>
          <p:cNvPr id="683" name="Google Shape;683;p23"/>
          <p:cNvSpPr/>
          <p:nvPr/>
        </p:nvSpPr>
        <p:spPr>
          <a:xfrm>
            <a:off x="4238244" y="2962656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4238244" y="2962656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☉</a:t>
            </a:r>
            <a:endParaRPr/>
          </a:p>
        </p:txBody>
      </p:sp>
      <p:sp>
        <p:nvSpPr>
          <p:cNvPr id="685" name="Google Shape;685;p23"/>
          <p:cNvSpPr txBox="1"/>
          <p:nvPr/>
        </p:nvSpPr>
        <p:spPr>
          <a:xfrm>
            <a:off x="4610404" y="2962656"/>
            <a:ext cx="4762195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Runs on </a:t>
            </a: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Opus 4.8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our most capable model.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691" name="Google Shape;6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4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693" name="Google Shape;69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4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96" name="Google Shape;696;p24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4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98" name="Google Shape;698;p24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4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4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702" name="Google Shape;7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104" y="99029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24"/>
          <p:cNvSpPr txBox="1"/>
          <p:nvPr/>
        </p:nvSpPr>
        <p:spPr>
          <a:xfrm>
            <a:off x="0" y="2377440"/>
            <a:ext cx="1218895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Helvetica Neue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team just got bigger.</a:t>
            </a:r>
            <a:endParaRPr/>
          </a:p>
        </p:txBody>
      </p:sp>
      <p:sp>
        <p:nvSpPr>
          <p:cNvPr id="704" name="Google Shape;704;p24"/>
          <p:cNvSpPr txBox="1"/>
          <p:nvPr/>
        </p:nvSpPr>
        <p:spPr>
          <a:xfrm>
            <a:off x="0" y="3447288"/>
            <a:ext cx="121889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348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720"/>
              <a:buFont typeface="Helvetica Neue"/>
              <a:buNone/>
            </a:pPr>
            <a:r>
              <a:rPr b="0" i="0" lang="en-US" sz="17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Slack. Tag Claude. See what it does.</a:t>
            </a:r>
            <a:endParaRPr/>
          </a:p>
        </p:txBody>
      </p:sp>
      <p:sp>
        <p:nvSpPr>
          <p:cNvPr id="705" name="Google Shape;705;p24"/>
          <p:cNvSpPr/>
          <p:nvPr/>
        </p:nvSpPr>
        <p:spPr>
          <a:xfrm>
            <a:off x="2667304" y="5009997"/>
            <a:ext cx="6858000" cy="609904"/>
          </a:xfrm>
          <a:prstGeom prst="roundRect">
            <a:avLst>
              <a:gd fmla="val 2188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4"/>
          <p:cNvSpPr/>
          <p:nvPr/>
        </p:nvSpPr>
        <p:spPr>
          <a:xfrm>
            <a:off x="2876702" y="5186476"/>
            <a:ext cx="924458" cy="256946"/>
          </a:xfrm>
          <a:prstGeom prst="roundRect">
            <a:avLst>
              <a:gd fmla="val 2222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4"/>
          <p:cNvSpPr txBox="1"/>
          <p:nvPr/>
        </p:nvSpPr>
        <p:spPr>
          <a:xfrm>
            <a:off x="2876702" y="5186476"/>
            <a:ext cx="942746" cy="256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endParaRPr/>
          </a:p>
        </p:txBody>
      </p:sp>
      <p:sp>
        <p:nvSpPr>
          <p:cNvPr id="708" name="Google Shape;708;p24"/>
          <p:cNvSpPr txBox="1"/>
          <p:nvPr/>
        </p:nvSpPr>
        <p:spPr>
          <a:xfrm>
            <a:off x="3896258" y="5201107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let's get started</a:t>
            </a:r>
            <a:endParaRPr/>
          </a:p>
        </p:txBody>
      </p:sp>
      <p:sp>
        <p:nvSpPr>
          <p:cNvPr id="709" name="Google Shape;709;p24"/>
          <p:cNvSpPr/>
          <p:nvPr/>
        </p:nvSpPr>
        <p:spPr>
          <a:xfrm>
            <a:off x="5318150" y="5210251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 txBox="1"/>
          <p:nvPr/>
        </p:nvSpPr>
        <p:spPr>
          <a:xfrm>
            <a:off x="9176004" y="5229453"/>
            <a:ext cx="1426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  <p:sp>
        <p:nvSpPr>
          <p:cNvPr id="711" name="Google Shape;711;p24"/>
          <p:cNvSpPr txBox="1"/>
          <p:nvPr/>
        </p:nvSpPr>
        <p:spPr>
          <a:xfrm>
            <a:off x="2598724" y="5790895"/>
            <a:ext cx="699516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98FAA"/>
                </a:solidFill>
                <a:latin typeface="Arial"/>
                <a:ea typeface="Arial"/>
                <a:cs typeface="Arial"/>
                <a:sym typeface="Arial"/>
              </a:rPr>
              <a:t>CLAUDE TAG · ANTHROPIC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