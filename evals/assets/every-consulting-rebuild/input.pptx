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Haven't written a line of code this year — barely looked at it
• Yet I ship: thousands pay, trust it with their inbox
• Not hype, not fear — just how I actually work
• Two halves: why now / how I got here, then live demos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= an AI lab for the future of work
• Studio model: one engineer, one problem (repeatable, not me being fast)
• Cora: agent-native email inbox — where I found compound engineering
• V2 in alpha — DM me on X to get 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Full email client: Rails + React, on Render
• Only full-time engineer — I own product + engineering
• When it breaks, it's my problem
• Set up on purpose: how far can one engineer push AI before hiring?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Happened gradually over ~2 years
• Code → plans → product → memory
• Each time I solved one, the bottleneck (and my job) moved
• Always the same direction: away from typing, toward judgment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Models are finally good enough to hand real work to
• Codify anything and it compounds — gap widens as models improve
• The real why: implementation is solved, judgment isn't
• Not less engineering — the most leverage we've ever had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 loop: brainstorm → plan → work → review → polish → compound
• I'm the bread: vision at the start, taste at the end. Agents run the middle
• 50/50 rule: half reviewing, half teaching the system
• Codify the mistake once → never hit it again (also saves tokens)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Now the practical half — examples you can run yourself
• Step one: install the plugin (Codex, Claude Code, Cursor, anywhere)
• For each: the command, what it does, the output
• Useful for engineers, PMs, and business leaders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Point it at tickets, Slack, feedback, Intercom, email — or your OKRs
• Generates ideas, structures them, argues good vs bad
• Hands back a clean HTML page
• Favorite: aimed at OKRs, so ideation matches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Someone hands you a PRD — run review on the link instead of just reading
• It returns the sharp questions
• Answer them, or push them back to the author
• Then /ce-compound the answers → the doc learns, won't ask again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My most used — for an idea too big to just describe
• ce-brainstorm pulls in compound knowledge, personas, diffs
• It interviews you: asks questions back → a stored brainstorm doc
• Then /lfg runs the middle: plan → work → review → tests → PR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Run polish on any open PR — yours or someone else's (I use Cursor)
• Left: what changed + how to test it
• Right: you check it and raise the bar
• Not 'is it broken' — does it feel good? then merge, you're 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deploy went wrong — run /ce-debug with a link to the Render deploy
• The Render CLI exposes the logs and state
• The agent debugs it right there
• Hand the fix to /lfg — the loop reaches into production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real lesson: give your agent access to where things happen
• Install the Render CLI, the skills, the MCP
• It reaches deploys, production data, logs — can even run jobs
• /lfg alone runs 10–20 of these skills in one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bet: implementation is getting cheap, judgment isn't
• Choose the problem; remove yourself from what AI can do
• Codify your judgment into the system so it compounds
• Standard: the next feature should be easier because you built this 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Install the plugin in your tool — Codex, Claude Code, Cursor
• Scan the QR to grab it right now
• I'm here at Render today — come say hi
• @kieranklaassen on X &amp; GitHub — open source, PRs welcome, or build your 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57250"/>
            <a:ext cx="1163717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94764" y="927735"/>
            <a:ext cx="29357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55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· JUNE 18, 2026</a:t>
            </a:r>
            <a:endParaRPr lang="en-US" sz="1275" dirty="0"/>
          </a:p>
        </p:txBody>
      </p:sp>
      <p:sp>
        <p:nvSpPr>
          <p:cNvPr id="4" name="Text 1"/>
          <p:cNvSpPr/>
          <p:nvPr/>
        </p:nvSpPr>
        <p:spPr>
          <a:xfrm>
            <a:off x="1143000" y="2983051"/>
            <a:ext cx="1491234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71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ERA OF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143000" y="3455491"/>
            <a:ext cx="14912340" cy="2702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400" spc="-228" kern="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Engineering</a:t>
            </a:r>
            <a:endParaRPr lang="en-US" sz="11400" dirty="0"/>
          </a:p>
        </p:txBody>
      </p:sp>
      <p:sp>
        <p:nvSpPr>
          <p:cNvPr id="6" name="Text 3"/>
          <p:cNvSpPr/>
          <p:nvPr/>
        </p:nvSpPr>
        <p:spPr>
          <a:xfrm>
            <a:off x="1143000" y="6557546"/>
            <a:ext cx="14912340" cy="51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150" i="1" dirty="0">
                <a:solidFill>
                  <a:srgbClr val="E7DE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haven't written a line of code this year.”</a:t>
            </a:r>
            <a:endParaRPr lang="en-US" sz="3150" dirty="0"/>
          </a:p>
        </p:txBody>
      </p:sp>
      <p:sp>
        <p:nvSpPr>
          <p:cNvPr id="7" name="Shape 4"/>
          <p:cNvSpPr/>
          <p:nvPr/>
        </p:nvSpPr>
        <p:spPr>
          <a:xfrm>
            <a:off x="1143000" y="8831580"/>
            <a:ext cx="16002000" cy="9525"/>
          </a:xfrm>
          <a:prstGeom prst="rect">
            <a:avLst/>
          </a:prstGeom>
          <a:solidFill>
            <a:srgbClr val="3A332B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9201150"/>
            <a:ext cx="19967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F2E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Kieran Klaassen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15175647" y="9246870"/>
            <a:ext cx="204555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of Cora at Every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64820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1 · WHO I AM</a:t>
            </a:r>
            <a:endParaRPr lang="en-US" sz="1425" dirty="0"/>
          </a:p>
        </p:txBody>
      </p:sp>
      <p:sp>
        <p:nvSpPr>
          <p:cNvPr id="3" name="Shape 1"/>
          <p:cNvSpPr/>
          <p:nvPr/>
        </p:nvSpPr>
        <p:spPr>
          <a:xfrm>
            <a:off x="7696200" y="1264920"/>
            <a:ext cx="9525" cy="8012430"/>
          </a:xfrm>
          <a:prstGeom prst="rect">
            <a:avLst/>
          </a:prstGeom>
          <a:solidFill>
            <a:srgbClr val="D9D2C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727371"/>
            <a:ext cx="6043422" cy="77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143000" y="4577001"/>
            <a:ext cx="604342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AI LAB FOR THE FUTURE OF WORK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143000" y="5079921"/>
            <a:ext cx="6043422" cy="450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</a:t>
            </a:r>
            <a:pPr algn="l" indent="0" marL="0">
              <a:lnSpc>
                <a:spcPct val="124000"/>
              </a:lnSpc>
              <a:buNone/>
            </a:pPr>
            <a:r>
              <a:rPr lang="en-US" sz="2400" i="1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</a:t>
            </a:r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it, </a:t>
            </a:r>
            <a:pPr algn="l" indent="0" marL="0">
              <a:lnSpc>
                <a:spcPct val="124000"/>
              </a:lnSpc>
              <a:buNone/>
            </a:pPr>
            <a:r>
              <a:rPr lang="en-US" sz="2400" i="1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</a:t>
            </a:r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it, and </a:t>
            </a:r>
            <a:pPr algn="l" indent="0" marL="0">
              <a:lnSpc>
                <a:spcPct val="124000"/>
              </a:lnSpc>
              <a:buNone/>
            </a:pPr>
            <a:r>
              <a:rPr lang="en-US" sz="2400" i="1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</a:t>
            </a:r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5758815"/>
            <a:ext cx="6043422" cy="416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studio of mostly single-engineer teams.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6403420"/>
            <a:ext cx="604342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engineer, </a:t>
            </a:r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C9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problem.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389620" y="2836307"/>
            <a:ext cx="5560917" cy="77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spc="-51" kern="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Cora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8389620" y="3685937"/>
            <a:ext cx="55609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COMPLETE AI EMAIL INBOX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389620" y="4188857"/>
            <a:ext cx="5560917" cy="793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Handles your email so you focus elsewhere.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9620" y="5192316"/>
            <a:ext cx="5560917" cy="828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400" i="1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Agent-native </a:t>
            </a:r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anything you can do, the agent can do.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9620" y="6230064"/>
            <a:ext cx="5560917" cy="793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4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Desktop, iOS, Android, CLI, inside Codex.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389620" y="7309723"/>
            <a:ext cx="2775585" cy="396240"/>
          </a:xfrm>
          <a:prstGeom prst="roundRect">
            <a:avLst>
              <a:gd name="adj" fmla="val 50000"/>
            </a:avLst>
          </a:prstGeom>
          <a:ln w="7620">
            <a:solidFill>
              <a:srgbClr val="E3B7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6790" y="7422118"/>
            <a:ext cx="24245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in alpha — DM me on 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245769" y="2063115"/>
            <a:ext cx="2899231" cy="6416040"/>
          </a:xfrm>
          <a:prstGeom prst="roundRect">
            <a:avLst>
              <a:gd name="adj" fmla="val 12484"/>
            </a:avLst>
          </a:prstGeom>
          <a:ln w="64770">
            <a:solidFill>
              <a:srgbClr val="1C1815"/>
            </a:solidFill>
            <a:prstDash val="solid"/>
          </a:ln>
          <a:effectLst>
            <a:outerShdw sx="100000" sy="100000" kx="0" ky="0" algn="bl" rotWithShape="0" blurRad="609600" dist="323850" dir="5400000">
              <a:srgbClr val="1C1815">
                <a:alpha val="5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539" y="2127885"/>
            <a:ext cx="2769691" cy="62865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43000" y="92773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376749" y="92773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8375" y="1314450"/>
            <a:ext cx="12564725" cy="9525000"/>
          </a:xfrm>
          <a:prstGeom prst="roundRect">
            <a:avLst>
              <a:gd name="adj" fmla="val 1800"/>
            </a:avLst>
          </a:prstGeom>
          <a:ln w="7620">
            <a:solidFill>
              <a:srgbClr val="D9D2C4"/>
            </a:solidFill>
            <a:prstDash val="solid"/>
          </a:ln>
          <a:effectLst>
            <a:outerShdw sx="100000" sy="100000" kx="0" ky="0" algn="bl" rotWithShape="0" blurRad="857250" dist="526897" dir="7860000">
              <a:srgbClr val="1C1815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75" y="1314450"/>
            <a:ext cx="12564725" cy="952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914400"/>
            <a:ext cx="164820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1 · THE CONSTRAINT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143000" y="3319284"/>
            <a:ext cx="863346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0" spc="-135" kern="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engineer. A full email client.</a:t>
            </a:r>
            <a:endParaRPr lang="en-US" sz="6750" dirty="0"/>
          </a:p>
        </p:txBody>
      </p:sp>
      <p:sp>
        <p:nvSpPr>
          <p:cNvPr id="6" name="Shape 3"/>
          <p:cNvSpPr/>
          <p:nvPr/>
        </p:nvSpPr>
        <p:spPr>
          <a:xfrm>
            <a:off x="1143000" y="5376684"/>
            <a:ext cx="952619" cy="388620"/>
          </a:xfrm>
          <a:prstGeom prst="roundRect">
            <a:avLst>
              <a:gd name="adj" fmla="val 14706"/>
            </a:avLst>
          </a:prstGeom>
          <a:solidFill>
            <a:srgbClr val="211C16"/>
          </a:solidFill>
          <a:ln/>
        </p:spPr>
      </p:sp>
      <p:sp>
        <p:nvSpPr>
          <p:cNvPr id="7" name="Text 4"/>
          <p:cNvSpPr/>
          <p:nvPr/>
        </p:nvSpPr>
        <p:spPr>
          <a:xfrm>
            <a:off x="1314450" y="5462409"/>
            <a:ext cx="685919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28969" y="5376684"/>
            <a:ext cx="952619" cy="388620"/>
          </a:xfrm>
          <a:prstGeom prst="roundRect">
            <a:avLst>
              <a:gd name="adj" fmla="val 14706"/>
            </a:avLst>
          </a:prstGeom>
          <a:solidFill>
            <a:srgbClr val="211C16"/>
          </a:solidFill>
          <a:ln/>
        </p:spPr>
      </p:sp>
      <p:sp>
        <p:nvSpPr>
          <p:cNvPr id="9" name="Text 6"/>
          <p:cNvSpPr/>
          <p:nvPr/>
        </p:nvSpPr>
        <p:spPr>
          <a:xfrm>
            <a:off x="2400419" y="5462409"/>
            <a:ext cx="685919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14938" y="5376684"/>
            <a:ext cx="1074539" cy="388620"/>
          </a:xfrm>
          <a:prstGeom prst="roundRect">
            <a:avLst>
              <a:gd name="adj" fmla="val 14706"/>
            </a:avLst>
          </a:prstGeom>
          <a:solidFill>
            <a:srgbClr val="C9532F"/>
          </a:solidFill>
          <a:ln/>
        </p:spPr>
      </p:sp>
      <p:sp>
        <p:nvSpPr>
          <p:cNvPr id="11" name="Text 8"/>
          <p:cNvSpPr/>
          <p:nvPr/>
        </p:nvSpPr>
        <p:spPr>
          <a:xfrm>
            <a:off x="3486388" y="5462409"/>
            <a:ext cx="807839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FB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43000" y="6203454"/>
            <a:ext cx="8633460" cy="867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55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on purpose: </a:t>
            </a:r>
            <a:pPr algn="l" indent="0" marL="0">
              <a:lnSpc>
                <a:spcPct val="128000"/>
              </a:lnSpc>
              <a:buNone/>
            </a:pPr>
            <a:r>
              <a:rPr lang="en-US" sz="2550" dirty="0">
                <a:solidFill>
                  <a:srgbClr val="C9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far can one engineer push AI before hiring?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143000" y="9201150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 · 03 / 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50620"/>
            <a:ext cx="29824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1 · MY EVOLUTION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1651338" y="914400"/>
            <a:ext cx="5658473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-36" kern="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 kept moving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04938" y="1432560"/>
            <a:ext cx="28575" cy="6930390"/>
          </a:xfrm>
          <a:prstGeom prst="rect">
            <a:avLst/>
          </a:prstGeom>
          <a:solidFill>
            <a:srgbClr val="D9C7BC"/>
          </a:solidFill>
          <a:ln/>
        </p:spPr>
      </p:sp>
      <p:sp>
        <p:nvSpPr>
          <p:cNvPr id="5" name="Shape 3"/>
          <p:cNvSpPr/>
          <p:nvPr/>
        </p:nvSpPr>
        <p:spPr>
          <a:xfrm>
            <a:off x="1323975" y="2203609"/>
            <a:ext cx="190500" cy="190500"/>
          </a:xfrm>
          <a:prstGeom prst="ellipse">
            <a:avLst/>
          </a:prstGeom>
          <a:solidFill>
            <a:srgbClr val="C9532F"/>
          </a:solidFill>
          <a:ln/>
          <a:effectLst>
            <a:outerShdw sx="100000" sy="100000" kx="0" ky="0" algn="bl" rotWithShape="0" blurRad="101600" dist="50800" dir="16200000">
              <a:srgbClr val="F5F1E8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3975" y="3936206"/>
            <a:ext cx="190500" cy="190500"/>
          </a:xfrm>
          <a:prstGeom prst="ellipse">
            <a:avLst/>
          </a:prstGeom>
          <a:solidFill>
            <a:srgbClr val="C9532F"/>
          </a:solidFill>
          <a:ln/>
          <a:effectLst>
            <a:outerShdw sx="100000" sy="100000" kx="0" ky="0" algn="bl" rotWithShape="0" blurRad="101600" dist="50800" dir="16200000">
              <a:srgbClr val="F5F1E8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3975" y="5668804"/>
            <a:ext cx="190500" cy="190500"/>
          </a:xfrm>
          <a:prstGeom prst="ellipse">
            <a:avLst/>
          </a:prstGeom>
          <a:solidFill>
            <a:srgbClr val="C9532F"/>
          </a:solidFill>
          <a:ln/>
          <a:effectLst>
            <a:outerShdw sx="100000" sy="100000" kx="0" ky="0" algn="bl" rotWithShape="0" blurRad="101600" dist="50800" dir="16200000">
              <a:srgbClr val="F5F1E8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3975" y="7401401"/>
            <a:ext cx="190500" cy="190500"/>
          </a:xfrm>
          <a:prstGeom prst="ellipse">
            <a:avLst/>
          </a:prstGeom>
          <a:solidFill>
            <a:srgbClr val="C9532F"/>
          </a:solidFill>
          <a:ln/>
          <a:effectLst>
            <a:outerShdw sx="100000" sy="100000" kx="0" ky="0" algn="bl" rotWithShape="0" blurRad="101600" dist="50800" dir="16200000">
              <a:srgbClr val="F5F1E8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76450" y="3159443"/>
            <a:ext cx="15068550" cy="9525"/>
          </a:xfrm>
          <a:prstGeom prst="rect">
            <a:avLst/>
          </a:prstGeom>
          <a:solidFill>
            <a:srgbClr val="E2DACB"/>
          </a:solidFill>
          <a:ln/>
        </p:spPr>
      </p:sp>
      <p:sp>
        <p:nvSpPr>
          <p:cNvPr id="10" name="Text 8"/>
          <p:cNvSpPr/>
          <p:nvPr/>
        </p:nvSpPr>
        <p:spPr>
          <a:xfrm>
            <a:off x="2076450" y="2172176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242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4076700" y="2099310"/>
            <a:ext cx="6251410" cy="431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prompt became two, then six agents.</a:t>
            </a:r>
            <a:endParaRPr lang="en-US" sz="2625" dirty="0"/>
          </a:p>
        </p:txBody>
      </p:sp>
      <p:sp>
        <p:nvSpPr>
          <p:cNvPr id="12" name="Shape 10"/>
          <p:cNvSpPr/>
          <p:nvPr/>
        </p:nvSpPr>
        <p:spPr>
          <a:xfrm>
            <a:off x="2076450" y="4893945"/>
            <a:ext cx="15068550" cy="9525"/>
          </a:xfrm>
          <a:prstGeom prst="rect">
            <a:avLst/>
          </a:prstGeom>
          <a:solidFill>
            <a:srgbClr val="E2DACB"/>
          </a:solidFill>
          <a:ln/>
        </p:spPr>
      </p:sp>
      <p:sp>
        <p:nvSpPr>
          <p:cNvPr id="13" name="Text 11"/>
          <p:cNvSpPr/>
          <p:nvPr/>
        </p:nvSpPr>
        <p:spPr>
          <a:xfrm>
            <a:off x="2076450" y="3906679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242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4076700" y="3833812"/>
            <a:ext cx="5088959" cy="431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plan was the bottleneck.</a:t>
            </a:r>
            <a:endParaRPr lang="en-US" sz="2625" dirty="0"/>
          </a:p>
        </p:txBody>
      </p:sp>
      <p:sp>
        <p:nvSpPr>
          <p:cNvPr id="15" name="Shape 13"/>
          <p:cNvSpPr/>
          <p:nvPr/>
        </p:nvSpPr>
        <p:spPr>
          <a:xfrm>
            <a:off x="2076450" y="6628448"/>
            <a:ext cx="15068550" cy="9525"/>
          </a:xfrm>
          <a:prstGeom prst="rect">
            <a:avLst/>
          </a:prstGeom>
          <a:solidFill>
            <a:srgbClr val="E2DACB"/>
          </a:solidFill>
          <a:ln/>
        </p:spPr>
      </p:sp>
      <p:sp>
        <p:nvSpPr>
          <p:cNvPr id="16" name="Text 14"/>
          <p:cNvSpPr/>
          <p:nvPr/>
        </p:nvSpPr>
        <p:spPr>
          <a:xfrm>
            <a:off x="2076450" y="5641181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242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4076700" y="5568315"/>
            <a:ext cx="4991710" cy="431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deciding what to build was.</a:t>
            </a:r>
            <a:endParaRPr lang="en-US" sz="2625" dirty="0"/>
          </a:p>
        </p:txBody>
      </p:sp>
      <p:sp>
        <p:nvSpPr>
          <p:cNvPr id="18" name="Text 16"/>
          <p:cNvSpPr/>
          <p:nvPr/>
        </p:nvSpPr>
        <p:spPr>
          <a:xfrm>
            <a:off x="2076450" y="7375684"/>
            <a:ext cx="1790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242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4076700" y="7302818"/>
            <a:ext cx="5368995" cy="431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6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I built a system that remembers.</a:t>
            </a:r>
            <a:endParaRPr lang="en-US" sz="2625" dirty="0"/>
          </a:p>
        </p:txBody>
      </p:sp>
      <p:sp>
        <p:nvSpPr>
          <p:cNvPr id="20" name="Text 18"/>
          <p:cNvSpPr/>
          <p:nvPr/>
        </p:nvSpPr>
        <p:spPr>
          <a:xfrm>
            <a:off x="1143000" y="859155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Away from typing, </a:t>
            </a:r>
            <a:pPr algn="l" indent="0" marL="0">
              <a:buNone/>
            </a:pPr>
            <a:r>
              <a:rPr lang="en-US" sz="2700" dirty="0">
                <a:solidFill>
                  <a:srgbClr val="C9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 judgment.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143000" y="92011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376749" y="92011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1 · WHY NOW</a:t>
            </a:r>
            <a:endParaRPr lang="en-US" sz="1425" dirty="0"/>
          </a:p>
        </p:txBody>
      </p:sp>
      <p:sp>
        <p:nvSpPr>
          <p:cNvPr id="3" name="Shape 1"/>
          <p:cNvSpPr/>
          <p:nvPr/>
        </p:nvSpPr>
        <p:spPr>
          <a:xfrm>
            <a:off x="8569523" y="3973473"/>
            <a:ext cx="9525" cy="2195215"/>
          </a:xfrm>
          <a:prstGeom prst="rect">
            <a:avLst/>
          </a:prstGeom>
          <a:solidFill>
            <a:srgbClr val="D9D2C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973473"/>
            <a:ext cx="69429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259223"/>
            <a:ext cx="6942945" cy="439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550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Finally good enough to hand real work to.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5079861"/>
            <a:ext cx="69429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IT COMPOUNDS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5365611"/>
            <a:ext cx="6942945" cy="84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550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that remembers gets better every time — and the gap widens.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9143" y="3392507"/>
            <a:ext cx="7805857" cy="3357205"/>
          </a:xfrm>
          <a:prstGeom prst="roundRect">
            <a:avLst>
              <a:gd name="adj" fmla="val 4539"/>
            </a:avLst>
          </a:prstGeom>
          <a:solidFill>
            <a:srgbClr val="211C16"/>
          </a:solidFill>
          <a:ln/>
        </p:spPr>
      </p:sp>
      <p:sp>
        <p:nvSpPr>
          <p:cNvPr id="9" name="Text 7"/>
          <p:cNvSpPr/>
          <p:nvPr/>
        </p:nvSpPr>
        <p:spPr>
          <a:xfrm>
            <a:off x="9872544" y="3906857"/>
            <a:ext cx="694122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BC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REAL WHY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2544" y="4287857"/>
            <a:ext cx="6941228" cy="1072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4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is solved. </a:t>
            </a:r>
            <a:pPr algn="l" indent="0" marL="0">
              <a:lnSpc>
                <a:spcPct val="118000"/>
              </a:lnSpc>
              <a:buNone/>
            </a:pPr>
            <a:r>
              <a:rPr lang="en-US" sz="3450" dirty="0">
                <a:solidFill>
                  <a:srgbClr val="E9A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 isn't.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9872544" y="5531346"/>
            <a:ext cx="6941228" cy="742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C9BF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job moves from typing the code to choosing the problem and owning the outcome.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861060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less engineering — </a:t>
            </a:r>
            <a:pPr algn="l" indent="0" marL="0">
              <a:buNone/>
            </a:pPr>
            <a:r>
              <a:rPr lang="en-US" sz="2550" dirty="0">
                <a:solidFill>
                  <a:srgbClr val="C9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laptop now competes with companies worth billions.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43000" y="92011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376749" y="92011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50620"/>
            <a:ext cx="29824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1 · HOW I RUN IT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1207830" y="914400"/>
            <a:ext cx="6115286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-36" kern="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loop, run again and again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3000" y="1737360"/>
            <a:ext cx="133350" cy="133350"/>
          </a:xfrm>
          <a:prstGeom prst="ellipse">
            <a:avLst/>
          </a:prstGeom>
          <a:solidFill>
            <a:srgbClr val="C9532F"/>
          </a:solidFill>
          <a:ln/>
        </p:spPr>
      </p:sp>
      <p:sp>
        <p:nvSpPr>
          <p:cNvPr id="5" name="Text 3"/>
          <p:cNvSpPr/>
          <p:nvPr/>
        </p:nvSpPr>
        <p:spPr>
          <a:xfrm>
            <a:off x="1381125" y="1718310"/>
            <a:ext cx="19876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84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lead — judgment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16405" y="1737360"/>
            <a:ext cx="133350" cy="133350"/>
          </a:xfrm>
          <a:prstGeom prst="ellipse">
            <a:avLst/>
          </a:prstGeom>
          <a:solidFill>
            <a:srgbClr val="211C16"/>
          </a:solidFill>
          <a:ln/>
        </p:spPr>
      </p:sp>
      <p:sp>
        <p:nvSpPr>
          <p:cNvPr id="7" name="Text 5"/>
          <p:cNvSpPr/>
          <p:nvPr/>
        </p:nvSpPr>
        <p:spPr>
          <a:xfrm>
            <a:off x="3854530" y="1718310"/>
            <a:ext cx="22893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84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run — execution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4329113"/>
            <a:ext cx="1739503" cy="419100"/>
          </a:xfrm>
          <a:prstGeom prst="roundRect">
            <a:avLst>
              <a:gd name="adj" fmla="val 22727"/>
            </a:avLst>
          </a:prstGeom>
          <a:ln w="11430">
            <a:solidFill>
              <a:srgbClr val="C9532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297305" y="4435793"/>
            <a:ext cx="727829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Ideate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2034659" y="4485322"/>
            <a:ext cx="769739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C9532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968228" y="4452938"/>
            <a:ext cx="167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45453" y="4331018"/>
            <a:ext cx="1390829" cy="415290"/>
          </a:xfrm>
          <a:prstGeom prst="roundRect">
            <a:avLst>
              <a:gd name="adj" fmla="val 22936"/>
            </a:avLst>
          </a:prstGeom>
          <a:solidFill>
            <a:srgbClr val="C9532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7853" y="4435793"/>
            <a:ext cx="116222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B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Brainstorm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4622006" y="4452938"/>
            <a:ext cx="167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99231" y="4331018"/>
            <a:ext cx="739259" cy="415290"/>
          </a:xfrm>
          <a:prstGeom prst="roundRect">
            <a:avLst>
              <a:gd name="adj" fmla="val 22936"/>
            </a:avLst>
          </a:prstGeom>
          <a:solidFill>
            <a:srgbClr val="211C16"/>
          </a:solidFill>
          <a:ln/>
        </p:spPr>
      </p:sp>
      <p:sp>
        <p:nvSpPr>
          <p:cNvPr id="16" name="Text 14"/>
          <p:cNvSpPr/>
          <p:nvPr/>
        </p:nvSpPr>
        <p:spPr>
          <a:xfrm>
            <a:off x="4951631" y="4435793"/>
            <a:ext cx="51065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624215" y="4452938"/>
            <a:ext cx="167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1439" y="4331018"/>
            <a:ext cx="739259" cy="415290"/>
          </a:xfrm>
          <a:prstGeom prst="roundRect">
            <a:avLst>
              <a:gd name="adj" fmla="val 22936"/>
            </a:avLst>
          </a:prstGeom>
          <a:solidFill>
            <a:srgbClr val="211C16"/>
          </a:solidFill>
          <a:ln/>
        </p:spPr>
      </p:sp>
      <p:sp>
        <p:nvSpPr>
          <p:cNvPr id="19" name="Text 17"/>
          <p:cNvSpPr/>
          <p:nvPr/>
        </p:nvSpPr>
        <p:spPr>
          <a:xfrm>
            <a:off x="5953839" y="4435793"/>
            <a:ext cx="51065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6626423" y="4452938"/>
            <a:ext cx="167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03648" y="4331018"/>
            <a:ext cx="956429" cy="415290"/>
          </a:xfrm>
          <a:prstGeom prst="roundRect">
            <a:avLst>
              <a:gd name="adj" fmla="val 22936"/>
            </a:avLst>
          </a:prstGeom>
          <a:solidFill>
            <a:srgbClr val="211C16"/>
          </a:solidFill>
          <a:ln/>
        </p:spPr>
      </p:sp>
      <p:sp>
        <p:nvSpPr>
          <p:cNvPr id="22" name="Text 20"/>
          <p:cNvSpPr/>
          <p:nvPr/>
        </p:nvSpPr>
        <p:spPr>
          <a:xfrm>
            <a:off x="6956048" y="4435793"/>
            <a:ext cx="72782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7845802" y="4452938"/>
            <a:ext cx="167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23027" y="4331018"/>
            <a:ext cx="956429" cy="415290"/>
          </a:xfrm>
          <a:prstGeom prst="roundRect">
            <a:avLst>
              <a:gd name="adj" fmla="val 22936"/>
            </a:avLst>
          </a:prstGeom>
          <a:solidFill>
            <a:srgbClr val="C9532F"/>
          </a:solidFill>
          <a:ln/>
        </p:spPr>
      </p:sp>
      <p:sp>
        <p:nvSpPr>
          <p:cNvPr id="25" name="Text 23"/>
          <p:cNvSpPr/>
          <p:nvPr/>
        </p:nvSpPr>
        <p:spPr>
          <a:xfrm>
            <a:off x="8175427" y="4435793"/>
            <a:ext cx="72782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B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Polish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065181" y="4452938"/>
            <a:ext cx="167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42405" y="4331018"/>
            <a:ext cx="1173659" cy="415290"/>
          </a:xfrm>
          <a:prstGeom prst="roundRect">
            <a:avLst>
              <a:gd name="adj" fmla="val 22936"/>
            </a:avLst>
          </a:prstGeom>
          <a:solidFill>
            <a:srgbClr val="C9532F"/>
          </a:solidFill>
          <a:ln/>
        </p:spPr>
      </p:sp>
      <p:sp>
        <p:nvSpPr>
          <p:cNvPr id="28" name="Text 26"/>
          <p:cNvSpPr/>
          <p:nvPr/>
        </p:nvSpPr>
        <p:spPr>
          <a:xfrm>
            <a:off x="9394805" y="4435793"/>
            <a:ext cx="94505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B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0539889" y="4325303"/>
            <a:ext cx="1204496" cy="426720"/>
          </a:xfrm>
          <a:prstGeom prst="roundRect">
            <a:avLst>
              <a:gd name="adj" fmla="val 50000"/>
            </a:avLst>
          </a:prstGeom>
          <a:ln w="7620">
            <a:solidFill>
              <a:srgbClr val="C953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18959" y="4428172"/>
            <a:ext cx="1852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0913686" y="4435793"/>
            <a:ext cx="727829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143000" y="5075873"/>
            <a:ext cx="135388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at the start, taste at the end. </a:t>
            </a:r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9A8F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agents run the middle — it got boring, in the best way.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143000" y="7882890"/>
            <a:ext cx="1648206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50/50 RULE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143000" y="8157210"/>
            <a:ext cx="16002000" cy="777240"/>
          </a:xfrm>
          <a:prstGeom prst="roundRect">
            <a:avLst>
              <a:gd name="adj" fmla="val 14706"/>
            </a:avLst>
          </a:prstGeom>
          <a:ln w="7620">
            <a:solidFill>
              <a:srgbClr val="DDD4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50620" y="8164830"/>
            <a:ext cx="7997190" cy="762000"/>
          </a:xfrm>
          <a:prstGeom prst="rect">
            <a:avLst/>
          </a:prstGeom>
          <a:solidFill>
            <a:srgbClr val="F2E7DB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0190" y="8164830"/>
            <a:ext cx="9525" cy="762000"/>
          </a:xfrm>
          <a:prstGeom prst="rect">
            <a:avLst/>
          </a:prstGeom>
          <a:solidFill>
            <a:srgbClr val="DDD4C3"/>
          </a:solidFill>
          <a:ln/>
        </p:spPr>
      </p:sp>
      <p:sp>
        <p:nvSpPr>
          <p:cNvPr id="37" name="Text 35"/>
          <p:cNvSpPr/>
          <p:nvPr/>
        </p:nvSpPr>
        <p:spPr>
          <a:xfrm>
            <a:off x="1398270" y="8355330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893570" y="8408908"/>
            <a:ext cx="407256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output — was the work good?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9147810" y="8164830"/>
            <a:ext cx="7989570" cy="762000"/>
          </a:xfrm>
          <a:prstGeom prst="rect">
            <a:avLst/>
          </a:prstGeom>
          <a:solidFill>
            <a:srgbClr val="211C16"/>
          </a:solidFill>
          <a:ln/>
        </p:spPr>
      </p:sp>
      <p:sp>
        <p:nvSpPr>
          <p:cNvPr id="40" name="Text 38"/>
          <p:cNvSpPr/>
          <p:nvPr/>
        </p:nvSpPr>
        <p:spPr>
          <a:xfrm>
            <a:off x="9395460" y="8355330"/>
            <a:ext cx="419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9890760" y="8408908"/>
            <a:ext cx="441447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the system — codify the mistake once.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143000" y="92011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6376749" y="92011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143000" y="1997988"/>
            <a:ext cx="16482060" cy="2240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850" spc="-177" kern="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me just show you.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143000" y="4562832"/>
            <a:ext cx="11576685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D8CF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First, install the plugin — </a:t>
            </a:r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E9A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Codex, Claude Code, Cursor, </a:t>
            </a:r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D8CF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wherever you work. Then: the command, what it does, the output.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7141845"/>
            <a:ext cx="9220200" cy="739140"/>
          </a:xfrm>
          <a:prstGeom prst="roundRect">
            <a:avLst>
              <a:gd name="adj" fmla="val 15464"/>
            </a:avLst>
          </a:prstGeom>
          <a:solidFill>
            <a:srgbClr val="2A241D"/>
          </a:solidFill>
          <a:ln w="7620">
            <a:solidFill>
              <a:srgbClr val="3A3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6370" y="7402830"/>
            <a:ext cx="190560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84080" y="7397115"/>
            <a:ext cx="68000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</a:t>
            </a:r>
            <a:pPr algn="l" indent="0" marL="0">
              <a:buNone/>
            </a:pPr>
            <a:r>
              <a:rPr lang="en-US" sz="1575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github.com/EveryInc/compound-engineering-plugin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0591800" y="6202680"/>
            <a:ext cx="2362200" cy="2617470"/>
          </a:xfrm>
          <a:prstGeom prst="roundRect">
            <a:avLst>
              <a:gd name="adj" fmla="val 6452"/>
            </a:avLst>
          </a:prstGeom>
          <a:solidFill>
            <a:srgbClr val="F2ECD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400" y="6431280"/>
            <a:ext cx="1905000" cy="190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36963" y="8469630"/>
            <a:ext cx="174807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INSTALL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1143000" y="92011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6376749" y="92011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64820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 · COMMAND 01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1648206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3000" dirty="0">
                <a:solidFill>
                  <a:srgbClr val="1C18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ce-ideate </a:t>
            </a:r>
            <a:pPr algn="l" indent="0" marL="0">
              <a:buNone/>
            </a:pPr>
            <a:r>
              <a:rPr lang="en-US" sz="2250" dirty="0">
                <a:solidFill>
                  <a:srgbClr val="84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what should I do next?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950720"/>
            <a:ext cx="75154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RUN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1143000" y="2244090"/>
            <a:ext cx="7296508" cy="1591628"/>
          </a:xfrm>
          <a:prstGeom prst="roundRect">
            <a:avLst>
              <a:gd name="adj" fmla="val 8378"/>
            </a:avLst>
          </a:prstGeom>
          <a:solidFill>
            <a:srgbClr val="211C16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2529840"/>
            <a:ext cx="6887515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/ce-ideate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447800" y="2869883"/>
            <a:ext cx="6887515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“look at all my open GitHub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447800" y="3209925"/>
            <a:ext cx="6887515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 — what do I do next?”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143000" y="4045268"/>
            <a:ext cx="75154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4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it at →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143000" y="4319588"/>
            <a:ext cx="863084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4445" y="4393883"/>
            <a:ext cx="676394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2082284" y="4319588"/>
            <a:ext cx="691634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3729" y="4393883"/>
            <a:ext cx="504944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2850118" y="4319588"/>
            <a:ext cx="948809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1563" y="4393883"/>
            <a:ext cx="762119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Intercom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3875127" y="4319588"/>
            <a:ext cx="691634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6572" y="4393883"/>
            <a:ext cx="504944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642961" y="4319588"/>
            <a:ext cx="1019354" cy="308610"/>
          </a:xfrm>
          <a:prstGeom prst="roundRect">
            <a:avLst>
              <a:gd name="adj" fmla="val 18519"/>
            </a:avLst>
          </a:prstGeom>
          <a:solidFill>
            <a:srgbClr val="211C16"/>
          </a:solidFill>
          <a:ln/>
        </p:spPr>
      </p:sp>
      <p:sp>
        <p:nvSpPr>
          <p:cNvPr id="19" name="Text 17"/>
          <p:cNvSpPr/>
          <p:nvPr/>
        </p:nvSpPr>
        <p:spPr>
          <a:xfrm>
            <a:off x="4766786" y="4386263"/>
            <a:ext cx="847904" cy="2133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OKRs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972908" y="1950720"/>
            <a:ext cx="841725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GET — the ideation page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8972908" y="2509004"/>
            <a:ext cx="8172093" cy="6389072"/>
          </a:xfrm>
          <a:prstGeom prst="roundRect">
            <a:avLst>
              <a:gd name="adj" fmla="val 1789"/>
            </a:avLst>
          </a:prstGeom>
          <a:ln w="7620">
            <a:solidFill>
              <a:srgbClr val="D9D2C4"/>
            </a:solidFill>
            <a:prstDash val="solid"/>
          </a:ln>
          <a:effectLst>
            <a:outerShdw sx="100000" sy="100000" kx="0" ky="0" algn="bl" rotWithShape="0" blurRad="476250" dist="247650" dir="5400000">
              <a:srgbClr val="1C1815">
                <a:alpha val="55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908" y="2509004"/>
            <a:ext cx="8172093" cy="63890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93154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6376749" y="93154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64820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 · COMMAND 02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1648206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3000" dirty="0">
                <a:solidFill>
                  <a:srgbClr val="1C18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ce-doc-review </a:t>
            </a:r>
            <a:pPr algn="l" indent="0" marL="0">
              <a:buNone/>
            </a:pPr>
            <a:r>
              <a:rPr lang="en-US" sz="2250" dirty="0">
                <a:solidFill>
                  <a:srgbClr val="84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sharp questions on any PRD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950720"/>
            <a:ext cx="75154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RUN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1143000" y="2244090"/>
            <a:ext cx="7296508" cy="1251585"/>
          </a:xfrm>
          <a:prstGeom prst="roundRect">
            <a:avLst>
              <a:gd name="adj" fmla="val 10654"/>
            </a:avLst>
          </a:prstGeom>
          <a:solidFill>
            <a:srgbClr val="211C16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2529840"/>
            <a:ext cx="6887515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/ce-doc-review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447800" y="2869883"/>
            <a:ext cx="6887515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notion.so/prd-inbox-v2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143000" y="3724275"/>
            <a:ext cx="7296508" cy="1393627"/>
          </a:xfrm>
          <a:prstGeom prst="roundRect">
            <a:avLst>
              <a:gd name="adj" fmla="val 956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979545"/>
            <a:ext cx="695030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then /ce-compound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17320" y="4250055"/>
            <a:ext cx="6950303" cy="650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the answers back — the doc learns the reasoning, so it won't ask again.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72908" y="1950720"/>
            <a:ext cx="841725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GET — questions back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8972908" y="2244090"/>
            <a:ext cx="8172093" cy="6918960"/>
          </a:xfrm>
          <a:prstGeom prst="roundRect">
            <a:avLst>
              <a:gd name="adj" fmla="val 1927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  <a:effectLst>
            <a:outerShdw sx="100000" sy="100000" kx="0" ky="0" algn="bl" rotWithShape="0" blurRad="476250" dist="247650" dir="5400000">
              <a:srgbClr val="1C1815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04377" y="2575560"/>
            <a:ext cx="282000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62577" y="2537460"/>
            <a:ext cx="574591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to legacy accounts that fail validation?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304377" y="3018472"/>
            <a:ext cx="7509153" cy="9525"/>
          </a:xfrm>
          <a:prstGeom prst="rect">
            <a:avLst/>
          </a:prstGeom>
          <a:solidFill>
            <a:srgbClr val="E4DDCE"/>
          </a:solidFill>
          <a:ln/>
        </p:spPr>
      </p:sp>
      <p:sp>
        <p:nvSpPr>
          <p:cNvPr id="16" name="Text 14"/>
          <p:cNvSpPr/>
          <p:nvPr/>
        </p:nvSpPr>
        <p:spPr>
          <a:xfrm>
            <a:off x="9304377" y="3237547"/>
            <a:ext cx="282000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62577" y="3199447"/>
            <a:ext cx="49940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v2 switch reversible once a user opts in?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304377" y="3680460"/>
            <a:ext cx="7509153" cy="9525"/>
          </a:xfrm>
          <a:prstGeom prst="rect">
            <a:avLst/>
          </a:prstGeom>
          <a:solidFill>
            <a:srgbClr val="E4DDCE"/>
          </a:solidFill>
          <a:ln/>
        </p:spPr>
      </p:sp>
      <p:sp>
        <p:nvSpPr>
          <p:cNvPr id="19" name="Text 17"/>
          <p:cNvSpPr/>
          <p:nvPr/>
        </p:nvSpPr>
        <p:spPr>
          <a:xfrm>
            <a:off x="9304377" y="3899535"/>
            <a:ext cx="282000" cy="23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62577" y="3861435"/>
            <a:ext cx="54829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metric tells us onboarding actually worked?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304377" y="8709660"/>
            <a:ext cx="773442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4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inline · or push back to the author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143000" y="93154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376749" y="93154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42950"/>
            <a:ext cx="48200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 · COMMAND 03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104900"/>
            <a:ext cx="4820022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3000" dirty="0">
                <a:solidFill>
                  <a:srgbClr val="1C18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ce-brainstorm </a:t>
            </a:r>
            <a:pPr algn="l" indent="0" marL="0">
              <a:buNone/>
            </a:pPr>
            <a:r>
              <a:rPr lang="en-US" sz="3000" dirty="0">
                <a:solidFill>
                  <a:srgbClr val="A2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pPr algn="l" indent="0" marL="0">
              <a:buNone/>
            </a:pPr>
            <a:r>
              <a:rPr lang="en-US" sz="300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3000" dirty="0">
                <a:solidFill>
                  <a:srgbClr val="1C18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689402" y="800100"/>
            <a:ext cx="1455599" cy="327660"/>
          </a:xfrm>
          <a:prstGeom prst="roundRect">
            <a:avLst>
              <a:gd name="adj" fmla="val 50000"/>
            </a:avLst>
          </a:prstGeom>
          <a:ln w="7620">
            <a:solidFill>
              <a:srgbClr val="E3B7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868472" y="883920"/>
            <a:ext cx="117365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most used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143000" y="1855470"/>
            <a:ext cx="75154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RUN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1143000" y="2148840"/>
            <a:ext cx="7296508" cy="1447800"/>
          </a:xfrm>
          <a:prstGeom prst="roundRect">
            <a:avLst>
              <a:gd name="adj" fmla="val 9211"/>
            </a:avLst>
          </a:prstGeom>
          <a:solidFill>
            <a:srgbClr val="211C16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2415540"/>
            <a:ext cx="69267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/ce-brainstorm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28750" y="2720340"/>
            <a:ext cx="69267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“onboarding that explains what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28750" y="3025140"/>
            <a:ext cx="69267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changed, Cora 1 → Cora 2”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844290"/>
            <a:ext cx="75154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/lfg RUNS THE MIDDLE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143000" y="4118610"/>
            <a:ext cx="586800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4920" y="4192905"/>
            <a:ext cx="41916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806000" y="4192905"/>
            <a:ext cx="161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967984" y="4118610"/>
            <a:ext cx="586800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9904" y="4192905"/>
            <a:ext cx="41916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630984" y="4192905"/>
            <a:ext cx="161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2792968" y="4118610"/>
            <a:ext cx="758309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4888" y="4192905"/>
            <a:ext cx="59066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627477" y="4192905"/>
            <a:ext cx="161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3789462" y="4118610"/>
            <a:ext cx="672584" cy="308610"/>
          </a:xfrm>
          <a:prstGeom prst="roundRect">
            <a:avLst>
              <a:gd name="adj" fmla="val 18519"/>
            </a:avLst>
          </a:prstGeom>
          <a:solidFill>
            <a:srgbClr val="EFE8D9"/>
          </a:solidFill>
          <a:ln w="7620">
            <a:solidFill>
              <a:srgbClr val="DDD4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1382" y="4192905"/>
            <a:ext cx="50494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38246" y="4192905"/>
            <a:ext cx="1619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B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700230" y="4126230"/>
            <a:ext cx="400110" cy="293370"/>
          </a:xfrm>
          <a:prstGeom prst="roundRect">
            <a:avLst>
              <a:gd name="adj" fmla="val 19481"/>
            </a:avLst>
          </a:prstGeom>
          <a:solidFill>
            <a:srgbClr val="211C16"/>
          </a:solidFill>
          <a:ln/>
        </p:spPr>
      </p:sp>
      <p:sp>
        <p:nvSpPr>
          <p:cNvPr id="25" name="Text 23"/>
          <p:cNvSpPr/>
          <p:nvPr/>
        </p:nvSpPr>
        <p:spPr>
          <a:xfrm>
            <a:off x="4814530" y="4192905"/>
            <a:ext cx="24771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DE7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972908" y="1855470"/>
            <a:ext cx="841725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GET — it interviews you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8972908" y="2861548"/>
            <a:ext cx="8172093" cy="5664994"/>
          </a:xfrm>
          <a:prstGeom prst="roundRect">
            <a:avLst>
              <a:gd name="adj" fmla="val 2018"/>
            </a:avLst>
          </a:prstGeom>
          <a:ln w="7620">
            <a:solidFill>
              <a:srgbClr val="D9D2C4"/>
            </a:solidFill>
            <a:prstDash val="solid"/>
          </a:ln>
          <a:effectLst>
            <a:outerShdw sx="100000" sy="100000" kx="0" ky="0" algn="bl" rotWithShape="0" blurRad="476250" dist="247650" dir="5400000">
              <a:srgbClr val="1C1815">
                <a:alpha val="55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908" y="2861548"/>
            <a:ext cx="8172093" cy="566499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43000" y="937260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6376749" y="937260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64820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 · COMMAND 04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1648206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3000" dirty="0">
                <a:solidFill>
                  <a:srgbClr val="1C18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ce-polish </a:t>
            </a:r>
            <a:pPr algn="l" indent="0" marL="0">
              <a:buNone/>
            </a:pPr>
            <a:r>
              <a:rPr lang="en-US" sz="2250" dirty="0">
                <a:solidFill>
                  <a:srgbClr val="84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raise the bar on a PR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893570"/>
            <a:ext cx="2800826" cy="548640"/>
          </a:xfrm>
          <a:prstGeom prst="roundRect">
            <a:avLst>
              <a:gd name="adj" fmla="val 20833"/>
            </a:avLst>
          </a:prstGeom>
          <a:solidFill>
            <a:srgbClr val="211C16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2065020"/>
            <a:ext cx="18484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632645" y="2065020"/>
            <a:ext cx="213973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/ce-polish </a:t>
            </a:r>
            <a:pPr algn="l" indent="0" marL="0">
              <a:buNone/>
            </a:pPr>
            <a:r>
              <a:rPr lang="en-US" sz="1425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#2715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143000" y="4552236"/>
            <a:ext cx="698856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— THE AGENT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43000" y="4807506"/>
            <a:ext cx="6988565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changed, and how to test it — live tunnel and all.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143000" y="5763816"/>
            <a:ext cx="698856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— YOU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143000" y="6019086"/>
            <a:ext cx="698856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real thing and </a:t>
            </a:r>
            <a:pPr algn="l" indent="0" marL="0">
              <a:lnSpc>
                <a:spcPct val="120000"/>
              </a:lnSpc>
              <a:buNone/>
            </a:pPr>
            <a:r>
              <a:rPr lang="en-US" sz="2325" dirty="0">
                <a:solidFill>
                  <a:srgbClr val="C9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the bar.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143000" y="6659166"/>
            <a:ext cx="6988565" cy="641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5C52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“is it broken.” Does it feel good? Can it be better? </a:t>
            </a:r>
            <a:pPr algn="l" indent="0" marL="0">
              <a:lnSpc>
                <a:spcPct val="132000"/>
              </a:lnSpc>
              <a:buNone/>
            </a:pPr>
            <a:r>
              <a:rPr lang="en-US" sz="1800" dirty="0">
                <a:solidFill>
                  <a:srgbClr val="C9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merge — you're live.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65563" y="2764155"/>
            <a:ext cx="7056180" cy="6286441"/>
          </a:xfrm>
          <a:prstGeom prst="roundRect">
            <a:avLst>
              <a:gd name="adj" fmla="val 1818"/>
            </a:avLst>
          </a:prstGeom>
          <a:ln w="7620">
            <a:solidFill>
              <a:srgbClr val="D9D2C4"/>
            </a:solidFill>
            <a:prstDash val="solid"/>
          </a:ln>
          <a:effectLst>
            <a:outerShdw sx="100000" sy="100000" kx="0" ky="0" algn="bl" rotWithShape="0" blurRad="476250" dist="247650" dir="5400000">
              <a:srgbClr val="1C1815">
                <a:alpha val="5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563" y="2764155"/>
            <a:ext cx="7056180" cy="62864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93154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376749" y="93154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64820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 · COMMAND 05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213360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buNone/>
            </a:pPr>
            <a:r>
              <a:rPr lang="en-US" sz="3000" dirty="0">
                <a:solidFill>
                  <a:srgbClr val="1C18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ce-debug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92316" y="1200150"/>
            <a:ext cx="32123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291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29263" y="1266825"/>
            <a:ext cx="1345109" cy="403860"/>
          </a:xfrm>
          <a:prstGeom prst="roundRect">
            <a:avLst>
              <a:gd name="adj" fmla="val 16509"/>
            </a:avLst>
          </a:prstGeom>
          <a:solidFill>
            <a:srgbClr val="C9532F"/>
          </a:solidFill>
          <a:ln/>
        </p:spPr>
      </p:sp>
      <p:sp>
        <p:nvSpPr>
          <p:cNvPr id="6" name="Text 4"/>
          <p:cNvSpPr/>
          <p:nvPr/>
        </p:nvSpPr>
        <p:spPr>
          <a:xfrm>
            <a:off x="3753088" y="1295400"/>
            <a:ext cx="117365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B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4835009"/>
            <a:ext cx="7515403" cy="470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700" i="1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“Something's wrong with this deploy.”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5552777"/>
            <a:ext cx="7515403" cy="76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1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Render CLI exposes the logs, the agent debugs it — then you hand the fix to </a:t>
            </a:r>
            <a:pPr algn="l" indent="0" marL="0">
              <a:lnSpc>
                <a:spcPct val="134000"/>
              </a:lnSpc>
              <a:buNone/>
            </a:pPr>
            <a:r>
              <a:rPr lang="en-US" sz="1875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/lfg</a:t>
            </a:r>
            <a:pPr algn="l" indent="0" marL="0">
              <a:lnSpc>
                <a:spcPct val="134000"/>
              </a:lnSpc>
              <a:buNone/>
            </a:pPr>
            <a:r>
              <a:rPr lang="en-US" sz="210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972908" y="4295775"/>
            <a:ext cx="8172093" cy="2522220"/>
          </a:xfrm>
          <a:prstGeom prst="roundRect">
            <a:avLst>
              <a:gd name="adj" fmla="val 5287"/>
            </a:avLst>
          </a:prstGeom>
          <a:solidFill>
            <a:srgbClr val="211C16"/>
          </a:solidFill>
          <a:ln/>
          <a:effectLst>
            <a:outerShdw sx="100000" sy="100000" kx="0" ky="0" algn="bl" rotWithShape="0" blurRad="476250" dist="247650" dir="5400000">
              <a:srgbClr val="1C1815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72908" y="4733925"/>
            <a:ext cx="8172093" cy="9525"/>
          </a:xfrm>
          <a:prstGeom prst="rect">
            <a:avLst/>
          </a:prstGeom>
          <a:solidFill>
            <a:srgbClr val="342D25"/>
          </a:solidFill>
          <a:ln/>
        </p:spPr>
      </p:sp>
      <p:sp>
        <p:nvSpPr>
          <p:cNvPr id="11" name="Shape 9"/>
          <p:cNvSpPr/>
          <p:nvPr/>
        </p:nvSpPr>
        <p:spPr>
          <a:xfrm>
            <a:off x="9163408" y="4462463"/>
            <a:ext cx="104775" cy="104775"/>
          </a:xfrm>
          <a:prstGeom prst="ellipse">
            <a:avLst/>
          </a:prstGeom>
          <a:solidFill>
            <a:srgbClr val="D6A08C"/>
          </a:solidFill>
          <a:ln/>
        </p:spPr>
      </p:sp>
      <p:sp>
        <p:nvSpPr>
          <p:cNvPr id="12" name="Shape 10"/>
          <p:cNvSpPr/>
          <p:nvPr/>
        </p:nvSpPr>
        <p:spPr>
          <a:xfrm>
            <a:off x="9344383" y="4462463"/>
            <a:ext cx="104775" cy="104775"/>
          </a:xfrm>
          <a:prstGeom prst="ellipse">
            <a:avLst/>
          </a:prstGeom>
          <a:solidFill>
            <a:srgbClr val="D9CDB4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358" y="4462463"/>
            <a:ext cx="104775" cy="104775"/>
          </a:xfrm>
          <a:prstGeom prst="ellipse">
            <a:avLst/>
          </a:prstGeom>
          <a:solidFill>
            <a:srgbClr val="C9D1BC"/>
          </a:solidFill>
          <a:ln/>
        </p:spPr>
      </p:sp>
      <p:sp>
        <p:nvSpPr>
          <p:cNvPr id="14" name="Text 12"/>
          <p:cNvSpPr/>
          <p:nvPr/>
        </p:nvSpPr>
        <p:spPr>
          <a:xfrm>
            <a:off x="9801582" y="4438650"/>
            <a:ext cx="1836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logs — cora-web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58658" y="5008245"/>
            <a:ext cx="78286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6E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/ce-debug </a:t>
            </a:r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render.com/deploy/dep-x9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58658" y="5297805"/>
            <a:ext cx="78286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D8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worker boot failed (exit 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58658" y="5587365"/>
            <a:ext cx="78286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Redis connection refused :6379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58658" y="5972175"/>
            <a:ext cx="78286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7FB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C9B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diagnosing</a:t>
            </a:r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E9A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58658" y="6261735"/>
            <a:ext cx="782861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200" dirty="0">
                <a:solidFill>
                  <a:srgbClr val="7FB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fix ready · handing to /lfg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93154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376749" y="93154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2 · THE LESSON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143000" y="1436370"/>
            <a:ext cx="14716125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spc="-108" kern="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your agent access to where things happen.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186416"/>
            <a:ext cx="1648206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A29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THE RENDER CLI · THE SKILLS · THE MCP — THEN HOOK UP EVERYTHING ELSE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1143000" y="4559796"/>
            <a:ext cx="3871913" cy="1082040"/>
          </a:xfrm>
          <a:prstGeom prst="roundRect">
            <a:avLst>
              <a:gd name="adj" fmla="val 10563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4815066"/>
            <a:ext cx="34394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deploys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5186363" y="4559796"/>
            <a:ext cx="3871913" cy="1082040"/>
          </a:xfrm>
          <a:prstGeom prst="roundRect">
            <a:avLst>
              <a:gd name="adj" fmla="val 10563"/>
            </a:avLst>
          </a:prstGeom>
          <a:solidFill>
            <a:srgbClr val="211C16"/>
          </a:solidFill>
          <a:ln/>
        </p:spPr>
      </p:sp>
      <p:sp>
        <p:nvSpPr>
          <p:cNvPr id="8" name="Text 6"/>
          <p:cNvSpPr/>
          <p:nvPr/>
        </p:nvSpPr>
        <p:spPr>
          <a:xfrm>
            <a:off x="5453063" y="4807446"/>
            <a:ext cx="345467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CDF"/>
                </a:solidFill>
                <a:highlight>
                  <a:srgbClr val="211C1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As much data as possible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229725" y="4559796"/>
            <a:ext cx="3871913" cy="1082040"/>
          </a:xfrm>
          <a:prstGeom prst="roundRect">
            <a:avLst>
              <a:gd name="adj" fmla="val 10563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4045" y="4815066"/>
            <a:ext cx="34394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logs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3273088" y="4559796"/>
            <a:ext cx="3871913" cy="1082040"/>
          </a:xfrm>
          <a:prstGeom prst="roundRect">
            <a:avLst>
              <a:gd name="adj" fmla="val 10563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47408" y="4815066"/>
            <a:ext cx="34394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jobs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143000" y="5813286"/>
            <a:ext cx="3871913" cy="803910"/>
          </a:xfrm>
          <a:prstGeom prst="roundRect">
            <a:avLst>
              <a:gd name="adj" fmla="val 14218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6068556"/>
            <a:ext cx="343943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5186363" y="5813286"/>
            <a:ext cx="3871913" cy="803910"/>
          </a:xfrm>
          <a:prstGeom prst="roundRect">
            <a:avLst>
              <a:gd name="adj" fmla="val 14218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0683" y="6068556"/>
            <a:ext cx="343943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29725" y="5813286"/>
            <a:ext cx="3871913" cy="803910"/>
          </a:xfrm>
          <a:prstGeom prst="roundRect">
            <a:avLst>
              <a:gd name="adj" fmla="val 14218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4045" y="6068556"/>
            <a:ext cx="343943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Intercom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3273088" y="5813286"/>
            <a:ext cx="3871913" cy="803910"/>
          </a:xfrm>
          <a:prstGeom prst="roundRect">
            <a:avLst>
              <a:gd name="adj" fmla="val 14218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47408" y="6068556"/>
            <a:ext cx="343943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C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email — all of it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143000" y="866775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4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can even run jobs on production — and </a:t>
            </a:r>
            <a:pPr algn="l" indent="0" marL="0">
              <a:buNone/>
            </a:pPr>
            <a:r>
              <a:rPr lang="en-US" sz="1800" dirty="0">
                <a:solidFill>
                  <a:srgbClr val="3C3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/lfg </a:t>
            </a:r>
            <a:pPr algn="l" indent="0" marL="0">
              <a:buNone/>
            </a:pPr>
            <a:r>
              <a:rPr lang="en-US" sz="2100" i="1" dirty="0">
                <a:solidFill>
                  <a:srgbClr val="84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alone runs 10–20 of these skills in one flow.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43000" y="92011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376749" y="92011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0600"/>
            <a:ext cx="164820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42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BET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143000" y="3160633"/>
            <a:ext cx="16482060" cy="1889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138" kern="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is getting cheap. </a:t>
            </a:r>
            <a:pPr algn="l" indent="0" marL="0">
              <a:lnSpc>
                <a:spcPct val="100000"/>
              </a:lnSpc>
              <a:buNone/>
            </a:pPr>
            <a:r>
              <a:rPr lang="en-US" sz="6900" i="1" spc="-138" kern="0" dirty="0">
                <a:solidFill>
                  <a:srgbClr val="E9A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 isn't.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5431393"/>
            <a:ext cx="4643735" cy="727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D8CF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problem.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6032480" y="5431393"/>
            <a:ext cx="4643735" cy="727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D8CF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yourself from what the AI can do.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921960" y="5431393"/>
            <a:ext cx="4643796" cy="727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D8CF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Codify your judgment so it compounds.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143000" y="8054340"/>
            <a:ext cx="16002000" cy="9525"/>
          </a:xfrm>
          <a:prstGeom prst="rect">
            <a:avLst/>
          </a:prstGeom>
          <a:solidFill>
            <a:srgbClr val="3A33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8924568"/>
            <a:ext cx="6851889" cy="409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400" i="1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feature should be easier because you built this one.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94317" y="8462010"/>
            <a:ext cx="4150683" cy="32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2E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Kieran Klaassen · @kieranklaassen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994317" y="8753475"/>
            <a:ext cx="415068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github.com/EveryInc/compound-engineering-plugin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994317" y="9053513"/>
            <a:ext cx="415068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source. PRs welcome. Or build your own.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39165"/>
            <a:ext cx="1813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85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SEND-OFF</a:t>
            </a:r>
            <a:endParaRPr lang="en-US" sz="142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8206" y="914400"/>
            <a:ext cx="1026795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18852"/>
            <a:ext cx="8720653" cy="1793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200" spc="-144" kern="0" dirty="0">
                <a:solidFill>
                  <a:srgbClr val="1C18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compound today.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143000" y="4798278"/>
            <a:ext cx="7456170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25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the compound engineering plugin in </a:t>
            </a:r>
            <a:pPr algn="l" indent="0" marL="0">
              <a:lnSpc>
                <a:spcPct val="132000"/>
              </a:lnSpc>
              <a:buNone/>
            </a:pPr>
            <a:r>
              <a:rPr lang="en-US" sz="2250" dirty="0">
                <a:solidFill>
                  <a:srgbClr val="C9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Codex, Claude Code, or Cursor </a:t>
            </a:r>
            <a:pPr algn="l" indent="0" marL="0">
              <a:lnSpc>
                <a:spcPct val="132000"/>
              </a:lnSpc>
              <a:buNone/>
            </a:pPr>
            <a:r>
              <a:rPr lang="en-US" sz="2250" dirty="0">
                <a:solidFill>
                  <a:srgbClr val="3C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start where I left off.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1143000" y="6005096"/>
            <a:ext cx="85725" cy="85725"/>
          </a:xfrm>
          <a:prstGeom prst="ellipse">
            <a:avLst/>
          </a:prstGeom>
          <a:solidFill>
            <a:srgbClr val="C9532F"/>
          </a:solidFill>
          <a:ln/>
        </p:spPr>
      </p:sp>
      <p:sp>
        <p:nvSpPr>
          <p:cNvPr id="7" name="Text 4"/>
          <p:cNvSpPr/>
          <p:nvPr/>
        </p:nvSpPr>
        <p:spPr>
          <a:xfrm>
            <a:off x="1381125" y="5933658"/>
            <a:ext cx="482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C2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I'm here at Render today — come say hi.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1143000" y="6405146"/>
            <a:ext cx="85725" cy="85725"/>
          </a:xfrm>
          <a:prstGeom prst="ellipse">
            <a:avLst/>
          </a:prstGeom>
          <a:solidFill>
            <a:srgbClr val="C9532F"/>
          </a:solidFill>
          <a:ln/>
        </p:spPr>
      </p:sp>
      <p:sp>
        <p:nvSpPr>
          <p:cNvPr id="9" name="Text 6"/>
          <p:cNvSpPr/>
          <p:nvPr/>
        </p:nvSpPr>
        <p:spPr>
          <a:xfrm>
            <a:off x="1381125" y="6333708"/>
            <a:ext cx="3709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C2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@kieranklaassen on X &amp; GitHub.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1143000" y="6805196"/>
            <a:ext cx="85725" cy="85725"/>
          </a:xfrm>
          <a:prstGeom prst="ellipse">
            <a:avLst/>
          </a:prstGeom>
          <a:solidFill>
            <a:srgbClr val="C9532F"/>
          </a:solidFill>
          <a:ln/>
        </p:spPr>
      </p:sp>
      <p:sp>
        <p:nvSpPr>
          <p:cNvPr id="11" name="Text 8"/>
          <p:cNvSpPr/>
          <p:nvPr/>
        </p:nvSpPr>
        <p:spPr>
          <a:xfrm>
            <a:off x="1381125" y="6733758"/>
            <a:ext cx="58109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C25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github.com/EveryInc/compound-engineering-plugin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1143000" y="7286208"/>
            <a:ext cx="4824174" cy="396240"/>
          </a:xfrm>
          <a:prstGeom prst="roundRect">
            <a:avLst>
              <a:gd name="adj" fmla="val 50000"/>
            </a:avLst>
          </a:prstGeom>
          <a:ln w="7620">
            <a:solidFill>
              <a:srgbClr val="E3B7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60170" y="7398603"/>
            <a:ext cx="45345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C95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 · PRs welcome · or build your own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017157" y="3288030"/>
            <a:ext cx="3482340" cy="3482340"/>
          </a:xfrm>
          <a:prstGeom prst="roundRect">
            <a:avLst>
              <a:gd name="adj" fmla="val 5470"/>
            </a:avLst>
          </a:prstGeom>
          <a:solidFill>
            <a:srgbClr val="FBF8F1"/>
          </a:solidFill>
          <a:ln w="7620">
            <a:solidFill>
              <a:srgbClr val="D9D2C4"/>
            </a:solidFill>
            <a:prstDash val="solid"/>
          </a:ln>
          <a:effectLst>
            <a:outerShdw sx="100000" sy="100000" kx="0" ky="0" algn="bl" rotWithShape="0" blurRad="571500" dist="285750" dir="5400000">
              <a:srgbClr val="1C1815">
                <a:alpha val="5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576" y="3600450"/>
            <a:ext cx="2857500" cy="2857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66668" y="6941820"/>
            <a:ext cx="18595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84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INSTALL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43000" y="9201150"/>
            <a:ext cx="2271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ENGINEERING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6376749" y="9201150"/>
            <a:ext cx="8444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9A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2026-06-15T21:29:53Z</dcterms:created>
  <dcterms:modified xsi:type="dcterms:W3CDTF">2026-06-15T21:29:53Z</dcterms:modified>
</cp:coreProperties>
</file>