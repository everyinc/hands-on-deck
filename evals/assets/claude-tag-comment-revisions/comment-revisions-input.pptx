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1675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Nityesh Agarwa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HelveticaNeu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24T19:21:14.309">
    <p:pos x="6000" y="0"/>
    <p:text>can we have some organisation logos in the side bar in all slides?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24T19:22:03.198">
    <p:pos x="2316" y="1404"/>
    <p:text>fix alignment of text in avatar shapes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24T19:22:34.294">
    <p:pos x="6000" y="0"/>
    <p:text>2 msgs should be aligned at the same level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6-24T19:23:48.081">
    <p:pos x="6000" y="0"/>
    <p:text>add a new slide after this on how this unlocks multiplayer ai mode - make it visual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6-24T19:35:13.671">
    <p:pos x="6000" y="0"/>
    <p:text>make this slide in the slack dark mode aesthetic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3.xml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4.xml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5.xml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428292" y="2781604"/>
            <a:ext cx="3905402" cy="39054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428292" y="1123797"/>
            <a:ext cx="738377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INTRODUCING · CLAUDE TAG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1428292" y="1505102"/>
            <a:ext cx="7383779" cy="1632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Helvetica Neue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Meet </a:t>
            </a:r>
            <a:r>
              <a:rPr b="1" i="0" lang="en-US" sz="63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1" i="0" lang="en-US" sz="6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endParaRPr/>
          </a:p>
          <a:p>
            <a:pPr indent="0" lvl="0" marL="0" marR="0" rtl="0" algn="l">
              <a:lnSpc>
                <a:spcPct val="1020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Helvetica Neue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on your team.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1428292" y="3384194"/>
            <a:ext cx="5829300" cy="9857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581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720"/>
              <a:buFont typeface="Helvetica Neue"/>
              <a:buNone/>
            </a:pPr>
            <a:r>
              <a:rPr b="0" i="0" lang="en-US" sz="172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Tag turns Anthropic's most capable model into a teammate that lives inside your Slack — tagged, trusted, and always working.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7629753" y="3468319"/>
            <a:ext cx="4187037" cy="2367381"/>
          </a:xfrm>
          <a:prstGeom prst="roundRect">
            <a:avLst>
              <a:gd fmla="val 7240" name="adj"/>
            </a:avLst>
          </a:prstGeom>
          <a:solidFill>
            <a:srgbClr val="2B0F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488936" y="3302812"/>
            <a:ext cx="4205325" cy="2786176"/>
          </a:xfrm>
          <a:prstGeom prst="roundRect">
            <a:avLst>
              <a:gd fmla="val 61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7726679" y="3664000"/>
            <a:ext cx="396849" cy="396849"/>
          </a:xfrm>
          <a:prstGeom prst="roundRect">
            <a:avLst>
              <a:gd fmla="val 1918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7726679" y="3664000"/>
            <a:ext cx="405079" cy="396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249716" y="3630168"/>
            <a:ext cx="666597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8981236" y="3643884"/>
            <a:ext cx="479145" cy="162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9:41 AM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8260689" y="3779215"/>
            <a:ext cx="3200400" cy="7260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you draft the launch FAQ?</a:t>
            </a:r>
            <a:endParaRPr/>
          </a:p>
        </p:txBody>
      </p:sp>
      <p:pic>
        <p:nvPicPr>
          <p:cNvPr descr="claude_avatar.png" id="107" name="Google Shape;10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9656" y="4663440"/>
            <a:ext cx="396849" cy="39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8293608" y="4632350"/>
            <a:ext cx="595274" cy="244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8954719" y="4642408"/>
            <a:ext cx="341985" cy="176479"/>
          </a:xfrm>
          <a:prstGeom prst="roundRect">
            <a:avLst>
              <a:gd fmla="val 2160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8954719" y="4642408"/>
            <a:ext cx="349300" cy="176479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9375343" y="4627778"/>
            <a:ext cx="479145" cy="162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9:41 AM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304580" y="4778654"/>
            <a:ext cx="32004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it — pulling context from </a:t>
            </a:r>
            <a:r>
              <a:rPr b="1" i="0" lang="en-US" sz="1500" u="none" cap="none" strike="noStrike">
                <a:solidFill>
                  <a:srgbClr val="1264A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#launch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now.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8334756" y="5586069"/>
            <a:ext cx="532180" cy="260603"/>
          </a:xfrm>
          <a:prstGeom prst="roundRect">
            <a:avLst>
              <a:gd fmla="val 4385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8441740" y="5643676"/>
            <a:ext cx="1911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✅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8679484" y="5629046"/>
            <a:ext cx="8321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>
            <a:off x="8932773" y="5559552"/>
            <a:ext cx="532180" cy="260603"/>
          </a:xfrm>
          <a:prstGeom prst="roundRect">
            <a:avLst>
              <a:gd fmla="val 4385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9038844" y="5618073"/>
            <a:ext cx="1911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🔥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9276588" y="5602528"/>
            <a:ext cx="8321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9529876" y="5549493"/>
            <a:ext cx="286207" cy="240487"/>
          </a:xfrm>
          <a:prstGeom prst="roundRect">
            <a:avLst>
              <a:gd fmla="val 47540" name="adj"/>
            </a:avLst>
          </a:prstGeom>
          <a:solidFill>
            <a:srgbClr val="FFFFFF"/>
          </a:solidFill>
          <a:ln cap="flat" cmpd="sng" w="10150">
            <a:solidFill>
              <a:srgbClr val="D2D2D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9529876" y="5549493"/>
            <a:ext cx="291693" cy="240487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85950" spcFirstLastPara="1" rIns="85950" wrap="square" tIns="192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126" name="Google Shape;12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127" name="Google Shape;1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304" y="-1428292"/>
            <a:ext cx="4953304" cy="49533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129" name="Google Shape;1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1428292" y="1428292"/>
            <a:ext cx="8938260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THE WHOLE IDEA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428292" y="1848002"/>
            <a:ext cx="893826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 it.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go do</a:t>
            </a:r>
            <a:endParaRPr/>
          </a:p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Helvetica Neue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something else.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428292" y="4515307"/>
            <a:ext cx="6217920" cy="5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650"/>
              <a:buFont typeface="Helvetica Neue"/>
              <a:buNone/>
            </a:pPr>
            <a:r>
              <a:rPr b="0" i="0" lang="en-US" sz="165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new app to learn. No prompt to perfect. You already know how to @mention a teammate.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428292" y="5257800"/>
            <a:ext cx="8001000" cy="629107"/>
          </a:xfrm>
          <a:prstGeom prst="roundRect">
            <a:avLst>
              <a:gd fmla="val 21210" name="adj"/>
            </a:avLst>
          </a:prstGeom>
          <a:solidFill>
            <a:srgbClr val="FFFFFF"/>
          </a:solidFill>
          <a:ln cap="flat" cmpd="sng" w="190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1638604" y="5443423"/>
            <a:ext cx="924458" cy="256946"/>
          </a:xfrm>
          <a:prstGeom prst="roundRect">
            <a:avLst>
              <a:gd fmla="val 2222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1638604" y="5443423"/>
            <a:ext cx="942746" cy="256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658160" y="5458053"/>
            <a:ext cx="49103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today's standup and DM me the action items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7566660" y="5467197"/>
            <a:ext cx="19202" cy="209397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9080906" y="5486400"/>
            <a:ext cx="1426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1428292" y="6000292"/>
            <a:ext cx="8161020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9A7B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9A7BA"/>
                </a:solidFill>
                <a:latin typeface="Arial"/>
                <a:ea typeface="Arial"/>
                <a:cs typeface="Arial"/>
                <a:sym typeface="Arial"/>
              </a:rPr>
              <a:t>message #team-standup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155" name="Google Shape;15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5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5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6" name="Google Shape;166;p15"/>
          <p:cNvSpPr txBox="1"/>
          <p:nvPr/>
        </p:nvSpPr>
        <p:spPr>
          <a:xfrm>
            <a:off x="914400" y="176479"/>
            <a:ext cx="948232" cy="24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Helvetica Neue"/>
              <a:buNone/>
            </a:pPr>
            <a:r>
              <a:rPr b="1" i="0" lang="en-US" sz="15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Anthropic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75995" y="1037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1041501" y="1043330"/>
            <a:ext cx="48006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75995" y="13240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1041501" y="1324051"/>
            <a:ext cx="464515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2946196" y="1328623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2946196" y="1328623"/>
            <a:ext cx="20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724204" y="1552651"/>
            <a:ext cx="2571292" cy="285292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875995" y="16093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041501" y="1609344"/>
            <a:ext cx="747064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875995" y="18955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041501" y="1900123"/>
            <a:ext cx="86410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eng-backend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875995" y="2180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1041501" y="2186330"/>
            <a:ext cx="43434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724204" y="240944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183" name="Google Shape;18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283829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5"/>
          <p:cNvSpPr txBox="1"/>
          <p:nvPr/>
        </p:nvSpPr>
        <p:spPr>
          <a:xfrm>
            <a:off x="1152144" y="285292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3057753" y="28904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875995" y="3143707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875995" y="314370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1152144" y="3157423"/>
            <a:ext cx="521207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3057753" y="319582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875995" y="3448202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875995" y="3448202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1152144" y="346191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3057753" y="3500323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3295497" y="0"/>
            <a:ext cx="8896197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5"/>
          <p:cNvCxnSpPr/>
          <p:nvPr/>
        </p:nvCxnSpPr>
        <p:spPr>
          <a:xfrm>
            <a:off x="3295497" y="471830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6" name="Google Shape;196;p15"/>
          <p:cNvSpPr txBox="1"/>
          <p:nvPr/>
        </p:nvSpPr>
        <p:spPr>
          <a:xfrm>
            <a:off x="3562502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3715207" y="123444"/>
            <a:ext cx="8970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cxnSp>
        <p:nvCxnSpPr>
          <p:cNvPr id="198" name="Google Shape;198;p15"/>
          <p:cNvCxnSpPr/>
          <p:nvPr/>
        </p:nvCxnSpPr>
        <p:spPr>
          <a:xfrm>
            <a:off x="4712817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9" name="Google Shape;199;p15"/>
          <p:cNvSpPr txBox="1"/>
          <p:nvPr/>
        </p:nvSpPr>
        <p:spPr>
          <a:xfrm>
            <a:off x="4708245" y="152704"/>
            <a:ext cx="152796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this, exactly?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3295497" y="476402"/>
            <a:ext cx="8896197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3676802" y="761695"/>
            <a:ext cx="381304" cy="381304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3676802" y="761695"/>
            <a:ext cx="388620" cy="381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4200753" y="761695"/>
            <a:ext cx="65745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212" name="Google Shape;212;p15"/>
          <p:cNvSpPr txBox="1"/>
          <p:nvPr/>
        </p:nvSpPr>
        <p:spPr>
          <a:xfrm>
            <a:off x="4931359" y="800100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10:02 AM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4200753" y="1019556"/>
            <a:ext cx="7762341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what are you, exactly? A bot?</a:t>
            </a:r>
            <a:endParaRPr/>
          </a:p>
        </p:txBody>
      </p:sp>
      <p:pic>
        <p:nvPicPr>
          <p:cNvPr descr="claude_avatar.png" id="214" name="Google Shape;2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6802" y="1524304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5"/>
          <p:cNvSpPr txBox="1"/>
          <p:nvPr/>
        </p:nvSpPr>
        <p:spPr>
          <a:xfrm>
            <a:off x="4200753" y="1524304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4860950" y="1552651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 txBox="1"/>
          <p:nvPr/>
        </p:nvSpPr>
        <p:spPr>
          <a:xfrm>
            <a:off x="4860950" y="1552651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5281574" y="1561795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10:02 AM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4200753" y="1781251"/>
            <a:ext cx="7762341" cy="21433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547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79"/>
              <a:buFont typeface="Helvetica Neue"/>
              <a:buNone/>
            </a:pP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bot — a </a:t>
            </a:r>
            <a:r>
              <a:rPr b="1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teammate</a:t>
            </a: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There's one of me in this channel, working alongside all of you.</a:t>
            </a:r>
            <a:endParaRPr/>
          </a:p>
          <a:p>
            <a:pPr indent="0" lvl="0" marL="0" marR="0" rtl="0" algn="l">
              <a:lnSpc>
                <a:spcPct val="149547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79"/>
              <a:buFont typeface="Helvetica Neue"/>
              <a:buNone/>
            </a:pP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</a:t>
            </a:r>
            <a:r>
              <a:rPr b="1" i="0" lang="en-US" sz="188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8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 like anyone else. I read the channel, pick up context, break the request into steps, use the tools I'm given, and reply right here in the thread.</a:t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4200753" y="4028846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4304995" y="4076395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✅</a:t>
            </a:r>
            <a:endParaRPr/>
          </a:p>
        </p:txBody>
      </p:sp>
      <p:sp>
        <p:nvSpPr>
          <p:cNvPr id="222" name="Google Shape;222;p15"/>
          <p:cNvSpPr txBox="1"/>
          <p:nvPr/>
        </p:nvSpPr>
        <p:spPr>
          <a:xfrm>
            <a:off x="4543653" y="4067251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4798771" y="4028846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4903012" y="4076395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🔥</a:t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5141671" y="4067251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5396788" y="4028846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 txBox="1"/>
          <p:nvPr/>
        </p:nvSpPr>
        <p:spPr>
          <a:xfrm>
            <a:off x="5501944" y="4076395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⭐</a:t>
            </a:r>
            <a:endParaRPr/>
          </a:p>
        </p:txBody>
      </p:sp>
      <p:sp>
        <p:nvSpPr>
          <p:cNvPr id="228" name="Google Shape;228;p15"/>
          <p:cNvSpPr txBox="1"/>
          <p:nvPr/>
        </p:nvSpPr>
        <p:spPr>
          <a:xfrm>
            <a:off x="5739688" y="4067251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5994806" y="4033418"/>
            <a:ext cx="276148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0150">
            <a:solidFill>
              <a:srgbClr val="D2D2D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5994806" y="4033418"/>
            <a:ext cx="281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85950" spcFirstLastPara="1" rIns="85950" wrap="square" tIns="192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676802" y="5838444"/>
            <a:ext cx="8134502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5"/>
          <p:cNvCxnSpPr/>
          <p:nvPr/>
        </p:nvCxnSpPr>
        <p:spPr>
          <a:xfrm>
            <a:off x="3685946" y="6176772"/>
            <a:ext cx="8115300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3" name="Google Shape;233;p15"/>
          <p:cNvSpPr txBox="1"/>
          <p:nvPr/>
        </p:nvSpPr>
        <p:spPr>
          <a:xfrm>
            <a:off x="3838651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4091939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4286707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4531766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4693615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4929530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5131612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5293461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3838651" y="6295644"/>
            <a:ext cx="1694383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#claude-tag</a:t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249" name="Google Shape;24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251" name="Google Shape;2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6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6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16"/>
          <p:cNvSpPr txBox="1"/>
          <p:nvPr/>
        </p:nvSpPr>
        <p:spPr>
          <a:xfrm>
            <a:off x="914400" y="176479"/>
            <a:ext cx="948232" cy="24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Helvetica Neue"/>
              <a:buNone/>
            </a:pPr>
            <a:r>
              <a:rPr b="1" i="0" lang="en-US" sz="15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Anthropic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875995" y="1037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1041501" y="1043330"/>
            <a:ext cx="48006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875995" y="13240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1041501" y="1324051"/>
            <a:ext cx="464515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2946196" y="1328623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2946196" y="1328623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724204" y="1552651"/>
            <a:ext cx="2571292" cy="285292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875995" y="16093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1041501" y="1609344"/>
            <a:ext cx="747064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875995" y="18955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1041501" y="1900123"/>
            <a:ext cx="86410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eng-backend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875995" y="2180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77" name="Google Shape;277;p16"/>
          <p:cNvSpPr txBox="1"/>
          <p:nvPr/>
        </p:nvSpPr>
        <p:spPr>
          <a:xfrm>
            <a:off x="1041501" y="2186330"/>
            <a:ext cx="43434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724204" y="240944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279" name="Google Shape;2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995" y="283829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6"/>
          <p:cNvSpPr txBox="1"/>
          <p:nvPr/>
        </p:nvSpPr>
        <p:spPr>
          <a:xfrm>
            <a:off x="1152144" y="285292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281" name="Google Shape;281;p16"/>
          <p:cNvSpPr/>
          <p:nvPr/>
        </p:nvSpPr>
        <p:spPr>
          <a:xfrm>
            <a:off x="3057753" y="28904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875995" y="3143707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 txBox="1"/>
          <p:nvPr/>
        </p:nvSpPr>
        <p:spPr>
          <a:xfrm>
            <a:off x="875995" y="314370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84" name="Google Shape;284;p16"/>
          <p:cNvSpPr txBox="1"/>
          <p:nvPr/>
        </p:nvSpPr>
        <p:spPr>
          <a:xfrm>
            <a:off x="1152144" y="3157423"/>
            <a:ext cx="521207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285" name="Google Shape;285;p16"/>
          <p:cNvSpPr/>
          <p:nvPr/>
        </p:nvSpPr>
        <p:spPr>
          <a:xfrm>
            <a:off x="3057753" y="319582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875995" y="3448202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875995" y="3448202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1152144" y="346191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3057753" y="3500323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3295497" y="0"/>
            <a:ext cx="8896197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6"/>
          <p:cNvCxnSpPr/>
          <p:nvPr/>
        </p:nvCxnSpPr>
        <p:spPr>
          <a:xfrm>
            <a:off x="3295497" y="471830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16"/>
          <p:cNvSpPr txBox="1"/>
          <p:nvPr/>
        </p:nvSpPr>
        <p:spPr>
          <a:xfrm>
            <a:off x="3562502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293" name="Google Shape;293;p16"/>
          <p:cNvSpPr txBox="1"/>
          <p:nvPr/>
        </p:nvSpPr>
        <p:spPr>
          <a:xfrm>
            <a:off x="3715207" y="123444"/>
            <a:ext cx="55686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endParaRPr/>
          </a:p>
        </p:txBody>
      </p:sp>
      <p:cxnSp>
        <p:nvCxnSpPr>
          <p:cNvPr id="294" name="Google Shape;294;p16"/>
          <p:cNvCxnSpPr/>
          <p:nvPr/>
        </p:nvCxnSpPr>
        <p:spPr>
          <a:xfrm>
            <a:off x="4379976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5" name="Google Shape;295;p16"/>
          <p:cNvSpPr txBox="1"/>
          <p:nvPr/>
        </p:nvSpPr>
        <p:spPr>
          <a:xfrm>
            <a:off x="4375404" y="152704"/>
            <a:ext cx="207568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Claude. The whole team.</a:t>
            </a:r>
            <a:endParaRPr/>
          </a:p>
        </p:txBody>
      </p:sp>
      <p:sp>
        <p:nvSpPr>
          <p:cNvPr id="296" name="Google Shape;296;p16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3295497" y="476402"/>
            <a:ext cx="8896197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3676802" y="705002"/>
            <a:ext cx="381304" cy="381304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3676802" y="705002"/>
            <a:ext cx="388620" cy="381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4200753" y="705002"/>
            <a:ext cx="65745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4931359" y="742492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11:14 AM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4200753" y="961948"/>
            <a:ext cx="7762341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what's left before we ship?</a:t>
            </a:r>
            <a:endParaRPr/>
          </a:p>
        </p:txBody>
      </p:sp>
      <p:pic>
        <p:nvPicPr>
          <p:cNvPr descr="claude_avatar.png" id="310" name="Google Shape;3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6802" y="1466697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 txBox="1"/>
          <p:nvPr/>
        </p:nvSpPr>
        <p:spPr>
          <a:xfrm>
            <a:off x="4200753" y="1466697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4860950" y="1495044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 txBox="1"/>
          <p:nvPr/>
        </p:nvSpPr>
        <p:spPr>
          <a:xfrm>
            <a:off x="4860950" y="1495044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5281574" y="1505102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11:14 AM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4200753" y="1723644"/>
            <a:ext cx="7762341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open items. I'll keep this thread updated as they close.</a:t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3676802" y="2229307"/>
            <a:ext cx="381304" cy="381304"/>
          </a:xfrm>
          <a:prstGeom prst="roundRect">
            <a:avLst>
              <a:gd fmla="val 2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 txBox="1"/>
          <p:nvPr/>
        </p:nvSpPr>
        <p:spPr>
          <a:xfrm>
            <a:off x="3676802" y="2229307"/>
            <a:ext cx="388620" cy="381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MT</a:t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4200753" y="2229307"/>
            <a:ext cx="588873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4863693" y="2266797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11:16 AM</a:t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4200753" y="2486253"/>
            <a:ext cx="7762341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add the security review to that list</a:t>
            </a:r>
            <a:endParaRPr/>
          </a:p>
        </p:txBody>
      </p:sp>
      <p:pic>
        <p:nvPicPr>
          <p:cNvPr descr="claude_avatar.png" id="321" name="Google Shape;3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6802" y="2991002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 txBox="1"/>
          <p:nvPr/>
        </p:nvSpPr>
        <p:spPr>
          <a:xfrm>
            <a:off x="4200753" y="2991002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323" name="Google Shape;323;p16"/>
          <p:cNvSpPr/>
          <p:nvPr/>
        </p:nvSpPr>
        <p:spPr>
          <a:xfrm>
            <a:off x="4860950" y="3019348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 txBox="1"/>
          <p:nvPr/>
        </p:nvSpPr>
        <p:spPr>
          <a:xfrm>
            <a:off x="4860950" y="3019348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5281574" y="3028492"/>
            <a:ext cx="54315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11:16 AM</a:t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4200753" y="3247948"/>
            <a:ext cx="7762341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Added. Same list, same Claude — everyone here sees one shared source of truth.</a:t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4200753" y="3648456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4304995" y="3696004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✅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4543653" y="3685946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4798771" y="3648456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 txBox="1"/>
          <p:nvPr/>
        </p:nvSpPr>
        <p:spPr>
          <a:xfrm>
            <a:off x="4903012" y="3696004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👍</a:t>
            </a:r>
            <a:endParaRPr/>
          </a:p>
        </p:txBody>
      </p:sp>
      <p:sp>
        <p:nvSpPr>
          <p:cNvPr id="332" name="Google Shape;332;p16"/>
          <p:cNvSpPr txBox="1"/>
          <p:nvPr/>
        </p:nvSpPr>
        <p:spPr>
          <a:xfrm>
            <a:off x="5141671" y="3685946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5396788" y="3653028"/>
            <a:ext cx="276148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0150">
            <a:solidFill>
              <a:srgbClr val="D2D2D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5396788" y="3653028"/>
            <a:ext cx="281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85950" spcFirstLastPara="1" rIns="85950" wrap="square" tIns="192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3676802" y="5838444"/>
            <a:ext cx="8134502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6"/>
          <p:cNvCxnSpPr/>
          <p:nvPr/>
        </p:nvCxnSpPr>
        <p:spPr>
          <a:xfrm>
            <a:off x="3685946" y="6176772"/>
            <a:ext cx="8115300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7" name="Google Shape;337;p16"/>
          <p:cNvSpPr txBox="1"/>
          <p:nvPr/>
        </p:nvSpPr>
        <p:spPr>
          <a:xfrm>
            <a:off x="3838651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38" name="Google Shape;338;p16"/>
          <p:cNvSpPr txBox="1"/>
          <p:nvPr/>
        </p:nvSpPr>
        <p:spPr>
          <a:xfrm>
            <a:off x="4091939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4286707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4531766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 txBox="1"/>
          <p:nvPr/>
        </p:nvSpPr>
        <p:spPr>
          <a:xfrm>
            <a:off x="4693615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4929530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5131612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/>
        </p:nvSpPr>
        <p:spPr>
          <a:xfrm>
            <a:off x="5293461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3838651" y="6295644"/>
            <a:ext cx="1373428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#launch</a:t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353" name="Google Shape;3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7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355" name="Google Shape;3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7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724204" y="0"/>
            <a:ext cx="11468404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7"/>
          <p:cNvCxnSpPr/>
          <p:nvPr/>
        </p:nvCxnSpPr>
        <p:spPr>
          <a:xfrm>
            <a:off x="724204" y="471830"/>
            <a:ext cx="11467491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6" name="Google Shape;366;p17"/>
          <p:cNvSpPr txBox="1"/>
          <p:nvPr/>
        </p:nvSpPr>
        <p:spPr>
          <a:xfrm>
            <a:off x="990295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367" name="Google Shape;367;p17"/>
          <p:cNvSpPr txBox="1"/>
          <p:nvPr/>
        </p:nvSpPr>
        <p:spPr>
          <a:xfrm>
            <a:off x="1143000" y="123444"/>
            <a:ext cx="17647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context-and-memory</a:t>
            </a:r>
            <a:endParaRPr/>
          </a:p>
        </p:txBody>
      </p:sp>
      <p:cxnSp>
        <p:nvCxnSpPr>
          <p:cNvPr id="368" name="Google Shape;368;p17"/>
          <p:cNvCxnSpPr/>
          <p:nvPr/>
        </p:nvCxnSpPr>
        <p:spPr>
          <a:xfrm>
            <a:off x="2991916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9" name="Google Shape;369;p17"/>
          <p:cNvSpPr txBox="1"/>
          <p:nvPr/>
        </p:nvSpPr>
        <p:spPr>
          <a:xfrm>
            <a:off x="2987344" y="152704"/>
            <a:ext cx="2507284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gets sharper the longer it's around</a:t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724204" y="476402"/>
            <a:ext cx="11468404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 txBox="1"/>
          <p:nvPr/>
        </p:nvSpPr>
        <p:spPr>
          <a:xfrm>
            <a:off x="1390802" y="914400"/>
            <a:ext cx="10337292" cy="53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450"/>
              <a:buFont typeface="Helvetica Neue"/>
              <a:buNone/>
            </a:pPr>
            <a:r>
              <a:rPr b="1" i="0" lang="en-US" sz="34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remembers.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1390802" y="1543507"/>
            <a:ext cx="66065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accumulates context over time — and, with permission, learns from your other channels and connected data sources.</a:t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1390802" y="2557576"/>
            <a:ext cx="2857500" cy="504748"/>
          </a:xfrm>
          <a:prstGeom prst="roundRect">
            <a:avLst>
              <a:gd fmla="val 20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7"/>
          <p:cNvCxnSpPr/>
          <p:nvPr/>
        </p:nvCxnSpPr>
        <p:spPr>
          <a:xfrm>
            <a:off x="1390802" y="2562148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3" name="Google Shape;383;p17"/>
          <p:cNvCxnSpPr/>
          <p:nvPr/>
        </p:nvCxnSpPr>
        <p:spPr>
          <a:xfrm>
            <a:off x="4243730" y="2557576"/>
            <a:ext cx="0" cy="5047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4" name="Google Shape;384;p17"/>
          <p:cNvCxnSpPr/>
          <p:nvPr/>
        </p:nvCxnSpPr>
        <p:spPr>
          <a:xfrm>
            <a:off x="1390802" y="3057753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5" name="Google Shape;385;p17"/>
          <p:cNvCxnSpPr/>
          <p:nvPr/>
        </p:nvCxnSpPr>
        <p:spPr>
          <a:xfrm>
            <a:off x="1414576" y="2557576"/>
            <a:ext cx="0" cy="504749"/>
          </a:xfrm>
          <a:prstGeom prst="straightConnector1">
            <a:avLst/>
          </a:prstGeom>
          <a:noFill/>
          <a:ln cap="flat" cmpd="sng" w="48250">
            <a:solidFill>
              <a:srgbClr val="2EB6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6" name="Google Shape;386;p17"/>
          <p:cNvSpPr txBox="1"/>
          <p:nvPr/>
        </p:nvSpPr>
        <p:spPr>
          <a:xfrm>
            <a:off x="1390802" y="2557576"/>
            <a:ext cx="2915107" cy="5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142625" lIns="171900" spcFirstLastPara="1" rIns="171900" wrap="square" tIns="142625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r>
              <a:rPr b="1" i="0" lang="en-US" sz="12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every channel</a:t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1390802" y="3195828"/>
            <a:ext cx="2857500" cy="504748"/>
          </a:xfrm>
          <a:prstGeom prst="roundRect">
            <a:avLst>
              <a:gd fmla="val 20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17"/>
          <p:cNvCxnSpPr/>
          <p:nvPr/>
        </p:nvCxnSpPr>
        <p:spPr>
          <a:xfrm>
            <a:off x="1390802" y="3200400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9" name="Google Shape;389;p17"/>
          <p:cNvCxnSpPr/>
          <p:nvPr/>
        </p:nvCxnSpPr>
        <p:spPr>
          <a:xfrm>
            <a:off x="4243730" y="3195828"/>
            <a:ext cx="0" cy="504748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0" name="Google Shape;390;p17"/>
          <p:cNvCxnSpPr/>
          <p:nvPr/>
        </p:nvCxnSpPr>
        <p:spPr>
          <a:xfrm>
            <a:off x="1390802" y="3696004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1" name="Google Shape;391;p17"/>
          <p:cNvCxnSpPr/>
          <p:nvPr/>
        </p:nvCxnSpPr>
        <p:spPr>
          <a:xfrm>
            <a:off x="1414576" y="3195828"/>
            <a:ext cx="0" cy="504748"/>
          </a:xfrm>
          <a:prstGeom prst="straightConnector1">
            <a:avLst/>
          </a:prstGeom>
          <a:noFill/>
          <a:ln cap="flat" cmpd="sng" w="48250">
            <a:solidFill>
              <a:srgbClr val="36C5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2" name="Google Shape;392;p17"/>
          <p:cNvSpPr txBox="1"/>
          <p:nvPr/>
        </p:nvSpPr>
        <p:spPr>
          <a:xfrm>
            <a:off x="1390802" y="3195828"/>
            <a:ext cx="2915107" cy="5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142625" lIns="171900" spcFirstLastPara="1" rIns="171900" wrap="square" tIns="142625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Connected data sources</a:t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1390802" y="3834079"/>
            <a:ext cx="2857500" cy="504748"/>
          </a:xfrm>
          <a:prstGeom prst="roundRect">
            <a:avLst>
              <a:gd fmla="val 2075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4" name="Google Shape;394;p17"/>
          <p:cNvCxnSpPr/>
          <p:nvPr/>
        </p:nvCxnSpPr>
        <p:spPr>
          <a:xfrm>
            <a:off x="1390802" y="3838651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5" name="Google Shape;395;p17"/>
          <p:cNvCxnSpPr/>
          <p:nvPr/>
        </p:nvCxnSpPr>
        <p:spPr>
          <a:xfrm>
            <a:off x="4243730" y="3834079"/>
            <a:ext cx="0" cy="5047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6" name="Google Shape;396;p17"/>
          <p:cNvCxnSpPr/>
          <p:nvPr/>
        </p:nvCxnSpPr>
        <p:spPr>
          <a:xfrm>
            <a:off x="1390802" y="4334256"/>
            <a:ext cx="2857500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7" name="Google Shape;397;p17"/>
          <p:cNvCxnSpPr/>
          <p:nvPr/>
        </p:nvCxnSpPr>
        <p:spPr>
          <a:xfrm>
            <a:off x="1414576" y="3834079"/>
            <a:ext cx="0" cy="504749"/>
          </a:xfrm>
          <a:prstGeom prst="straightConnector1">
            <a:avLst/>
          </a:prstGeom>
          <a:noFill/>
          <a:ln cap="flat" cmpd="sng" w="48250">
            <a:solidFill>
              <a:srgbClr val="ECB2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8" name="Google Shape;398;p17"/>
          <p:cNvSpPr txBox="1"/>
          <p:nvPr/>
        </p:nvSpPr>
        <p:spPr>
          <a:xfrm>
            <a:off x="1390802" y="3834079"/>
            <a:ext cx="2915107" cy="504748"/>
          </a:xfrm>
          <a:prstGeom prst="rect">
            <a:avLst/>
          </a:prstGeom>
          <a:noFill/>
          <a:ln>
            <a:noFill/>
          </a:ln>
        </p:spPr>
        <p:txBody>
          <a:bodyPr anchorCtr="0" anchor="t" bIns="142625" lIns="171900" spcFirstLastPara="1" rIns="171900" wrap="square" tIns="142625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Past threads &amp; decisions</a:t>
            </a:r>
            <a:endParaRPr/>
          </a:p>
        </p:txBody>
      </p:sp>
      <p:sp>
        <p:nvSpPr>
          <p:cNvPr id="399" name="Google Shape;399;p17"/>
          <p:cNvSpPr txBox="1"/>
          <p:nvPr/>
        </p:nvSpPr>
        <p:spPr>
          <a:xfrm>
            <a:off x="4533595" y="3204972"/>
            <a:ext cx="413308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3000"/>
              <a:buFont typeface="Helvetica Neue"/>
              <a:buNone/>
            </a:pPr>
            <a:r>
              <a:rPr b="1" i="0" lang="en-US" sz="30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⟶</a:t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 rot="360000">
            <a:off x="5395874" y="2667304"/>
            <a:ext cx="1561795" cy="1561795"/>
          </a:xfrm>
          <a:prstGeom prst="roundRect">
            <a:avLst>
              <a:gd fmla="val 1707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5510174" y="2781604"/>
            <a:ext cx="1333195" cy="1333195"/>
          </a:xfrm>
          <a:prstGeom prst="roundRect">
            <a:avLst>
              <a:gd fmla="val 17140" name="adj"/>
            </a:avLst>
          </a:prstGeom>
          <a:solidFill>
            <a:srgbClr val="FFFFFF"/>
          </a:solidFill>
          <a:ln cap="flat" cmpd="sng" w="190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402" name="Google Shape;4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1479" y="290504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7"/>
          <p:cNvSpPr txBox="1"/>
          <p:nvPr/>
        </p:nvSpPr>
        <p:spPr>
          <a:xfrm>
            <a:off x="5820156" y="3552444"/>
            <a:ext cx="728776" cy="437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Claude's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7414869" y="3204972"/>
            <a:ext cx="413308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3000"/>
              <a:buFont typeface="Helvetica Neue"/>
              <a:buNone/>
            </a:pPr>
            <a:r>
              <a:rPr b="1" i="0" lang="en-US" sz="30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⟶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8106156" y="2630728"/>
            <a:ext cx="3419856" cy="1634947"/>
          </a:xfrm>
          <a:prstGeom prst="roundRect">
            <a:avLst>
              <a:gd fmla="val 9320" name="adj"/>
            </a:avLst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8353044" y="2859328"/>
            <a:ext cx="298277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7B9D8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7B9D8"/>
                </a:solidFill>
                <a:latin typeface="Arial"/>
                <a:ea typeface="Arial"/>
                <a:cs typeface="Arial"/>
                <a:sym typeface="Arial"/>
              </a:rPr>
              <a:t>THE PAYOFF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8353044" y="3125419"/>
            <a:ext cx="2982772" cy="911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84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Helvetica Neue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Answers grounded in </a:t>
            </a:r>
            <a:r>
              <a:rPr b="1" i="0" lang="en-US" sz="1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your team actually works</a:t>
            </a:r>
            <a:r>
              <a:rPr b="0" i="0" lang="en-US" sz="1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not a blank slate every time.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1390802" y="4686300"/>
            <a:ext cx="10337292" cy="23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Arial"/>
                <a:ea typeface="Arial"/>
                <a:cs typeface="Arial"/>
                <a:sym typeface="Arial"/>
              </a:rPr>
              <a:t>🔒 Access is admin-controlled — Claude only learns where it's granted permission.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1104595" y="5838444"/>
            <a:ext cx="10705795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7"/>
          <p:cNvCxnSpPr/>
          <p:nvPr/>
        </p:nvCxnSpPr>
        <p:spPr>
          <a:xfrm>
            <a:off x="1114653" y="6176772"/>
            <a:ext cx="10686593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1" name="Google Shape;411;p17"/>
          <p:cNvSpPr txBox="1"/>
          <p:nvPr/>
        </p:nvSpPr>
        <p:spPr>
          <a:xfrm>
            <a:off x="1266444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1519732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1714500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1959559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 txBox="1"/>
          <p:nvPr/>
        </p:nvSpPr>
        <p:spPr>
          <a:xfrm>
            <a:off x="2121408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416" name="Google Shape;416;p17"/>
          <p:cNvSpPr txBox="1"/>
          <p:nvPr/>
        </p:nvSpPr>
        <p:spPr>
          <a:xfrm>
            <a:off x="2357323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417" name="Google Shape;417;p17"/>
          <p:cNvSpPr/>
          <p:nvPr/>
        </p:nvSpPr>
        <p:spPr>
          <a:xfrm>
            <a:off x="2560320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2722168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1266444" y="6295644"/>
            <a:ext cx="2510942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#context-and-memory</a:t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427" name="Google Shape;4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8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429" name="Google Shape;42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36" name="Google Shape;436;p18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" name="Google Shape;439;p18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40" name="Google Shape;440;p18"/>
          <p:cNvSpPr txBox="1"/>
          <p:nvPr/>
        </p:nvSpPr>
        <p:spPr>
          <a:xfrm>
            <a:off x="914400" y="176479"/>
            <a:ext cx="948232" cy="24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Helvetica Neue"/>
              <a:buNone/>
            </a:pPr>
            <a:r>
              <a:rPr b="1" i="0" lang="en-US" sz="15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Anthropic</a:t>
            </a:r>
            <a:endParaRPr/>
          </a:p>
        </p:txBody>
      </p:sp>
      <p:sp>
        <p:nvSpPr>
          <p:cNvPr id="441" name="Google Shape;441;p18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875995" y="1037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1041501" y="1043330"/>
            <a:ext cx="48006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875995" y="13240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1041501" y="1324051"/>
            <a:ext cx="464515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2946196" y="1328623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2946196" y="1328623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724204" y="1552651"/>
            <a:ext cx="2571292" cy="285292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 txBox="1"/>
          <p:nvPr/>
        </p:nvSpPr>
        <p:spPr>
          <a:xfrm>
            <a:off x="875995" y="16093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51" name="Google Shape;451;p18"/>
          <p:cNvSpPr txBox="1"/>
          <p:nvPr/>
        </p:nvSpPr>
        <p:spPr>
          <a:xfrm>
            <a:off x="1041501" y="1609344"/>
            <a:ext cx="747064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875995" y="18955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1041501" y="1900123"/>
            <a:ext cx="86410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eng-backend</a:t>
            </a:r>
            <a:endParaRPr/>
          </a:p>
        </p:txBody>
      </p:sp>
      <p:sp>
        <p:nvSpPr>
          <p:cNvPr id="454" name="Google Shape;454;p18"/>
          <p:cNvSpPr txBox="1"/>
          <p:nvPr/>
        </p:nvSpPr>
        <p:spPr>
          <a:xfrm>
            <a:off x="875995" y="2180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>
            <a:off x="1041501" y="2186330"/>
            <a:ext cx="43434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endParaRPr/>
          </a:p>
        </p:txBody>
      </p:sp>
      <p:sp>
        <p:nvSpPr>
          <p:cNvPr id="456" name="Google Shape;456;p18"/>
          <p:cNvSpPr txBox="1"/>
          <p:nvPr/>
        </p:nvSpPr>
        <p:spPr>
          <a:xfrm>
            <a:off x="724204" y="240944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457" name="Google Shape;45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995" y="283829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8"/>
          <p:cNvSpPr txBox="1"/>
          <p:nvPr/>
        </p:nvSpPr>
        <p:spPr>
          <a:xfrm>
            <a:off x="1152144" y="285292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3057753" y="28904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875995" y="3143707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875995" y="314370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462" name="Google Shape;462;p18"/>
          <p:cNvSpPr txBox="1"/>
          <p:nvPr/>
        </p:nvSpPr>
        <p:spPr>
          <a:xfrm>
            <a:off x="1152144" y="3157423"/>
            <a:ext cx="521207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3057753" y="319582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875995" y="3448202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 txBox="1"/>
          <p:nvPr/>
        </p:nvSpPr>
        <p:spPr>
          <a:xfrm>
            <a:off x="875995" y="3448202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466" name="Google Shape;466;p18"/>
          <p:cNvSpPr txBox="1"/>
          <p:nvPr/>
        </p:nvSpPr>
        <p:spPr>
          <a:xfrm>
            <a:off x="1152144" y="346191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3057753" y="3500323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3295497" y="0"/>
            <a:ext cx="8896197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18"/>
          <p:cNvCxnSpPr/>
          <p:nvPr/>
        </p:nvCxnSpPr>
        <p:spPr>
          <a:xfrm>
            <a:off x="3295497" y="471830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0" name="Google Shape;470;p18"/>
          <p:cNvSpPr txBox="1"/>
          <p:nvPr/>
        </p:nvSpPr>
        <p:spPr>
          <a:xfrm>
            <a:off x="3562502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471" name="Google Shape;471;p18"/>
          <p:cNvSpPr txBox="1"/>
          <p:nvPr/>
        </p:nvSpPr>
        <p:spPr>
          <a:xfrm>
            <a:off x="3715207" y="123444"/>
            <a:ext cx="8970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cxnSp>
        <p:nvCxnSpPr>
          <p:cNvPr id="472" name="Google Shape;472;p18"/>
          <p:cNvCxnSpPr/>
          <p:nvPr/>
        </p:nvCxnSpPr>
        <p:spPr>
          <a:xfrm>
            <a:off x="4712817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3" name="Google Shape;473;p18"/>
          <p:cNvSpPr txBox="1"/>
          <p:nvPr/>
        </p:nvSpPr>
        <p:spPr>
          <a:xfrm>
            <a:off x="4708245" y="152704"/>
            <a:ext cx="1388059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Ambient mode · on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477" name="Google Shape;477;p18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3295497" y="476402"/>
            <a:ext cx="8896197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3676802" y="761695"/>
            <a:ext cx="8297265" cy="5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300"/>
              <a:buFont typeface="Helvetica Neue"/>
              <a:buNone/>
            </a:pPr>
            <a:r>
              <a:rPr b="1" i="0" lang="en-US" sz="33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speaks up first.</a:t>
            </a:r>
            <a:endParaRPr/>
          </a:p>
        </p:txBody>
      </p:sp>
      <p:sp>
        <p:nvSpPr>
          <p:cNvPr id="484" name="Google Shape;484;p18"/>
          <p:cNvSpPr txBox="1"/>
          <p:nvPr/>
        </p:nvSpPr>
        <p:spPr>
          <a:xfrm>
            <a:off x="3676802" y="1352397"/>
            <a:ext cx="6995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Turn on ambient behavior and Claude proactively flags what you need to know — and follows up on what's still open.</a:t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3847795" y="2419502"/>
            <a:ext cx="7239304" cy="1143000"/>
          </a:xfrm>
          <a:prstGeom prst="roundRect">
            <a:avLst>
              <a:gd fmla="val 13330" name="adj"/>
            </a:avLst>
          </a:prstGeom>
          <a:solidFill>
            <a:srgbClr val="F1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/>
          <p:nvPr/>
        </p:nvSpPr>
        <p:spPr>
          <a:xfrm>
            <a:off x="3676802" y="2190902"/>
            <a:ext cx="7239304" cy="1457553"/>
          </a:xfrm>
          <a:prstGeom prst="roundRect">
            <a:avLst>
              <a:gd fmla="val 1046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487" name="Google Shape;4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14546" y="2391156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8"/>
          <p:cNvSpPr txBox="1"/>
          <p:nvPr/>
        </p:nvSpPr>
        <p:spPr>
          <a:xfrm>
            <a:off x="4438497" y="2391156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5098694" y="2419502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 txBox="1"/>
          <p:nvPr/>
        </p:nvSpPr>
        <p:spPr>
          <a:xfrm>
            <a:off x="5098694" y="2419502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491" name="Google Shape;491;p18"/>
          <p:cNvSpPr txBox="1"/>
          <p:nvPr/>
        </p:nvSpPr>
        <p:spPr>
          <a:xfrm>
            <a:off x="5520232" y="2428646"/>
            <a:ext cx="47457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now</a:t>
            </a:r>
            <a:endParaRPr/>
          </a:p>
        </p:txBody>
      </p:sp>
      <p:sp>
        <p:nvSpPr>
          <p:cNvPr id="492" name="Google Shape;492;p18"/>
          <p:cNvSpPr txBox="1"/>
          <p:nvPr/>
        </p:nvSpPr>
        <p:spPr>
          <a:xfrm>
            <a:off x="4438497" y="2648102"/>
            <a:ext cx="6363309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Heads up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the vendor finally replied in </a:t>
            </a:r>
            <a:r>
              <a:rPr b="1" i="0" lang="en-US" sz="1500" u="none" cap="none" strike="noStrike">
                <a:solidFill>
                  <a:srgbClr val="1264A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#legal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The contract blocker you flagged Tuesday is cleared. Want me to ping the team?</a:t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4533595" y="3829507"/>
            <a:ext cx="7239304" cy="1800453"/>
          </a:xfrm>
          <a:prstGeom prst="roundRect">
            <a:avLst>
              <a:gd fmla="val 847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494" name="Google Shape;49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72253" y="4028846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8"/>
          <p:cNvSpPr txBox="1"/>
          <p:nvPr/>
        </p:nvSpPr>
        <p:spPr>
          <a:xfrm>
            <a:off x="5296204" y="4028846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496" name="Google Shape;496;p18"/>
          <p:cNvSpPr/>
          <p:nvPr/>
        </p:nvSpPr>
        <p:spPr>
          <a:xfrm>
            <a:off x="5956401" y="4058107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5956401" y="4058107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498" name="Google Shape;498;p18"/>
          <p:cNvSpPr txBox="1"/>
          <p:nvPr/>
        </p:nvSpPr>
        <p:spPr>
          <a:xfrm>
            <a:off x="6377025" y="4067251"/>
            <a:ext cx="472744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8:00 AM</a:t>
            </a:r>
            <a:endParaRPr/>
          </a:p>
        </p:txBody>
      </p:sp>
      <p:sp>
        <p:nvSpPr>
          <p:cNvPr id="499" name="Google Shape;499;p18"/>
          <p:cNvSpPr txBox="1"/>
          <p:nvPr/>
        </p:nvSpPr>
        <p:spPr>
          <a:xfrm>
            <a:off x="5296204" y="4286707"/>
            <a:ext cx="6363309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3 open items from yesterday: 2 done, 1 waiting on design. I'll nudge them at noon if it's still open.</a:t>
            </a:r>
            <a:endParaRPr/>
          </a:p>
        </p:txBody>
      </p:sp>
      <p:sp>
        <p:nvSpPr>
          <p:cNvPr id="500" name="Google Shape;500;p18"/>
          <p:cNvSpPr/>
          <p:nvPr/>
        </p:nvSpPr>
        <p:spPr>
          <a:xfrm>
            <a:off x="5296204" y="4981651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5400446" y="5029200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✅</a:t>
            </a:r>
            <a:endParaRPr/>
          </a:p>
        </p:txBody>
      </p:sp>
      <p:sp>
        <p:nvSpPr>
          <p:cNvPr id="502" name="Google Shape;502;p18"/>
          <p:cNvSpPr txBox="1"/>
          <p:nvPr/>
        </p:nvSpPr>
        <p:spPr>
          <a:xfrm>
            <a:off x="5639104" y="5020056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5894222" y="4986223"/>
            <a:ext cx="276148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0150">
            <a:solidFill>
              <a:srgbClr val="D2D2D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 txBox="1"/>
          <p:nvPr/>
        </p:nvSpPr>
        <p:spPr>
          <a:xfrm>
            <a:off x="5894222" y="4986223"/>
            <a:ext cx="281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85950" spcFirstLastPara="1" rIns="85950" wrap="square" tIns="192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3676802" y="5838444"/>
            <a:ext cx="8134502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6" name="Google Shape;506;p18"/>
          <p:cNvCxnSpPr/>
          <p:nvPr/>
        </p:nvCxnSpPr>
        <p:spPr>
          <a:xfrm>
            <a:off x="3685946" y="6176772"/>
            <a:ext cx="8115300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7" name="Google Shape;507;p18"/>
          <p:cNvSpPr txBox="1"/>
          <p:nvPr/>
        </p:nvSpPr>
        <p:spPr>
          <a:xfrm>
            <a:off x="3838651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08" name="Google Shape;508;p18"/>
          <p:cNvSpPr txBox="1"/>
          <p:nvPr/>
        </p:nvSpPr>
        <p:spPr>
          <a:xfrm>
            <a:off x="4091939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509" name="Google Shape;509;p18"/>
          <p:cNvSpPr txBox="1"/>
          <p:nvPr/>
        </p:nvSpPr>
        <p:spPr>
          <a:xfrm>
            <a:off x="4286707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4531766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4693615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512" name="Google Shape;512;p18"/>
          <p:cNvSpPr txBox="1"/>
          <p:nvPr/>
        </p:nvSpPr>
        <p:spPr>
          <a:xfrm>
            <a:off x="4929530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513" name="Google Shape;513;p18"/>
          <p:cNvSpPr/>
          <p:nvPr/>
        </p:nvSpPr>
        <p:spPr>
          <a:xfrm>
            <a:off x="5131612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 txBox="1"/>
          <p:nvPr/>
        </p:nvSpPr>
        <p:spPr>
          <a:xfrm>
            <a:off x="5293461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515" name="Google Shape;515;p18"/>
          <p:cNvSpPr txBox="1"/>
          <p:nvPr/>
        </p:nvSpPr>
        <p:spPr>
          <a:xfrm>
            <a:off x="3838651" y="6295644"/>
            <a:ext cx="1694383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#claude-tag</a:t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523" name="Google Shape;5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524" name="Google Shape;5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5902" y="2971800"/>
            <a:ext cx="3714292" cy="3714292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9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526" name="Google Shape;52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29" name="Google Shape;529;p19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33" name="Google Shape;533;p1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 txBox="1"/>
          <p:nvPr/>
        </p:nvSpPr>
        <p:spPr>
          <a:xfrm>
            <a:off x="1428292" y="914400"/>
            <a:ext cx="5052060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ASYNCHRONOUS BY DESIGN</a:t>
            </a:r>
            <a:endParaRPr/>
          </a:p>
        </p:txBody>
      </p:sp>
      <p:sp>
        <p:nvSpPr>
          <p:cNvPr id="536" name="Google Shape;536;p19"/>
          <p:cNvSpPr txBox="1"/>
          <p:nvPr/>
        </p:nvSpPr>
        <p:spPr>
          <a:xfrm>
            <a:off x="1428292" y="1295704"/>
            <a:ext cx="5052060" cy="1859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Helvetica Neue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works</a:t>
            </a:r>
            <a:endParaRPr/>
          </a:p>
          <a:p>
            <a:pPr indent="0" lvl="0" marL="0" marR="0" rtl="0" algn="l">
              <a:lnSpc>
                <a:spcPct val="1049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Helvetica Neue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you're</a:t>
            </a:r>
            <a:endParaRPr/>
          </a:p>
          <a:p>
            <a:pPr indent="0" lvl="0" marL="0" marR="0" rtl="0" algn="l">
              <a:lnSpc>
                <a:spcPct val="10494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Helvetica Neue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away.</a:t>
            </a:r>
            <a:endParaRPr/>
          </a:p>
        </p:txBody>
      </p:sp>
      <p:sp>
        <p:nvSpPr>
          <p:cNvPr id="537" name="Google Shape;537;p19"/>
          <p:cNvSpPr txBox="1"/>
          <p:nvPr/>
        </p:nvSpPr>
        <p:spPr>
          <a:xfrm>
            <a:off x="1428292" y="3384194"/>
            <a:ext cx="4177893" cy="714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580"/>
              <a:buFont typeface="Helvetica Neue"/>
              <a:buNone/>
            </a:pPr>
            <a:r>
              <a:rPr b="0" i="0" lang="en-US" sz="158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Hand off a project and close the laptop. Claude schedules its own tasks and pursues the goal autonomously — over hours or days.</a:t>
            </a:r>
            <a:endParaRPr/>
          </a:p>
        </p:txBody>
      </p:sp>
      <p:sp>
        <p:nvSpPr>
          <p:cNvPr id="538" name="Google Shape;538;p19"/>
          <p:cNvSpPr/>
          <p:nvPr/>
        </p:nvSpPr>
        <p:spPr>
          <a:xfrm>
            <a:off x="6858000" y="1143000"/>
            <a:ext cx="4476902" cy="3323844"/>
          </a:xfrm>
          <a:prstGeom prst="roundRect">
            <a:avLst>
              <a:gd fmla="val 5160" name="adj"/>
            </a:avLst>
          </a:prstGeom>
          <a:solidFill>
            <a:srgbClr val="34153A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 txBox="1"/>
          <p:nvPr/>
        </p:nvSpPr>
        <p:spPr>
          <a:xfrm>
            <a:off x="7134148" y="1399946"/>
            <a:ext cx="4003243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C9AFCB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C9AFCB"/>
                </a:solidFill>
                <a:latin typeface="Arial"/>
                <a:ea typeface="Arial"/>
                <a:cs typeface="Arial"/>
                <a:sym typeface="Arial"/>
              </a:rPr>
              <a:t>THREAD · MIGRATE-BILLING</a:t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7134148" y="1781251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 txBox="1"/>
          <p:nvPr/>
        </p:nvSpPr>
        <p:spPr>
          <a:xfrm>
            <a:off x="7401153" y="1733702"/>
            <a:ext cx="2165299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Mapped the legacy schema</a:t>
            </a:r>
            <a:endParaRPr/>
          </a:p>
        </p:txBody>
      </p:sp>
      <p:sp>
        <p:nvSpPr>
          <p:cNvPr id="542" name="Google Shape;542;p19"/>
          <p:cNvSpPr txBox="1"/>
          <p:nvPr/>
        </p:nvSpPr>
        <p:spPr>
          <a:xfrm>
            <a:off x="7401153" y="1952243"/>
            <a:ext cx="2165299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Mon 09:12 · done</a:t>
            </a:r>
            <a:endParaRPr/>
          </a:p>
        </p:txBody>
      </p:sp>
      <p:sp>
        <p:nvSpPr>
          <p:cNvPr id="543" name="Google Shape;543;p19"/>
          <p:cNvSpPr/>
          <p:nvPr/>
        </p:nvSpPr>
        <p:spPr>
          <a:xfrm>
            <a:off x="7134148" y="2324404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 txBox="1"/>
          <p:nvPr/>
        </p:nvSpPr>
        <p:spPr>
          <a:xfrm>
            <a:off x="7401153" y="2276856"/>
            <a:ext cx="2147925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Wrote + ran migration tests</a:t>
            </a:r>
            <a:endParaRPr/>
          </a:p>
        </p:txBody>
      </p:sp>
      <p:sp>
        <p:nvSpPr>
          <p:cNvPr id="545" name="Google Shape;545;p19"/>
          <p:cNvSpPr txBox="1"/>
          <p:nvPr/>
        </p:nvSpPr>
        <p:spPr>
          <a:xfrm>
            <a:off x="7401153" y="2495397"/>
            <a:ext cx="214792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Mon 14:40 · done</a:t>
            </a:r>
            <a:endParaRPr/>
          </a:p>
        </p:txBody>
      </p:sp>
      <p:sp>
        <p:nvSpPr>
          <p:cNvPr id="546" name="Google Shape;546;p19"/>
          <p:cNvSpPr/>
          <p:nvPr/>
        </p:nvSpPr>
        <p:spPr>
          <a:xfrm>
            <a:off x="7134148" y="2866644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 txBox="1"/>
          <p:nvPr/>
        </p:nvSpPr>
        <p:spPr>
          <a:xfrm>
            <a:off x="7401153" y="2819095"/>
            <a:ext cx="2242108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Scheduled overnight backfill</a:t>
            </a:r>
            <a:endParaRPr/>
          </a:p>
        </p:txBody>
      </p:sp>
      <p:sp>
        <p:nvSpPr>
          <p:cNvPr id="548" name="Google Shape;548;p19"/>
          <p:cNvSpPr txBox="1"/>
          <p:nvPr/>
        </p:nvSpPr>
        <p:spPr>
          <a:xfrm>
            <a:off x="7401153" y="3038551"/>
            <a:ext cx="2242108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Mon 23:00 · queued</a:t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7134148" y="3409797"/>
            <a:ext cx="133502" cy="133502"/>
          </a:xfrm>
          <a:prstGeom prst="roundRect">
            <a:avLst>
              <a:gd fmla="val 5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7401153" y="3362248"/>
            <a:ext cx="1637690" cy="200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0"/>
              <a:buFont typeface="Helvetica Neue"/>
              <a:buNone/>
            </a:pPr>
            <a:r>
              <a:rPr b="1" i="0" lang="en-US" sz="12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report back here</a:t>
            </a:r>
            <a:endParaRPr/>
          </a:p>
        </p:txBody>
      </p:sp>
      <p:sp>
        <p:nvSpPr>
          <p:cNvPr id="551" name="Google Shape;551;p19"/>
          <p:cNvSpPr txBox="1"/>
          <p:nvPr/>
        </p:nvSpPr>
        <p:spPr>
          <a:xfrm>
            <a:off x="7401153" y="3581704"/>
            <a:ext cx="1637690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79DB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79DB8"/>
                </a:solidFill>
                <a:latin typeface="Arial"/>
                <a:ea typeface="Arial"/>
                <a:cs typeface="Arial"/>
                <a:sym typeface="Arial"/>
              </a:rPr>
              <a:t>Tue 08:00 · upcoming</a:t>
            </a:r>
            <a:endParaRPr/>
          </a:p>
        </p:txBody>
      </p:sp>
      <p:cxnSp>
        <p:nvCxnSpPr>
          <p:cNvPr id="552" name="Google Shape;552;p19"/>
          <p:cNvCxnSpPr/>
          <p:nvPr/>
        </p:nvCxnSpPr>
        <p:spPr>
          <a:xfrm>
            <a:off x="7134148" y="3909974"/>
            <a:ext cx="3924605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53" name="Google Shape;553;p19"/>
          <p:cNvSpPr txBox="1"/>
          <p:nvPr/>
        </p:nvSpPr>
        <p:spPr>
          <a:xfrm>
            <a:off x="7134148" y="3905402"/>
            <a:ext cx="4003243" cy="3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5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babysitting. It checks back in when it's done.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559" name="Google Shape;5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0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561" name="Google Shape;56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20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724204" y="0"/>
            <a:ext cx="11468404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20"/>
          <p:cNvCxnSpPr/>
          <p:nvPr/>
        </p:nvCxnSpPr>
        <p:spPr>
          <a:xfrm>
            <a:off x="724204" y="471830"/>
            <a:ext cx="11467491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2" name="Google Shape;572;p20"/>
          <p:cNvSpPr txBox="1"/>
          <p:nvPr/>
        </p:nvSpPr>
        <p:spPr>
          <a:xfrm>
            <a:off x="990295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573" name="Google Shape;573;p20"/>
          <p:cNvSpPr txBox="1"/>
          <p:nvPr/>
        </p:nvSpPr>
        <p:spPr>
          <a:xfrm>
            <a:off x="1143000" y="123444"/>
            <a:ext cx="11137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how-it-works</a:t>
            </a:r>
            <a:endParaRPr/>
          </a:p>
        </p:txBody>
      </p:sp>
      <p:cxnSp>
        <p:nvCxnSpPr>
          <p:cNvPr id="574" name="Google Shape;574;p20"/>
          <p:cNvCxnSpPr/>
          <p:nvPr/>
        </p:nvCxnSpPr>
        <p:spPr>
          <a:xfrm>
            <a:off x="2353665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75" name="Google Shape;575;p20"/>
          <p:cNvSpPr txBox="1"/>
          <p:nvPr/>
        </p:nvSpPr>
        <p:spPr>
          <a:xfrm>
            <a:off x="2349093" y="152704"/>
            <a:ext cx="1968703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@mention to delivered</a:t>
            </a:r>
            <a:endParaRPr/>
          </a:p>
        </p:txBody>
      </p:sp>
      <p:sp>
        <p:nvSpPr>
          <p:cNvPr id="576" name="Google Shape;576;p20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583" name="Google Shape;583;p20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724204" y="476402"/>
            <a:ext cx="11468404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 txBox="1"/>
          <p:nvPr/>
        </p:nvSpPr>
        <p:spPr>
          <a:xfrm>
            <a:off x="1333195" y="895197"/>
            <a:ext cx="10453420" cy="533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450"/>
              <a:buFont typeface="Helvetica Neue"/>
              <a:buNone/>
            </a:pPr>
            <a:r>
              <a:rPr b="1" i="0" lang="en-US" sz="34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Four moves, every time.</a:t>
            </a:r>
            <a:endParaRPr/>
          </a:p>
        </p:txBody>
      </p:sp>
      <p:sp>
        <p:nvSpPr>
          <p:cNvPr id="586" name="Google Shape;586;p20"/>
          <p:cNvSpPr txBox="1"/>
          <p:nvPr/>
        </p:nvSpPr>
        <p:spPr>
          <a:xfrm>
            <a:off x="1333195" y="1524304"/>
            <a:ext cx="104534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same loop, whether the task takes ten seconds or two days.</a:t>
            </a: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1333195" y="2152497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8" name="Google Shape;588;p20"/>
          <p:cNvCxnSpPr/>
          <p:nvPr/>
        </p:nvCxnSpPr>
        <p:spPr>
          <a:xfrm>
            <a:off x="1333195" y="2180844"/>
            <a:ext cx="2419502" cy="0"/>
          </a:xfrm>
          <a:prstGeom prst="straightConnector1">
            <a:avLst/>
          </a:prstGeom>
          <a:noFill/>
          <a:ln cap="flat" cmpd="sng" w="57150">
            <a:solidFill>
              <a:srgbClr val="E01E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89" name="Google Shape;589;p20"/>
          <p:cNvCxnSpPr/>
          <p:nvPr/>
        </p:nvCxnSpPr>
        <p:spPr>
          <a:xfrm>
            <a:off x="3748125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0" name="Google Shape;590;p20"/>
          <p:cNvCxnSpPr/>
          <p:nvPr/>
        </p:nvCxnSpPr>
        <p:spPr>
          <a:xfrm>
            <a:off x="1333195" y="4001414"/>
            <a:ext cx="2419502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1" name="Google Shape;591;p20"/>
          <p:cNvCxnSpPr/>
          <p:nvPr/>
        </p:nvCxnSpPr>
        <p:spPr>
          <a:xfrm>
            <a:off x="1338681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2" name="Google Shape;592;p20"/>
          <p:cNvSpPr txBox="1"/>
          <p:nvPr/>
        </p:nvSpPr>
        <p:spPr>
          <a:xfrm>
            <a:off x="1552651" y="2438704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1E5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01E5A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593" name="Google Shape;593;p20"/>
          <p:cNvSpPr txBox="1"/>
          <p:nvPr/>
        </p:nvSpPr>
        <p:spPr>
          <a:xfrm>
            <a:off x="1552651" y="2704795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tag it</a:t>
            </a:r>
            <a:endParaRPr/>
          </a:p>
        </p:txBody>
      </p:sp>
      <p:sp>
        <p:nvSpPr>
          <p:cNvPr id="594" name="Google Shape;594;p20"/>
          <p:cNvSpPr txBox="1"/>
          <p:nvPr/>
        </p:nvSpPr>
        <p:spPr>
          <a:xfrm>
            <a:off x="1552651" y="3063240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plus a plain-language request, right in the channel.</a:t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3942892" y="2152497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6" name="Google Shape;596;p20"/>
          <p:cNvCxnSpPr/>
          <p:nvPr/>
        </p:nvCxnSpPr>
        <p:spPr>
          <a:xfrm>
            <a:off x="3942892" y="2180844"/>
            <a:ext cx="2419503" cy="0"/>
          </a:xfrm>
          <a:prstGeom prst="straightConnector1">
            <a:avLst/>
          </a:prstGeom>
          <a:noFill/>
          <a:ln cap="flat" cmpd="sng" w="57150">
            <a:solidFill>
              <a:srgbClr val="36C5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7" name="Google Shape;597;p20"/>
          <p:cNvCxnSpPr/>
          <p:nvPr/>
        </p:nvCxnSpPr>
        <p:spPr>
          <a:xfrm>
            <a:off x="6357823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8" name="Google Shape;598;p20"/>
          <p:cNvCxnSpPr/>
          <p:nvPr/>
        </p:nvCxnSpPr>
        <p:spPr>
          <a:xfrm>
            <a:off x="3942892" y="4001414"/>
            <a:ext cx="2419503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9" name="Google Shape;599;p20"/>
          <p:cNvCxnSpPr/>
          <p:nvPr/>
        </p:nvCxnSpPr>
        <p:spPr>
          <a:xfrm>
            <a:off x="3948379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0" name="Google Shape;600;p20"/>
          <p:cNvSpPr txBox="1"/>
          <p:nvPr/>
        </p:nvSpPr>
        <p:spPr>
          <a:xfrm>
            <a:off x="4162348" y="2438704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6C5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36C5F0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/>
          </a:p>
        </p:txBody>
      </p:sp>
      <p:sp>
        <p:nvSpPr>
          <p:cNvPr id="601" name="Google Shape;601;p20"/>
          <p:cNvSpPr txBox="1"/>
          <p:nvPr/>
        </p:nvSpPr>
        <p:spPr>
          <a:xfrm>
            <a:off x="4162348" y="2704795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plans</a:t>
            </a:r>
            <a:endParaRPr/>
          </a:p>
        </p:txBody>
      </p:sp>
      <p:sp>
        <p:nvSpPr>
          <p:cNvPr id="602" name="Google Shape;602;p20"/>
          <p:cNvSpPr txBox="1"/>
          <p:nvPr/>
        </p:nvSpPr>
        <p:spPr>
          <a:xfrm>
            <a:off x="4162348" y="3063240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breaks the request into stages and decides what each one needs.</a:t>
            </a:r>
            <a:endParaRPr/>
          </a:p>
        </p:txBody>
      </p:sp>
      <p:sp>
        <p:nvSpPr>
          <p:cNvPr id="603" name="Google Shape;603;p20"/>
          <p:cNvSpPr/>
          <p:nvPr/>
        </p:nvSpPr>
        <p:spPr>
          <a:xfrm>
            <a:off x="6553504" y="2152497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20"/>
          <p:cNvCxnSpPr/>
          <p:nvPr/>
        </p:nvCxnSpPr>
        <p:spPr>
          <a:xfrm>
            <a:off x="6553504" y="2180844"/>
            <a:ext cx="2418588" cy="0"/>
          </a:xfrm>
          <a:prstGeom prst="straightConnector1">
            <a:avLst/>
          </a:prstGeom>
          <a:noFill/>
          <a:ln cap="flat" cmpd="sng" w="57150">
            <a:solidFill>
              <a:srgbClr val="2EB6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5" name="Google Shape;605;p20"/>
          <p:cNvCxnSpPr/>
          <p:nvPr/>
        </p:nvCxnSpPr>
        <p:spPr>
          <a:xfrm>
            <a:off x="8967520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6" name="Google Shape;606;p20"/>
          <p:cNvCxnSpPr/>
          <p:nvPr/>
        </p:nvCxnSpPr>
        <p:spPr>
          <a:xfrm>
            <a:off x="6553504" y="4001414"/>
            <a:ext cx="241858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07" name="Google Shape;607;p20"/>
          <p:cNvCxnSpPr/>
          <p:nvPr/>
        </p:nvCxnSpPr>
        <p:spPr>
          <a:xfrm>
            <a:off x="6558076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8" name="Google Shape;608;p20"/>
          <p:cNvSpPr txBox="1"/>
          <p:nvPr/>
        </p:nvSpPr>
        <p:spPr>
          <a:xfrm>
            <a:off x="6772046" y="2438704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B67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EB67D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/>
          </a:p>
        </p:txBody>
      </p:sp>
      <p:sp>
        <p:nvSpPr>
          <p:cNvPr id="609" name="Google Shape;609;p20"/>
          <p:cNvSpPr txBox="1"/>
          <p:nvPr/>
        </p:nvSpPr>
        <p:spPr>
          <a:xfrm>
            <a:off x="6772046" y="2704795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uses tools</a:t>
            </a:r>
            <a:endParaRPr/>
          </a:p>
        </p:txBody>
      </p:sp>
      <p:sp>
        <p:nvSpPr>
          <p:cNvPr id="610" name="Google Shape;610;p20"/>
          <p:cNvSpPr txBox="1"/>
          <p:nvPr/>
        </p:nvSpPr>
        <p:spPr>
          <a:xfrm>
            <a:off x="6772046" y="3063240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through the stages with the tools and data it's been granted.</a:t>
            </a: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9163202" y="2152497"/>
            <a:ext cx="2419502" cy="1853488"/>
          </a:xfrm>
          <a:prstGeom prst="roundRect">
            <a:avLst>
              <a:gd fmla="val 822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20"/>
          <p:cNvCxnSpPr/>
          <p:nvPr/>
        </p:nvCxnSpPr>
        <p:spPr>
          <a:xfrm>
            <a:off x="9163202" y="2180844"/>
            <a:ext cx="2419502" cy="0"/>
          </a:xfrm>
          <a:prstGeom prst="straightConnector1">
            <a:avLst/>
          </a:prstGeom>
          <a:noFill/>
          <a:ln cap="flat" cmpd="sng" w="57150">
            <a:solidFill>
              <a:srgbClr val="ECB22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3" name="Google Shape;613;p20"/>
          <p:cNvCxnSpPr/>
          <p:nvPr/>
        </p:nvCxnSpPr>
        <p:spPr>
          <a:xfrm>
            <a:off x="11577218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4" name="Google Shape;614;p20"/>
          <p:cNvCxnSpPr/>
          <p:nvPr/>
        </p:nvCxnSpPr>
        <p:spPr>
          <a:xfrm>
            <a:off x="9163202" y="4001414"/>
            <a:ext cx="2419502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615" name="Google Shape;615;p20"/>
          <p:cNvCxnSpPr/>
          <p:nvPr/>
        </p:nvCxnSpPr>
        <p:spPr>
          <a:xfrm>
            <a:off x="9167774" y="2152497"/>
            <a:ext cx="0" cy="185348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6" name="Google Shape;616;p20"/>
          <p:cNvSpPr txBox="1"/>
          <p:nvPr/>
        </p:nvSpPr>
        <p:spPr>
          <a:xfrm>
            <a:off x="9381744" y="2438704"/>
            <a:ext cx="2020824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CB22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CB22E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/>
          </a:p>
        </p:txBody>
      </p:sp>
      <p:sp>
        <p:nvSpPr>
          <p:cNvPr id="617" name="Google Shape;617;p20"/>
          <p:cNvSpPr txBox="1"/>
          <p:nvPr/>
        </p:nvSpPr>
        <p:spPr>
          <a:xfrm>
            <a:off x="9381744" y="2704795"/>
            <a:ext cx="2020824" cy="262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800"/>
              <a:buFont typeface="Helvetica Neue"/>
              <a:buNone/>
            </a:pPr>
            <a:r>
              <a:rPr b="1" i="0" lang="en-US" sz="18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replies</a:t>
            </a:r>
            <a:endParaRPr/>
          </a:p>
        </p:txBody>
      </p:sp>
      <p:sp>
        <p:nvSpPr>
          <p:cNvPr id="618" name="Google Shape;618;p20"/>
          <p:cNvSpPr txBox="1"/>
          <p:nvPr/>
        </p:nvSpPr>
        <p:spPr>
          <a:xfrm>
            <a:off x="9381744" y="3063240"/>
            <a:ext cx="20208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land back in the thread — visible to the whole team.</a:t>
            </a:r>
            <a:endParaRPr/>
          </a:p>
        </p:txBody>
      </p:sp>
      <p:sp>
        <p:nvSpPr>
          <p:cNvPr id="619" name="Google Shape;619;p20"/>
          <p:cNvSpPr/>
          <p:nvPr/>
        </p:nvSpPr>
        <p:spPr>
          <a:xfrm>
            <a:off x="1333195" y="4329684"/>
            <a:ext cx="10248595" cy="847648"/>
          </a:xfrm>
          <a:prstGeom prst="roundRect">
            <a:avLst>
              <a:gd fmla="val 13480" name="adj"/>
            </a:avLst>
          </a:prstGeom>
          <a:solidFill>
            <a:srgbClr val="F5F3F0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 txBox="1"/>
          <p:nvPr/>
        </p:nvSpPr>
        <p:spPr>
          <a:xfrm>
            <a:off x="1333195" y="4329684"/>
            <a:ext cx="10453420" cy="847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900" lIns="209375" spcFirstLastPara="1" rIns="209375" wrap="square" tIns="171900">
            <a:spAutoFit/>
          </a:bodyPr>
          <a:lstStyle/>
          <a:p>
            <a:pPr indent="0" lvl="0" marL="0" marR="0" rtl="0" algn="l">
              <a:lnSpc>
                <a:spcPct val="17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@Claude</a:t>
            </a:r>
            <a:r>
              <a:rPr b="0" i="0" lang="en-US" sz="112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reconcile the Q2 numbers against the data room and post a summary</a:t>
            </a:r>
            <a:endParaRPr/>
          </a:p>
          <a:p>
            <a:pPr indent="0" lvl="0" marL="0" marR="0" rtl="0" algn="l">
              <a:lnSpc>
                <a:spcPct val="170535"/>
              </a:lnSpc>
              <a:spcBef>
                <a:spcPts val="0"/>
              </a:spcBef>
              <a:spcAft>
                <a:spcPts val="0"/>
              </a:spcAft>
              <a:buClr>
                <a:srgbClr val="2EB67D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2EB67D"/>
                </a:solidFill>
                <a:latin typeface="Arial"/>
                <a:ea typeface="Arial"/>
                <a:cs typeface="Arial"/>
                <a:sym typeface="Arial"/>
              </a:rPr>
              <a:t>✓ planning · reading data room · cross-checking · drafting</a:t>
            </a:r>
            <a:r>
              <a:rPr b="0" i="0" lang="en-US" sz="112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20" u="none" cap="none" strike="noStrike">
                <a:solidFill>
                  <a:srgbClr val="696769"/>
                </a:solidFill>
                <a:latin typeface="Arial"/>
                <a:ea typeface="Arial"/>
                <a:cs typeface="Arial"/>
                <a:sym typeface="Arial"/>
              </a:rPr>
              <a:t>→ reply in thread</a:t>
            </a:r>
            <a:endParaRPr/>
          </a:p>
        </p:txBody>
      </p:sp>
      <p:sp>
        <p:nvSpPr>
          <p:cNvPr id="621" name="Google Shape;621;p20"/>
          <p:cNvSpPr/>
          <p:nvPr/>
        </p:nvSpPr>
        <p:spPr>
          <a:xfrm>
            <a:off x="1104595" y="5838444"/>
            <a:ext cx="10705795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20"/>
          <p:cNvCxnSpPr/>
          <p:nvPr/>
        </p:nvCxnSpPr>
        <p:spPr>
          <a:xfrm>
            <a:off x="1114653" y="6176772"/>
            <a:ext cx="10686593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3" name="Google Shape;623;p20"/>
          <p:cNvSpPr txBox="1"/>
          <p:nvPr/>
        </p:nvSpPr>
        <p:spPr>
          <a:xfrm>
            <a:off x="1266444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624" name="Google Shape;624;p20"/>
          <p:cNvSpPr txBox="1"/>
          <p:nvPr/>
        </p:nvSpPr>
        <p:spPr>
          <a:xfrm>
            <a:off x="1519732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625" name="Google Shape;625;p20"/>
          <p:cNvSpPr txBox="1"/>
          <p:nvPr/>
        </p:nvSpPr>
        <p:spPr>
          <a:xfrm>
            <a:off x="1714500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1959559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 txBox="1"/>
          <p:nvPr/>
        </p:nvSpPr>
        <p:spPr>
          <a:xfrm>
            <a:off x="2121408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628" name="Google Shape;628;p20"/>
          <p:cNvSpPr txBox="1"/>
          <p:nvPr/>
        </p:nvSpPr>
        <p:spPr>
          <a:xfrm>
            <a:off x="2357323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629" name="Google Shape;629;p20"/>
          <p:cNvSpPr/>
          <p:nvPr/>
        </p:nvSpPr>
        <p:spPr>
          <a:xfrm>
            <a:off x="2560320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 txBox="1"/>
          <p:nvPr/>
        </p:nvSpPr>
        <p:spPr>
          <a:xfrm>
            <a:off x="2722168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631" name="Google Shape;631;p20"/>
          <p:cNvSpPr txBox="1"/>
          <p:nvPr/>
        </p:nvSpPr>
        <p:spPr>
          <a:xfrm>
            <a:off x="1266444" y="6295644"/>
            <a:ext cx="1884578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#how-it-works</a:t>
            </a:r>
            <a:endParaRPr/>
          </a:p>
        </p:txBody>
      </p:sp>
      <p:sp>
        <p:nvSpPr>
          <p:cNvPr id="632" name="Google Shape;632;p20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639" name="Google Shape;6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21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641" name="Google Shape;6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21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1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4" name="Google Shape;644;p21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6" name="Google Shape;646;p21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48" name="Google Shape;648;p21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1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" name="Google Shape;651;p21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52" name="Google Shape;652;p21"/>
          <p:cNvSpPr txBox="1"/>
          <p:nvPr/>
        </p:nvSpPr>
        <p:spPr>
          <a:xfrm>
            <a:off x="914400" y="176479"/>
            <a:ext cx="948232" cy="24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Helvetica Neue"/>
              <a:buNone/>
            </a:pPr>
            <a:r>
              <a:rPr b="1" i="0" lang="en-US" sz="15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Anthropic</a:t>
            </a:r>
            <a:endParaRPr/>
          </a:p>
        </p:txBody>
      </p:sp>
      <p:sp>
        <p:nvSpPr>
          <p:cNvPr id="653" name="Google Shape;653;p21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654" name="Google Shape;654;p21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655" name="Google Shape;655;p21"/>
          <p:cNvSpPr txBox="1"/>
          <p:nvPr/>
        </p:nvSpPr>
        <p:spPr>
          <a:xfrm>
            <a:off x="875995" y="1037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56" name="Google Shape;656;p21"/>
          <p:cNvSpPr txBox="1"/>
          <p:nvPr/>
        </p:nvSpPr>
        <p:spPr>
          <a:xfrm>
            <a:off x="1041501" y="1043330"/>
            <a:ext cx="48006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</a:t>
            </a:r>
            <a:endParaRPr/>
          </a:p>
        </p:txBody>
      </p:sp>
      <p:sp>
        <p:nvSpPr>
          <p:cNvPr id="657" name="Google Shape;657;p21"/>
          <p:cNvSpPr txBox="1"/>
          <p:nvPr/>
        </p:nvSpPr>
        <p:spPr>
          <a:xfrm>
            <a:off x="875995" y="13240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58" name="Google Shape;658;p21"/>
          <p:cNvSpPr txBox="1"/>
          <p:nvPr/>
        </p:nvSpPr>
        <p:spPr>
          <a:xfrm>
            <a:off x="1041501" y="1324051"/>
            <a:ext cx="464515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2946196" y="1328623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1"/>
          <p:cNvSpPr txBox="1"/>
          <p:nvPr/>
        </p:nvSpPr>
        <p:spPr>
          <a:xfrm>
            <a:off x="2946196" y="1328623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661" name="Google Shape;661;p21"/>
          <p:cNvSpPr/>
          <p:nvPr/>
        </p:nvSpPr>
        <p:spPr>
          <a:xfrm>
            <a:off x="724204" y="1552651"/>
            <a:ext cx="2571292" cy="285292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1"/>
          <p:cNvSpPr txBox="1"/>
          <p:nvPr/>
        </p:nvSpPr>
        <p:spPr>
          <a:xfrm>
            <a:off x="875995" y="16093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63" name="Google Shape;663;p21"/>
          <p:cNvSpPr txBox="1"/>
          <p:nvPr/>
        </p:nvSpPr>
        <p:spPr>
          <a:xfrm>
            <a:off x="1041501" y="1609344"/>
            <a:ext cx="747064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sp>
        <p:nvSpPr>
          <p:cNvPr id="664" name="Google Shape;664;p21"/>
          <p:cNvSpPr txBox="1"/>
          <p:nvPr/>
        </p:nvSpPr>
        <p:spPr>
          <a:xfrm>
            <a:off x="875995" y="18955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65" name="Google Shape;665;p21"/>
          <p:cNvSpPr txBox="1"/>
          <p:nvPr/>
        </p:nvSpPr>
        <p:spPr>
          <a:xfrm>
            <a:off x="1041501" y="1900123"/>
            <a:ext cx="86410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eng-backend</a:t>
            </a:r>
            <a:endParaRPr/>
          </a:p>
        </p:txBody>
      </p:sp>
      <p:sp>
        <p:nvSpPr>
          <p:cNvPr id="666" name="Google Shape;666;p21"/>
          <p:cNvSpPr txBox="1"/>
          <p:nvPr/>
        </p:nvSpPr>
        <p:spPr>
          <a:xfrm>
            <a:off x="875995" y="2180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67" name="Google Shape;667;p21"/>
          <p:cNvSpPr txBox="1"/>
          <p:nvPr/>
        </p:nvSpPr>
        <p:spPr>
          <a:xfrm>
            <a:off x="1041501" y="2186330"/>
            <a:ext cx="43434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endParaRPr/>
          </a:p>
        </p:txBody>
      </p:sp>
      <p:sp>
        <p:nvSpPr>
          <p:cNvPr id="668" name="Google Shape;668;p21"/>
          <p:cNvSpPr txBox="1"/>
          <p:nvPr/>
        </p:nvSpPr>
        <p:spPr>
          <a:xfrm>
            <a:off x="724204" y="240944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669" name="Google Shape;6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5995" y="283829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21"/>
          <p:cNvSpPr txBox="1"/>
          <p:nvPr/>
        </p:nvSpPr>
        <p:spPr>
          <a:xfrm>
            <a:off x="1152144" y="285292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671" name="Google Shape;671;p21"/>
          <p:cNvSpPr/>
          <p:nvPr/>
        </p:nvSpPr>
        <p:spPr>
          <a:xfrm>
            <a:off x="3057753" y="28904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1"/>
          <p:cNvSpPr/>
          <p:nvPr/>
        </p:nvSpPr>
        <p:spPr>
          <a:xfrm>
            <a:off x="875995" y="3143707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1"/>
          <p:cNvSpPr txBox="1"/>
          <p:nvPr/>
        </p:nvSpPr>
        <p:spPr>
          <a:xfrm>
            <a:off x="875995" y="314370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674" name="Google Shape;674;p21"/>
          <p:cNvSpPr txBox="1"/>
          <p:nvPr/>
        </p:nvSpPr>
        <p:spPr>
          <a:xfrm>
            <a:off x="1152144" y="3157423"/>
            <a:ext cx="521207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675" name="Google Shape;675;p21"/>
          <p:cNvSpPr/>
          <p:nvPr/>
        </p:nvSpPr>
        <p:spPr>
          <a:xfrm>
            <a:off x="3057753" y="319582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1"/>
          <p:cNvSpPr/>
          <p:nvPr/>
        </p:nvSpPr>
        <p:spPr>
          <a:xfrm>
            <a:off x="875995" y="3448202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 txBox="1"/>
          <p:nvPr/>
        </p:nvSpPr>
        <p:spPr>
          <a:xfrm>
            <a:off x="875995" y="3448202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678" name="Google Shape;678;p21"/>
          <p:cNvSpPr txBox="1"/>
          <p:nvPr/>
        </p:nvSpPr>
        <p:spPr>
          <a:xfrm>
            <a:off x="1152144" y="346191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679" name="Google Shape;679;p21"/>
          <p:cNvSpPr/>
          <p:nvPr/>
        </p:nvSpPr>
        <p:spPr>
          <a:xfrm>
            <a:off x="3057753" y="3500323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1"/>
          <p:cNvSpPr/>
          <p:nvPr/>
        </p:nvSpPr>
        <p:spPr>
          <a:xfrm>
            <a:off x="3295497" y="0"/>
            <a:ext cx="8896197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1" name="Google Shape;681;p21"/>
          <p:cNvCxnSpPr/>
          <p:nvPr/>
        </p:nvCxnSpPr>
        <p:spPr>
          <a:xfrm>
            <a:off x="3295497" y="471830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2" name="Google Shape;682;p21"/>
          <p:cNvSpPr txBox="1"/>
          <p:nvPr/>
        </p:nvSpPr>
        <p:spPr>
          <a:xfrm>
            <a:off x="3562502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683" name="Google Shape;683;p21"/>
          <p:cNvSpPr txBox="1"/>
          <p:nvPr/>
        </p:nvSpPr>
        <p:spPr>
          <a:xfrm>
            <a:off x="3715207" y="123444"/>
            <a:ext cx="12527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admin-settings</a:t>
            </a:r>
            <a:endParaRPr/>
          </a:p>
        </p:txBody>
      </p:sp>
      <p:cxnSp>
        <p:nvCxnSpPr>
          <p:cNvPr id="684" name="Google Shape;684;p21"/>
          <p:cNvCxnSpPr/>
          <p:nvPr/>
        </p:nvCxnSpPr>
        <p:spPr>
          <a:xfrm>
            <a:off x="5062118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5" name="Google Shape;685;p21"/>
          <p:cNvSpPr txBox="1"/>
          <p:nvPr/>
        </p:nvSpPr>
        <p:spPr>
          <a:xfrm>
            <a:off x="5057546" y="152704"/>
            <a:ext cx="2415844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 decide what Claude can touch</a:t>
            </a:r>
            <a:endParaRPr/>
          </a:p>
        </p:txBody>
      </p:sp>
      <p:sp>
        <p:nvSpPr>
          <p:cNvPr id="686" name="Google Shape;686;p21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689" name="Google Shape;689;p21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1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691" name="Google Shape;691;p21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693" name="Google Shape;693;p21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3295497" y="476402"/>
            <a:ext cx="8896197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 txBox="1"/>
          <p:nvPr/>
        </p:nvSpPr>
        <p:spPr>
          <a:xfrm>
            <a:off x="3676802" y="800100"/>
            <a:ext cx="8297265" cy="48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3150"/>
              <a:buFont typeface="Helvetica Neue"/>
              <a:buNone/>
            </a:pPr>
            <a:r>
              <a:rPr b="1" i="0" lang="en-US" sz="31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Powerful, and on a leash.</a:t>
            </a:r>
            <a:endParaRPr/>
          </a:p>
        </p:txBody>
      </p:sp>
      <p:sp>
        <p:nvSpPr>
          <p:cNvPr id="696" name="Google Shape;696;p21"/>
          <p:cNvSpPr txBox="1"/>
          <p:nvPr/>
        </p:nvSpPr>
        <p:spPr>
          <a:xfrm>
            <a:off x="3676802" y="1362456"/>
            <a:ext cx="7383779" cy="437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422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420"/>
              <a:buFont typeface="Helvetica Neue"/>
              <a:buNone/>
            </a:pPr>
            <a:r>
              <a:rPr b="0" i="0" lang="en-US" sz="14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Admins configure tools and data access per channel — so the right Claude shows up in the right room.</a:t>
            </a:r>
            <a:endParaRPr/>
          </a:p>
        </p:txBody>
      </p:sp>
      <p:sp>
        <p:nvSpPr>
          <p:cNvPr id="697" name="Google Shape;697;p21"/>
          <p:cNvSpPr/>
          <p:nvPr/>
        </p:nvSpPr>
        <p:spPr>
          <a:xfrm>
            <a:off x="3676802" y="2085746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3895344" y="2286000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1"/>
          <p:cNvSpPr txBox="1"/>
          <p:nvPr/>
        </p:nvSpPr>
        <p:spPr>
          <a:xfrm>
            <a:off x="3895344" y="2286000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4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Helvetica Neue"/>
              <a:buNone/>
            </a:pPr>
            <a:r>
              <a:rPr b="1" i="0" lang="en-US" sz="14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👥</a:t>
            </a:r>
            <a:endParaRPr/>
          </a:p>
        </p:txBody>
      </p:sp>
      <p:sp>
        <p:nvSpPr>
          <p:cNvPr id="700" name="Google Shape;700;p21"/>
          <p:cNvSpPr txBox="1"/>
          <p:nvPr/>
        </p:nvSpPr>
        <p:spPr>
          <a:xfrm>
            <a:off x="4371746" y="2348179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Separate identities</a:t>
            </a:r>
            <a:endParaRPr/>
          </a:p>
        </p:txBody>
      </p:sp>
      <p:sp>
        <p:nvSpPr>
          <p:cNvPr id="701" name="Google Shape;701;p21"/>
          <p:cNvSpPr txBox="1"/>
          <p:nvPr/>
        </p:nvSpPr>
        <p:spPr>
          <a:xfrm>
            <a:off x="3895344" y="2762402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different Claude per channel — each with its own tools, data scope, and personality.</a:t>
            </a:r>
            <a:endParaRPr/>
          </a:p>
        </p:txBody>
      </p:sp>
      <p:sp>
        <p:nvSpPr>
          <p:cNvPr id="702" name="Google Shape;702;p21"/>
          <p:cNvSpPr/>
          <p:nvPr/>
        </p:nvSpPr>
        <p:spPr>
          <a:xfrm>
            <a:off x="7829092" y="2085746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8048548" y="2286000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 txBox="1"/>
          <p:nvPr/>
        </p:nvSpPr>
        <p:spPr>
          <a:xfrm>
            <a:off x="8048548" y="2286000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4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Helvetica Neue"/>
              <a:buNone/>
            </a:pPr>
            <a:r>
              <a:rPr b="1" i="0" lang="en-US" sz="14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🔑</a:t>
            </a:r>
            <a:endParaRPr/>
          </a:p>
        </p:txBody>
      </p:sp>
      <p:sp>
        <p:nvSpPr>
          <p:cNvPr id="705" name="Google Shape;705;p21"/>
          <p:cNvSpPr txBox="1"/>
          <p:nvPr/>
        </p:nvSpPr>
        <p:spPr>
          <a:xfrm>
            <a:off x="8524951" y="2348179"/>
            <a:ext cx="1414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Scoped access</a:t>
            </a:r>
            <a:endParaRPr/>
          </a:p>
        </p:txBody>
      </p:sp>
      <p:sp>
        <p:nvSpPr>
          <p:cNvPr id="706" name="Google Shape;706;p21"/>
          <p:cNvSpPr txBox="1"/>
          <p:nvPr/>
        </p:nvSpPr>
        <p:spPr>
          <a:xfrm>
            <a:off x="8048548" y="2762402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Choose exactly which tools and data sources each Claude can reach.</a:t>
            </a:r>
            <a:endParaRPr/>
          </a:p>
        </p:txBody>
      </p:sp>
      <p:sp>
        <p:nvSpPr>
          <p:cNvPr id="707" name="Google Shape;707;p21"/>
          <p:cNvSpPr/>
          <p:nvPr/>
        </p:nvSpPr>
        <p:spPr>
          <a:xfrm>
            <a:off x="3676802" y="3590848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3895344" y="3791102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1"/>
          <p:cNvSpPr txBox="1"/>
          <p:nvPr/>
        </p:nvSpPr>
        <p:spPr>
          <a:xfrm>
            <a:off x="3895344" y="3791102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4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Helvetica Neue"/>
              <a:buNone/>
            </a:pPr>
            <a:r>
              <a:rPr b="1" i="0" lang="en-US" sz="14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💰</a:t>
            </a:r>
            <a:endParaRPr/>
          </a:p>
        </p:txBody>
      </p:sp>
      <p:sp>
        <p:nvSpPr>
          <p:cNvPr id="710" name="Google Shape;710;p21"/>
          <p:cNvSpPr txBox="1"/>
          <p:nvPr/>
        </p:nvSpPr>
        <p:spPr>
          <a:xfrm>
            <a:off x="4371746" y="3853281"/>
            <a:ext cx="114391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Spend limits</a:t>
            </a:r>
            <a:endParaRPr/>
          </a:p>
        </p:txBody>
      </p:sp>
      <p:sp>
        <p:nvSpPr>
          <p:cNvPr id="711" name="Google Shape;711;p21"/>
          <p:cNvSpPr txBox="1"/>
          <p:nvPr/>
        </p:nvSpPr>
        <p:spPr>
          <a:xfrm>
            <a:off x="3895344" y="4267504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token budgets so usage stays predictable and under control.</a:t>
            </a:r>
            <a:endParaRPr/>
          </a:p>
        </p:txBody>
      </p:sp>
      <p:sp>
        <p:nvSpPr>
          <p:cNvPr id="712" name="Google Shape;712;p21"/>
          <p:cNvSpPr/>
          <p:nvPr/>
        </p:nvSpPr>
        <p:spPr>
          <a:xfrm>
            <a:off x="7829092" y="3590848"/>
            <a:ext cx="3981297" cy="1333195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1"/>
          <p:cNvSpPr/>
          <p:nvPr/>
        </p:nvSpPr>
        <p:spPr>
          <a:xfrm>
            <a:off x="8048548" y="3791102"/>
            <a:ext cx="362102" cy="362102"/>
          </a:xfrm>
          <a:prstGeom prst="roundRect">
            <a:avLst>
              <a:gd fmla="val 2632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1"/>
          <p:cNvSpPr txBox="1"/>
          <p:nvPr/>
        </p:nvSpPr>
        <p:spPr>
          <a:xfrm>
            <a:off x="8048548" y="3791102"/>
            <a:ext cx="36941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42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Helvetica Neue"/>
              <a:buNone/>
            </a:pPr>
            <a:r>
              <a:rPr b="1" i="0" lang="en-US" sz="14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📋</a:t>
            </a:r>
            <a:endParaRPr/>
          </a:p>
        </p:txBody>
      </p:sp>
      <p:sp>
        <p:nvSpPr>
          <p:cNvPr id="715" name="Google Shape;715;p21"/>
          <p:cNvSpPr txBox="1"/>
          <p:nvPr/>
        </p:nvSpPr>
        <p:spPr>
          <a:xfrm>
            <a:off x="8524951" y="3853281"/>
            <a:ext cx="125821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audit trail</a:t>
            </a:r>
            <a:endParaRPr/>
          </a:p>
        </p:txBody>
      </p:sp>
      <p:sp>
        <p:nvSpPr>
          <p:cNvPr id="716" name="Google Shape;716;p21"/>
          <p:cNvSpPr txBox="1"/>
          <p:nvPr/>
        </p:nvSpPr>
        <p:spPr>
          <a:xfrm>
            <a:off x="8048548" y="4267504"/>
            <a:ext cx="361462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action Claude takes is logged and reviewable.</a:t>
            </a:r>
            <a:endParaRPr/>
          </a:p>
        </p:txBody>
      </p:sp>
      <p:sp>
        <p:nvSpPr>
          <p:cNvPr id="717" name="Google Shape;717;p21"/>
          <p:cNvSpPr/>
          <p:nvPr/>
        </p:nvSpPr>
        <p:spPr>
          <a:xfrm>
            <a:off x="3676802" y="5838444"/>
            <a:ext cx="8134502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21"/>
          <p:cNvCxnSpPr/>
          <p:nvPr/>
        </p:nvCxnSpPr>
        <p:spPr>
          <a:xfrm>
            <a:off x="3685946" y="6176772"/>
            <a:ext cx="8115300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19" name="Google Shape;719;p21"/>
          <p:cNvSpPr txBox="1"/>
          <p:nvPr/>
        </p:nvSpPr>
        <p:spPr>
          <a:xfrm>
            <a:off x="3838651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720" name="Google Shape;720;p21"/>
          <p:cNvSpPr txBox="1"/>
          <p:nvPr/>
        </p:nvSpPr>
        <p:spPr>
          <a:xfrm>
            <a:off x="4091939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721" name="Google Shape;721;p21"/>
          <p:cNvSpPr txBox="1"/>
          <p:nvPr/>
        </p:nvSpPr>
        <p:spPr>
          <a:xfrm>
            <a:off x="4286707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722" name="Google Shape;722;p21"/>
          <p:cNvSpPr/>
          <p:nvPr/>
        </p:nvSpPr>
        <p:spPr>
          <a:xfrm>
            <a:off x="4531766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1"/>
          <p:cNvSpPr txBox="1"/>
          <p:nvPr/>
        </p:nvSpPr>
        <p:spPr>
          <a:xfrm>
            <a:off x="4693615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724" name="Google Shape;724;p21"/>
          <p:cNvSpPr txBox="1"/>
          <p:nvPr/>
        </p:nvSpPr>
        <p:spPr>
          <a:xfrm>
            <a:off x="4929530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725" name="Google Shape;725;p21"/>
          <p:cNvSpPr/>
          <p:nvPr/>
        </p:nvSpPr>
        <p:spPr>
          <a:xfrm>
            <a:off x="5131612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1"/>
          <p:cNvSpPr txBox="1"/>
          <p:nvPr/>
        </p:nvSpPr>
        <p:spPr>
          <a:xfrm>
            <a:off x="5293461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727" name="Google Shape;727;p21"/>
          <p:cNvSpPr txBox="1"/>
          <p:nvPr/>
        </p:nvSpPr>
        <p:spPr>
          <a:xfrm>
            <a:off x="3838651" y="6295644"/>
            <a:ext cx="2021738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#admin-settings</a:t>
            </a:r>
            <a:endParaRPr/>
          </a:p>
        </p:txBody>
      </p:sp>
      <p:sp>
        <p:nvSpPr>
          <p:cNvPr id="728" name="Google Shape;728;p21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1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735" name="Google Shape;7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sh.png" id="736" name="Google Shape;7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195" y="-1428292"/>
            <a:ext cx="4000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738" name="Google Shape;7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22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2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41" name="Google Shape;741;p22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2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43" name="Google Shape;743;p22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2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45" name="Google Shape;745;p22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2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2"/>
          <p:cNvSpPr txBox="1"/>
          <p:nvPr/>
        </p:nvSpPr>
        <p:spPr>
          <a:xfrm>
            <a:off x="1428292" y="1123797"/>
            <a:ext cx="9715500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PROOF, FROM INSIDE ANTHROPIC</a:t>
            </a:r>
            <a:endParaRPr/>
          </a:p>
        </p:txBody>
      </p:sp>
      <p:sp>
        <p:nvSpPr>
          <p:cNvPr id="748" name="Google Shape;748;p22"/>
          <p:cNvSpPr txBox="1"/>
          <p:nvPr/>
        </p:nvSpPr>
        <p:spPr>
          <a:xfrm>
            <a:off x="1428292" y="1466697"/>
            <a:ext cx="5052060" cy="2266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0"/>
              <a:buFont typeface="Helvetica Neue"/>
              <a:buNone/>
            </a:pPr>
            <a:r>
              <a:rPr b="1" i="0" lang="en-US" sz="210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65</a:t>
            </a:r>
            <a:endParaRPr/>
          </a:p>
        </p:txBody>
      </p:sp>
      <p:sp>
        <p:nvSpPr>
          <p:cNvPr id="749" name="Google Shape;749;p22"/>
          <p:cNvSpPr txBox="1"/>
          <p:nvPr/>
        </p:nvSpPr>
        <p:spPr>
          <a:xfrm>
            <a:off x="6476695" y="2609697"/>
            <a:ext cx="11658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9000"/>
              <a:buFont typeface="Helvetica Neue"/>
              <a:buNone/>
            </a:pPr>
            <a:r>
              <a:rPr b="1" i="0" lang="en-US" sz="90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%</a:t>
            </a:r>
            <a:endParaRPr/>
          </a:p>
        </p:txBody>
      </p:sp>
      <p:sp>
        <p:nvSpPr>
          <p:cNvPr id="750" name="Google Shape;750;p22"/>
          <p:cNvSpPr txBox="1"/>
          <p:nvPr/>
        </p:nvSpPr>
        <p:spPr>
          <a:xfrm>
            <a:off x="1428292" y="4038904"/>
            <a:ext cx="66065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our product team's code is now written by our internal version of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Tag</a:t>
            </a: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</p:txBody>
      </p:sp>
      <p:sp>
        <p:nvSpPr>
          <p:cNvPr id="751" name="Google Shape;751;p22"/>
          <p:cNvSpPr/>
          <p:nvPr/>
        </p:nvSpPr>
        <p:spPr>
          <a:xfrm>
            <a:off x="8286292" y="4058107"/>
            <a:ext cx="3143707" cy="2133295"/>
          </a:xfrm>
          <a:prstGeom prst="roundRect">
            <a:avLst>
              <a:gd fmla="val 7140" name="adj"/>
            </a:avLst>
          </a:prstGeom>
          <a:solidFill>
            <a:srgbClr val="FFFFFF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752" name="Google Shape;7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5748" y="4276648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22"/>
          <p:cNvSpPr txBox="1"/>
          <p:nvPr/>
        </p:nvSpPr>
        <p:spPr>
          <a:xfrm>
            <a:off x="9029700" y="4276648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754" name="Google Shape;754;p22"/>
          <p:cNvSpPr/>
          <p:nvPr/>
        </p:nvSpPr>
        <p:spPr>
          <a:xfrm>
            <a:off x="9689896" y="4304995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2"/>
          <p:cNvSpPr txBox="1"/>
          <p:nvPr/>
        </p:nvSpPr>
        <p:spPr>
          <a:xfrm>
            <a:off x="9689896" y="4304995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756" name="Google Shape;756;p22"/>
          <p:cNvSpPr txBox="1"/>
          <p:nvPr/>
        </p:nvSpPr>
        <p:spPr>
          <a:xfrm>
            <a:off x="9029700" y="4533595"/>
            <a:ext cx="2224735" cy="886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666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Shipped 14 PRs this week. Review queue is clear.</a:t>
            </a:r>
            <a:endParaRPr/>
          </a:p>
        </p:txBody>
      </p:sp>
      <p:sp>
        <p:nvSpPr>
          <p:cNvPr id="757" name="Google Shape;757;p22"/>
          <p:cNvSpPr/>
          <p:nvPr/>
        </p:nvSpPr>
        <p:spPr>
          <a:xfrm>
            <a:off x="9029700" y="5524804"/>
            <a:ext cx="596188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2"/>
          <p:cNvSpPr txBox="1"/>
          <p:nvPr/>
        </p:nvSpPr>
        <p:spPr>
          <a:xfrm>
            <a:off x="9134856" y="5572353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✅</a:t>
            </a:r>
            <a:endParaRPr/>
          </a:p>
        </p:txBody>
      </p:sp>
      <p:sp>
        <p:nvSpPr>
          <p:cNvPr id="759" name="Google Shape;759;p22"/>
          <p:cNvSpPr txBox="1"/>
          <p:nvPr/>
        </p:nvSpPr>
        <p:spPr>
          <a:xfrm>
            <a:off x="9372600" y="5562295"/>
            <a:ext cx="15179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/>
          </a:p>
        </p:txBody>
      </p:sp>
      <p:sp>
        <p:nvSpPr>
          <p:cNvPr id="760" name="Google Shape;760;p22"/>
          <p:cNvSpPr/>
          <p:nvPr/>
        </p:nvSpPr>
        <p:spPr>
          <a:xfrm>
            <a:off x="9701784" y="5524804"/>
            <a:ext cx="522122" cy="237744"/>
          </a:xfrm>
          <a:prstGeom prst="roundRect">
            <a:avLst>
              <a:gd fmla="val 48000" name="adj"/>
            </a:avLst>
          </a:prstGeom>
          <a:solidFill>
            <a:srgbClr val="F4F4F4"/>
          </a:solidFill>
          <a:ln cap="flat" cmpd="sng" w="10150">
            <a:solidFill>
              <a:srgbClr val="E2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2"/>
          <p:cNvSpPr txBox="1"/>
          <p:nvPr/>
        </p:nvSpPr>
        <p:spPr>
          <a:xfrm>
            <a:off x="9806940" y="5572353"/>
            <a:ext cx="184708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🔥</a:t>
            </a:r>
            <a:endParaRPr/>
          </a:p>
        </p:txBody>
      </p:sp>
      <p:sp>
        <p:nvSpPr>
          <p:cNvPr id="762" name="Google Shape;762;p22"/>
          <p:cNvSpPr txBox="1"/>
          <p:nvPr/>
        </p:nvSpPr>
        <p:spPr>
          <a:xfrm>
            <a:off x="10044684" y="5562295"/>
            <a:ext cx="7589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Helvetica Neue"/>
              <a:buNone/>
            </a:pPr>
            <a:r>
              <a:rPr b="1" i="0" lang="en-US" sz="1050" u="none" cap="none" strike="noStrike">
                <a:solidFill>
                  <a:srgbClr val="4A4A4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763" name="Google Shape;763;p22"/>
          <p:cNvSpPr/>
          <p:nvPr/>
        </p:nvSpPr>
        <p:spPr>
          <a:xfrm>
            <a:off x="10299801" y="5529376"/>
            <a:ext cx="276148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0150">
            <a:solidFill>
              <a:srgbClr val="D2D2D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2"/>
          <p:cNvSpPr txBox="1"/>
          <p:nvPr/>
        </p:nvSpPr>
        <p:spPr>
          <a:xfrm>
            <a:off x="10299801" y="5529376"/>
            <a:ext cx="281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85950" spcFirstLastPara="1" rIns="85950" wrap="square" tIns="1920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paper.png" id="770" name="Google Shape;7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3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772" name="Google Shape;77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2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3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75" name="Google Shape;775;p23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3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77" name="Google Shape;777;p23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3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79" name="Google Shape;779;p23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3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3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2" name="Google Shape;782;p23"/>
          <p:cNvCxnSpPr/>
          <p:nvPr/>
        </p:nvCxnSpPr>
        <p:spPr>
          <a:xfrm>
            <a:off x="724204" y="604418"/>
            <a:ext cx="2571293" cy="0"/>
          </a:xfrm>
          <a:prstGeom prst="straightConnector1">
            <a:avLst/>
          </a:prstGeom>
          <a:noFill/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783" name="Google Shape;783;p23"/>
          <p:cNvSpPr txBox="1"/>
          <p:nvPr/>
        </p:nvSpPr>
        <p:spPr>
          <a:xfrm>
            <a:off x="914400" y="176479"/>
            <a:ext cx="948232" cy="247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0"/>
              <a:buFont typeface="Helvetica Neue"/>
              <a:buNone/>
            </a:pPr>
            <a:r>
              <a:rPr b="1" i="0" lang="en-US" sz="158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Anthropic</a:t>
            </a:r>
            <a:endParaRPr/>
          </a:p>
        </p:txBody>
      </p:sp>
      <p:sp>
        <p:nvSpPr>
          <p:cNvPr id="784" name="Google Shape;784;p2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▾</a:t>
            </a:r>
            <a:endParaRPr/>
          </a:p>
        </p:txBody>
      </p:sp>
      <p:sp>
        <p:nvSpPr>
          <p:cNvPr id="785" name="Google Shape;785;p23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CHANNELS</a:t>
            </a:r>
            <a:endParaRPr/>
          </a:p>
        </p:txBody>
      </p:sp>
      <p:sp>
        <p:nvSpPr>
          <p:cNvPr id="786" name="Google Shape;786;p23"/>
          <p:cNvSpPr txBox="1"/>
          <p:nvPr/>
        </p:nvSpPr>
        <p:spPr>
          <a:xfrm>
            <a:off x="875995" y="1037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87" name="Google Shape;787;p23"/>
          <p:cNvSpPr txBox="1"/>
          <p:nvPr/>
        </p:nvSpPr>
        <p:spPr>
          <a:xfrm>
            <a:off x="1041501" y="1043330"/>
            <a:ext cx="48006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</a:t>
            </a:r>
            <a:endParaRPr/>
          </a:p>
        </p:txBody>
      </p:sp>
      <p:sp>
        <p:nvSpPr>
          <p:cNvPr id="788" name="Google Shape;788;p23"/>
          <p:cNvSpPr txBox="1"/>
          <p:nvPr/>
        </p:nvSpPr>
        <p:spPr>
          <a:xfrm>
            <a:off x="875995" y="13240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89" name="Google Shape;789;p23"/>
          <p:cNvSpPr txBox="1"/>
          <p:nvPr/>
        </p:nvSpPr>
        <p:spPr>
          <a:xfrm>
            <a:off x="1041501" y="1324051"/>
            <a:ext cx="464515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</a:t>
            </a:r>
            <a:endParaRPr/>
          </a:p>
        </p:txBody>
      </p:sp>
      <p:sp>
        <p:nvSpPr>
          <p:cNvPr id="790" name="Google Shape;790;p23"/>
          <p:cNvSpPr/>
          <p:nvPr/>
        </p:nvSpPr>
        <p:spPr>
          <a:xfrm>
            <a:off x="2946196" y="1328623"/>
            <a:ext cx="196596" cy="161848"/>
          </a:xfrm>
          <a:prstGeom prst="roundRect">
            <a:avLst>
              <a:gd fmla="val 5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3"/>
          <p:cNvSpPr txBox="1"/>
          <p:nvPr/>
        </p:nvSpPr>
        <p:spPr>
          <a:xfrm>
            <a:off x="2946196" y="1328623"/>
            <a:ext cx="20116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Helvetica Neu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792" name="Google Shape;792;p23"/>
          <p:cNvSpPr/>
          <p:nvPr/>
        </p:nvSpPr>
        <p:spPr>
          <a:xfrm>
            <a:off x="724204" y="1552651"/>
            <a:ext cx="2571292" cy="285292"/>
          </a:xfrm>
          <a:prstGeom prst="rect">
            <a:avLst/>
          </a:prstGeom>
          <a:solidFill>
            <a:srgbClr val="1164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3"/>
          <p:cNvSpPr txBox="1"/>
          <p:nvPr/>
        </p:nvSpPr>
        <p:spPr>
          <a:xfrm>
            <a:off x="875995" y="16093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94" name="Google Shape;794;p23"/>
          <p:cNvSpPr txBox="1"/>
          <p:nvPr/>
        </p:nvSpPr>
        <p:spPr>
          <a:xfrm>
            <a:off x="1041501" y="1609344"/>
            <a:ext cx="747064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claude-tag</a:t>
            </a:r>
            <a:endParaRPr/>
          </a:p>
        </p:txBody>
      </p:sp>
      <p:sp>
        <p:nvSpPr>
          <p:cNvPr id="795" name="Google Shape;795;p23"/>
          <p:cNvSpPr txBox="1"/>
          <p:nvPr/>
        </p:nvSpPr>
        <p:spPr>
          <a:xfrm>
            <a:off x="875995" y="1895551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96" name="Google Shape;796;p23"/>
          <p:cNvSpPr txBox="1"/>
          <p:nvPr/>
        </p:nvSpPr>
        <p:spPr>
          <a:xfrm>
            <a:off x="1041501" y="1900123"/>
            <a:ext cx="864108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eng-backend</a:t>
            </a:r>
            <a:endParaRPr/>
          </a:p>
        </p:txBody>
      </p:sp>
      <p:sp>
        <p:nvSpPr>
          <p:cNvPr id="797" name="Google Shape;797;p23"/>
          <p:cNvSpPr txBox="1"/>
          <p:nvPr/>
        </p:nvSpPr>
        <p:spPr>
          <a:xfrm>
            <a:off x="875995" y="2180844"/>
            <a:ext cx="81381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C829D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9C82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798" name="Google Shape;798;p23"/>
          <p:cNvSpPr txBox="1"/>
          <p:nvPr/>
        </p:nvSpPr>
        <p:spPr>
          <a:xfrm>
            <a:off x="1041501" y="2186330"/>
            <a:ext cx="434340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</a:t>
            </a:r>
            <a:endParaRPr/>
          </a:p>
        </p:txBody>
      </p:sp>
      <p:sp>
        <p:nvSpPr>
          <p:cNvPr id="799" name="Google Shape;799;p23"/>
          <p:cNvSpPr txBox="1"/>
          <p:nvPr/>
        </p:nvSpPr>
        <p:spPr>
          <a:xfrm>
            <a:off x="724204" y="2409444"/>
            <a:ext cx="2623413" cy="371246"/>
          </a:xfrm>
          <a:prstGeom prst="rect">
            <a:avLst/>
          </a:prstGeom>
          <a:noFill/>
          <a:ln>
            <a:noFill/>
          </a:ln>
        </p:spPr>
        <p:txBody>
          <a:bodyPr anchorCtr="0" anchor="t" bIns="56675" lIns="152700" spcFirstLastPara="1" rIns="152700" wrap="square" tIns="17190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A98F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MESSAGES</a:t>
            </a:r>
            <a:endParaRPr/>
          </a:p>
        </p:txBody>
      </p:sp>
      <p:pic>
        <p:nvPicPr>
          <p:cNvPr descr="claude_avatar.png" id="800" name="Google Shape;80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5995" y="283829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23"/>
          <p:cNvSpPr txBox="1"/>
          <p:nvPr/>
        </p:nvSpPr>
        <p:spPr>
          <a:xfrm>
            <a:off x="1152144" y="285292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802" name="Google Shape;802;p23"/>
          <p:cNvSpPr/>
          <p:nvPr/>
        </p:nvSpPr>
        <p:spPr>
          <a:xfrm>
            <a:off x="3057753" y="289041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3"/>
          <p:cNvSpPr/>
          <p:nvPr/>
        </p:nvSpPr>
        <p:spPr>
          <a:xfrm>
            <a:off x="875995" y="3143707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E01E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3"/>
          <p:cNvSpPr txBox="1"/>
          <p:nvPr/>
        </p:nvSpPr>
        <p:spPr>
          <a:xfrm>
            <a:off x="875995" y="3143707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805" name="Google Shape;805;p23"/>
          <p:cNvSpPr txBox="1"/>
          <p:nvPr/>
        </p:nvSpPr>
        <p:spPr>
          <a:xfrm>
            <a:off x="1152144" y="3157423"/>
            <a:ext cx="521207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Dana R.</a:t>
            </a:r>
            <a:endParaRPr/>
          </a:p>
        </p:txBody>
      </p:sp>
      <p:sp>
        <p:nvSpPr>
          <p:cNvPr id="806" name="Google Shape;806;p23"/>
          <p:cNvSpPr/>
          <p:nvPr/>
        </p:nvSpPr>
        <p:spPr>
          <a:xfrm>
            <a:off x="3057753" y="3195828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3"/>
          <p:cNvSpPr/>
          <p:nvPr/>
        </p:nvSpPr>
        <p:spPr>
          <a:xfrm>
            <a:off x="875995" y="3448202"/>
            <a:ext cx="190195" cy="190195"/>
          </a:xfrm>
          <a:prstGeom prst="roundRect">
            <a:avLst>
              <a:gd fmla="val 2000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 txBox="1"/>
          <p:nvPr/>
        </p:nvSpPr>
        <p:spPr>
          <a:xfrm>
            <a:off x="875995" y="3448202"/>
            <a:ext cx="193852" cy="19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809" name="Google Shape;809;p23"/>
          <p:cNvSpPr txBox="1"/>
          <p:nvPr/>
        </p:nvSpPr>
        <p:spPr>
          <a:xfrm>
            <a:off x="1152144" y="3461918"/>
            <a:ext cx="461772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CFBFD0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CFBFD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Mike T.</a:t>
            </a:r>
            <a:endParaRPr/>
          </a:p>
        </p:txBody>
      </p:sp>
      <p:sp>
        <p:nvSpPr>
          <p:cNvPr id="810" name="Google Shape;810;p23"/>
          <p:cNvSpPr/>
          <p:nvPr/>
        </p:nvSpPr>
        <p:spPr>
          <a:xfrm>
            <a:off x="3057753" y="3500323"/>
            <a:ext cx="85953" cy="85953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/>
          <p:nvPr/>
        </p:nvSpPr>
        <p:spPr>
          <a:xfrm>
            <a:off x="3295497" y="0"/>
            <a:ext cx="8896197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2" name="Google Shape;812;p23"/>
          <p:cNvCxnSpPr/>
          <p:nvPr/>
        </p:nvCxnSpPr>
        <p:spPr>
          <a:xfrm>
            <a:off x="3295497" y="471830"/>
            <a:ext cx="8896198" cy="0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3" name="Google Shape;813;p23"/>
          <p:cNvSpPr txBox="1"/>
          <p:nvPr/>
        </p:nvSpPr>
        <p:spPr>
          <a:xfrm>
            <a:off x="3562502" y="123444"/>
            <a:ext cx="9692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814" name="Google Shape;814;p23"/>
          <p:cNvSpPr txBox="1"/>
          <p:nvPr/>
        </p:nvSpPr>
        <p:spPr>
          <a:xfrm>
            <a:off x="3715207" y="123444"/>
            <a:ext cx="134051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announcements</a:t>
            </a:r>
            <a:endParaRPr/>
          </a:p>
        </p:txBody>
      </p:sp>
      <p:cxnSp>
        <p:nvCxnSpPr>
          <p:cNvPr id="815" name="Google Shape;815;p23"/>
          <p:cNvCxnSpPr/>
          <p:nvPr/>
        </p:nvCxnSpPr>
        <p:spPr>
          <a:xfrm>
            <a:off x="5148986" y="152704"/>
            <a:ext cx="0" cy="161849"/>
          </a:xfrm>
          <a:prstGeom prst="straightConnector1">
            <a:avLst/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6" name="Google Shape;816;p23"/>
          <p:cNvSpPr txBox="1"/>
          <p:nvPr/>
        </p:nvSpPr>
        <p:spPr>
          <a:xfrm>
            <a:off x="5143500" y="152704"/>
            <a:ext cx="92811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50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120"/>
              <a:buFont typeface="Helvetica Neue"/>
              <a:buNone/>
            </a:pPr>
            <a:r>
              <a:rPr b="0" i="0" lang="en-US" sz="112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in beta</a:t>
            </a:r>
            <a:endParaRPr/>
          </a:p>
        </p:txBody>
      </p:sp>
      <p:sp>
        <p:nvSpPr>
          <p:cNvPr id="817" name="Google Shape;817;p23"/>
          <p:cNvSpPr/>
          <p:nvPr/>
        </p:nvSpPr>
        <p:spPr>
          <a:xfrm>
            <a:off x="11069726" y="62179"/>
            <a:ext cx="854964" cy="342900"/>
          </a:xfrm>
          <a:prstGeom prst="roundRect">
            <a:avLst>
              <a:gd fmla="val 22220" name="adj"/>
            </a:avLst>
          </a:prstGeom>
          <a:noFill/>
          <a:ln cap="flat" cmpd="sng" w="10150">
            <a:solidFill>
              <a:srgbClr val="E6E3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3"/>
          <p:cNvSpPr/>
          <p:nvPr/>
        </p:nvSpPr>
        <p:spPr>
          <a:xfrm>
            <a:off x="111172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E01E5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3"/>
          <p:cNvSpPr txBox="1"/>
          <p:nvPr/>
        </p:nvSpPr>
        <p:spPr>
          <a:xfrm>
            <a:off x="111172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820" name="Google Shape;820;p23"/>
          <p:cNvSpPr/>
          <p:nvPr/>
        </p:nvSpPr>
        <p:spPr>
          <a:xfrm>
            <a:off x="11289182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36C5F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3"/>
          <p:cNvSpPr txBox="1"/>
          <p:nvPr/>
        </p:nvSpPr>
        <p:spPr>
          <a:xfrm>
            <a:off x="11289182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endParaRPr/>
          </a:p>
        </p:txBody>
      </p:sp>
      <p:sp>
        <p:nvSpPr>
          <p:cNvPr id="822" name="Google Shape;822;p23"/>
          <p:cNvSpPr/>
          <p:nvPr/>
        </p:nvSpPr>
        <p:spPr>
          <a:xfrm>
            <a:off x="11460175" y="118872"/>
            <a:ext cx="228600" cy="228600"/>
          </a:xfrm>
          <a:prstGeom prst="roundRect">
            <a:avLst>
              <a:gd fmla="val 16670" name="adj"/>
            </a:avLst>
          </a:prstGeom>
          <a:solidFill>
            <a:srgbClr val="2EB67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3"/>
          <p:cNvSpPr txBox="1"/>
          <p:nvPr/>
        </p:nvSpPr>
        <p:spPr>
          <a:xfrm>
            <a:off x="11460175" y="118872"/>
            <a:ext cx="2331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24" name="Google Shape;824;p23"/>
          <p:cNvSpPr txBox="1"/>
          <p:nvPr/>
        </p:nvSpPr>
        <p:spPr>
          <a:xfrm>
            <a:off x="11746382" y="157276"/>
            <a:ext cx="75895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1050"/>
              <a:buFont typeface="Helvetica Neue"/>
              <a:buNone/>
            </a:pPr>
            <a:r>
              <a:rPr b="0" i="0" lang="en-US" sz="105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825" name="Google Shape;825;p23"/>
          <p:cNvSpPr/>
          <p:nvPr/>
        </p:nvSpPr>
        <p:spPr>
          <a:xfrm>
            <a:off x="3295497" y="476402"/>
            <a:ext cx="8896197" cy="63815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aude_avatar.png" id="826" name="Google Shape;8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76802" y="761695"/>
            <a:ext cx="381304" cy="38130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3"/>
          <p:cNvSpPr txBox="1"/>
          <p:nvPr/>
        </p:nvSpPr>
        <p:spPr>
          <a:xfrm>
            <a:off x="4200753" y="761695"/>
            <a:ext cx="58613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</a:t>
            </a:r>
            <a:endParaRPr/>
          </a:p>
        </p:txBody>
      </p:sp>
      <p:sp>
        <p:nvSpPr>
          <p:cNvPr id="828" name="Google Shape;828;p23"/>
          <p:cNvSpPr/>
          <p:nvPr/>
        </p:nvSpPr>
        <p:spPr>
          <a:xfrm>
            <a:off x="4860950" y="790956"/>
            <a:ext cx="335584" cy="161848"/>
          </a:xfrm>
          <a:prstGeom prst="roundRect">
            <a:avLst>
              <a:gd fmla="val 23530" name="adj"/>
            </a:avLst>
          </a:prstGeom>
          <a:solidFill>
            <a:srgbClr val="E8E8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3"/>
          <p:cNvSpPr txBox="1"/>
          <p:nvPr/>
        </p:nvSpPr>
        <p:spPr>
          <a:xfrm>
            <a:off x="4860950" y="790956"/>
            <a:ext cx="341985" cy="161848"/>
          </a:xfrm>
          <a:prstGeom prst="rect">
            <a:avLst/>
          </a:prstGeom>
          <a:noFill/>
          <a:ln>
            <a:noFill/>
          </a:ln>
        </p:spPr>
        <p:txBody>
          <a:bodyPr anchorCtr="0" anchor="t" bIns="19200" lIns="56675" spcFirstLastPara="1" rIns="56675" wrap="square" tIns="19200">
            <a:spAutoFit/>
          </a:bodyPr>
          <a:lstStyle/>
          <a:p>
            <a:pPr indent="0" lvl="0" marL="0" marR="0" rtl="0" algn="l">
              <a:lnSpc>
                <a:spcPct val="121026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18"/>
              <a:buFont typeface="Helvetica Neue"/>
              <a:buNone/>
            </a:pPr>
            <a:r>
              <a:rPr b="1" i="0" lang="en-US" sz="819" u="none" cap="none" strike="noStrike">
                <a:solidFill>
                  <a:srgbClr val="5A5A5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</a:t>
            </a:r>
            <a:endParaRPr/>
          </a:p>
        </p:txBody>
      </p:sp>
      <p:sp>
        <p:nvSpPr>
          <p:cNvPr id="830" name="Google Shape;830;p23"/>
          <p:cNvSpPr txBox="1"/>
          <p:nvPr/>
        </p:nvSpPr>
        <p:spPr>
          <a:xfrm>
            <a:off x="5281574" y="800100"/>
            <a:ext cx="336499" cy="142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387"/>
              </a:lnSpc>
              <a:spcBef>
                <a:spcPts val="0"/>
              </a:spcBef>
              <a:spcAft>
                <a:spcPts val="0"/>
              </a:spcAft>
              <a:buClr>
                <a:srgbClr val="696769"/>
              </a:buClr>
              <a:buSzPts val="980"/>
              <a:buFont typeface="Helvetica Neue"/>
              <a:buNone/>
            </a:pPr>
            <a:r>
              <a:rPr b="0" i="0" lang="en-US" sz="980" u="none" cap="none" strike="noStrike">
                <a:solidFill>
                  <a:srgbClr val="69676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</a:t>
            </a:r>
            <a:endParaRPr/>
          </a:p>
        </p:txBody>
      </p:sp>
      <p:sp>
        <p:nvSpPr>
          <p:cNvPr id="831" name="Google Shape;831;p23"/>
          <p:cNvSpPr txBox="1"/>
          <p:nvPr/>
        </p:nvSpPr>
        <p:spPr>
          <a:xfrm>
            <a:off x="4200753" y="1019556"/>
            <a:ext cx="7762341" cy="371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743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950"/>
              <a:buFont typeface="Helvetica Neue"/>
              <a:buNone/>
            </a:pPr>
            <a:r>
              <a:rPr b="1" i="0" lang="en-US" sz="195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Tag is live in beta.</a:t>
            </a:r>
            <a:endParaRPr/>
          </a:p>
        </p:txBody>
      </p:sp>
      <p:sp>
        <p:nvSpPr>
          <p:cNvPr id="832" name="Google Shape;832;p23"/>
          <p:cNvSpPr/>
          <p:nvPr/>
        </p:nvSpPr>
        <p:spPr>
          <a:xfrm>
            <a:off x="4200753" y="1600200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3"/>
          <p:cNvSpPr txBox="1"/>
          <p:nvPr/>
        </p:nvSpPr>
        <p:spPr>
          <a:xfrm>
            <a:off x="4200753" y="1600200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834" name="Google Shape;834;p23"/>
          <p:cNvSpPr txBox="1"/>
          <p:nvPr/>
        </p:nvSpPr>
        <p:spPr>
          <a:xfrm>
            <a:off x="4572000" y="1600200"/>
            <a:ext cx="6708952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Enterprise &amp; Team customers.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Rolling out now to eligible organizations.</a:t>
            </a:r>
            <a:endParaRPr/>
          </a:p>
        </p:txBody>
      </p:sp>
      <p:sp>
        <p:nvSpPr>
          <p:cNvPr id="835" name="Google Shape;835;p23"/>
          <p:cNvSpPr/>
          <p:nvPr/>
        </p:nvSpPr>
        <p:spPr>
          <a:xfrm>
            <a:off x="4200753" y="2009851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3"/>
          <p:cNvSpPr txBox="1"/>
          <p:nvPr/>
        </p:nvSpPr>
        <p:spPr>
          <a:xfrm>
            <a:off x="4200753" y="2009851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837" name="Google Shape;837;p23"/>
          <p:cNvSpPr txBox="1"/>
          <p:nvPr/>
        </p:nvSpPr>
        <p:spPr>
          <a:xfrm>
            <a:off x="4572000" y="2009851"/>
            <a:ext cx="6807708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Replaces the existing Claude in Slack app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same place, far more capable.</a:t>
            </a:r>
            <a:endParaRPr/>
          </a:p>
        </p:txBody>
      </p:sp>
      <p:sp>
        <p:nvSpPr>
          <p:cNvPr id="838" name="Google Shape;838;p23"/>
          <p:cNvSpPr/>
          <p:nvPr/>
        </p:nvSpPr>
        <p:spPr>
          <a:xfrm>
            <a:off x="4200753" y="2419502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ECB2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3"/>
          <p:cNvSpPr txBox="1"/>
          <p:nvPr/>
        </p:nvSpPr>
        <p:spPr>
          <a:xfrm>
            <a:off x="4200753" y="2419502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840" name="Google Shape;840;p23"/>
          <p:cNvSpPr txBox="1"/>
          <p:nvPr/>
        </p:nvSpPr>
        <p:spPr>
          <a:xfrm>
            <a:off x="4572000" y="2419502"/>
            <a:ext cx="4787798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Launch credits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provided to eligible orgs to get started.</a:t>
            </a:r>
            <a:endParaRPr/>
          </a:p>
        </p:txBody>
      </p:sp>
      <p:sp>
        <p:nvSpPr>
          <p:cNvPr id="841" name="Google Shape;841;p23"/>
          <p:cNvSpPr/>
          <p:nvPr/>
        </p:nvSpPr>
        <p:spPr>
          <a:xfrm>
            <a:off x="4200753" y="2829153"/>
            <a:ext cx="247802" cy="247802"/>
          </a:xfrm>
          <a:prstGeom prst="roundRect">
            <a:avLst>
              <a:gd fmla="val 26920" name="adj"/>
            </a:avLst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3"/>
          <p:cNvSpPr txBox="1"/>
          <p:nvPr/>
        </p:nvSpPr>
        <p:spPr>
          <a:xfrm>
            <a:off x="4200753" y="2829153"/>
            <a:ext cx="25237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✓</a:t>
            </a:r>
            <a:endParaRPr/>
          </a:p>
        </p:txBody>
      </p:sp>
      <p:sp>
        <p:nvSpPr>
          <p:cNvPr id="843" name="Google Shape;843;p23"/>
          <p:cNvSpPr txBox="1"/>
          <p:nvPr/>
        </p:nvSpPr>
        <p:spPr>
          <a:xfrm>
            <a:off x="4572000" y="2829153"/>
            <a:ext cx="4762195" cy="276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Runs on </a:t>
            </a:r>
            <a:r>
              <a:rPr b="1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Claude Opus 4.8</a:t>
            </a: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our most capable model.</a:t>
            </a:r>
            <a:endParaRPr/>
          </a:p>
        </p:txBody>
      </p:sp>
      <p:sp>
        <p:nvSpPr>
          <p:cNvPr id="844" name="Google Shape;844;p23"/>
          <p:cNvSpPr/>
          <p:nvPr/>
        </p:nvSpPr>
        <p:spPr>
          <a:xfrm>
            <a:off x="3676802" y="5838444"/>
            <a:ext cx="8134502" cy="790956"/>
          </a:xfrm>
          <a:prstGeom prst="roundRect">
            <a:avLst>
              <a:gd fmla="val 14460" name="adj"/>
            </a:avLst>
          </a:prstGeom>
          <a:solidFill>
            <a:srgbClr val="FFFFFF"/>
          </a:solidFill>
          <a:ln cap="flat" cmpd="sng" w="10150">
            <a:solidFill>
              <a:srgbClr val="B9B5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5" name="Google Shape;845;p23"/>
          <p:cNvCxnSpPr/>
          <p:nvPr/>
        </p:nvCxnSpPr>
        <p:spPr>
          <a:xfrm>
            <a:off x="3685946" y="6176772"/>
            <a:ext cx="8115300" cy="0"/>
          </a:xfrm>
          <a:prstGeom prst="straightConnector1">
            <a:avLst/>
          </a:prstGeom>
          <a:noFill/>
          <a:ln cap="flat" cmpd="sng" w="10150">
            <a:solidFill>
              <a:srgbClr val="EC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46" name="Google Shape;846;p23"/>
          <p:cNvSpPr txBox="1"/>
          <p:nvPr/>
        </p:nvSpPr>
        <p:spPr>
          <a:xfrm>
            <a:off x="3838651" y="5924397"/>
            <a:ext cx="102412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847" name="Google Shape;847;p23"/>
          <p:cNvSpPr txBox="1"/>
          <p:nvPr/>
        </p:nvSpPr>
        <p:spPr>
          <a:xfrm>
            <a:off x="4091939" y="5924397"/>
            <a:ext cx="4297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1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endParaRPr/>
          </a:p>
        </p:txBody>
      </p:sp>
      <p:sp>
        <p:nvSpPr>
          <p:cNvPr id="848" name="Google Shape;848;p23"/>
          <p:cNvSpPr txBox="1"/>
          <p:nvPr/>
        </p:nvSpPr>
        <p:spPr>
          <a:xfrm>
            <a:off x="4286707" y="5924397"/>
            <a:ext cx="95097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endParaRPr/>
          </a:p>
        </p:txBody>
      </p:sp>
      <p:sp>
        <p:nvSpPr>
          <p:cNvPr id="849" name="Google Shape;849;p23"/>
          <p:cNvSpPr/>
          <p:nvPr/>
        </p:nvSpPr>
        <p:spPr>
          <a:xfrm>
            <a:off x="4531766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3"/>
          <p:cNvSpPr txBox="1"/>
          <p:nvPr/>
        </p:nvSpPr>
        <p:spPr>
          <a:xfrm>
            <a:off x="4693615" y="5924397"/>
            <a:ext cx="85039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</a:t>
            </a:r>
            <a:endParaRPr/>
          </a:p>
        </p:txBody>
      </p:sp>
      <p:sp>
        <p:nvSpPr>
          <p:cNvPr id="851" name="Google Shape;851;p23"/>
          <p:cNvSpPr txBox="1"/>
          <p:nvPr/>
        </p:nvSpPr>
        <p:spPr>
          <a:xfrm>
            <a:off x="4929530" y="5924397"/>
            <a:ext cx="5120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•</a:t>
            </a:r>
            <a:endParaRPr/>
          </a:p>
        </p:txBody>
      </p:sp>
      <p:sp>
        <p:nvSpPr>
          <p:cNvPr id="852" name="Google Shape;852;p23"/>
          <p:cNvSpPr/>
          <p:nvPr/>
        </p:nvSpPr>
        <p:spPr>
          <a:xfrm>
            <a:off x="5131612" y="5934456"/>
            <a:ext cx="9144" cy="152704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3"/>
          <p:cNvSpPr txBox="1"/>
          <p:nvPr/>
        </p:nvSpPr>
        <p:spPr>
          <a:xfrm>
            <a:off x="5293461" y="5924397"/>
            <a:ext cx="117043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535"/>
              </a:lnSpc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120"/>
              <a:buFont typeface="Helvetica Neue"/>
              <a:buNone/>
            </a:pPr>
            <a:r>
              <a:rPr b="1" i="0" lang="en-US" sz="1120" u="none" cap="none" strike="noStrike">
                <a:solidFill>
                  <a:srgbClr val="9A9A9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</a:t>
            </a:r>
            <a:endParaRPr/>
          </a:p>
        </p:txBody>
      </p:sp>
      <p:sp>
        <p:nvSpPr>
          <p:cNvPr id="854" name="Google Shape;854;p23"/>
          <p:cNvSpPr txBox="1"/>
          <p:nvPr/>
        </p:nvSpPr>
        <p:spPr>
          <a:xfrm>
            <a:off x="3838651" y="6295644"/>
            <a:ext cx="2109520" cy="209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8D8D8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Message #announcements</a:t>
            </a:r>
            <a:endParaRPr/>
          </a:p>
        </p:txBody>
      </p:sp>
      <p:sp>
        <p:nvSpPr>
          <p:cNvPr id="855" name="Google Shape;855;p23"/>
          <p:cNvSpPr/>
          <p:nvPr/>
        </p:nvSpPr>
        <p:spPr>
          <a:xfrm>
            <a:off x="11306556" y="6228892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EB6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3"/>
          <p:cNvSpPr txBox="1"/>
          <p:nvPr/>
        </p:nvSpPr>
        <p:spPr>
          <a:xfrm>
            <a:off x="11306556" y="6228892"/>
            <a:ext cx="35021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g_dark.png" id="862" name="Google Shape;8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24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864" name="Google Shape;8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2646" y="171907"/>
            <a:ext cx="437997" cy="437997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4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643F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867" name="Google Shape;867;p24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4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869" name="Google Shape;869;p24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fmla="val 28260" name="adj"/>
            </a:avLst>
          </a:prstGeom>
          <a:solidFill>
            <a:srgbClr val="552E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4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C4D7"/>
              </a:buClr>
              <a:buSzPts val="1350"/>
              <a:buFont typeface="Helvetica Neue"/>
              <a:buNone/>
            </a:pPr>
            <a:r>
              <a:rPr b="1" i="0" lang="en-US" sz="1350" u="none" cap="none" strike="noStrike">
                <a:solidFill>
                  <a:srgbClr val="D7C4D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</a:t>
            </a:r>
            <a:endParaRPr/>
          </a:p>
        </p:txBody>
      </p:sp>
      <p:sp>
        <p:nvSpPr>
          <p:cNvPr id="871" name="Google Shape;871;p24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fmla="val 26190" name="adj"/>
            </a:avLst>
          </a:prstGeom>
          <a:solidFill>
            <a:srgbClr val="36C5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4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fmla="val 50000" name="adj"/>
            </a:avLst>
          </a:prstGeom>
          <a:solidFill>
            <a:srgbClr val="2BAC76"/>
          </a:solidFill>
          <a:ln cap="flat" cmpd="sng" w="27925">
            <a:solidFill>
              <a:srgbClr val="350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sh.png" id="873" name="Google Shape;87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9104" y="99029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/>
          <p:nvPr/>
        </p:nvSpPr>
        <p:spPr>
          <a:xfrm>
            <a:off x="363931" y="2381097"/>
            <a:ext cx="11463832" cy="857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50"/>
              <a:buFont typeface="Helvetica Neue"/>
              <a:buNone/>
            </a:pPr>
            <a:r>
              <a:rPr b="1" i="0" lang="en-US" sz="555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team just got bigger.</a:t>
            </a:r>
            <a:endParaRPr/>
          </a:p>
        </p:txBody>
      </p:sp>
      <p:sp>
        <p:nvSpPr>
          <p:cNvPr id="875" name="Google Shape;875;p24"/>
          <p:cNvSpPr txBox="1"/>
          <p:nvPr/>
        </p:nvSpPr>
        <p:spPr>
          <a:xfrm>
            <a:off x="363931" y="3448202"/>
            <a:ext cx="11463832" cy="267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348"/>
              </a:lnSpc>
              <a:spcBef>
                <a:spcPts val="0"/>
              </a:spcBef>
              <a:spcAft>
                <a:spcPts val="0"/>
              </a:spcAft>
              <a:buClr>
                <a:srgbClr val="E4D6E4"/>
              </a:buClr>
              <a:buSzPts val="1720"/>
              <a:buFont typeface="Helvetica Neue"/>
              <a:buNone/>
            </a:pPr>
            <a:r>
              <a:rPr b="0" i="0" lang="en-US" sz="1720" u="none" cap="none" strike="noStrike">
                <a:solidFill>
                  <a:srgbClr val="E4D6E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Slack. Tag Claude. See what it does.</a:t>
            </a:r>
            <a:endParaRPr/>
          </a:p>
        </p:txBody>
      </p:sp>
      <p:sp>
        <p:nvSpPr>
          <p:cNvPr id="876" name="Google Shape;876;p24"/>
          <p:cNvSpPr/>
          <p:nvPr/>
        </p:nvSpPr>
        <p:spPr>
          <a:xfrm>
            <a:off x="2667304" y="5009997"/>
            <a:ext cx="6858000" cy="609904"/>
          </a:xfrm>
          <a:prstGeom prst="roundRect">
            <a:avLst>
              <a:gd fmla="val 21880" name="adj"/>
            </a:avLst>
          </a:prstGeom>
          <a:solidFill>
            <a:srgbClr val="FFFFFF"/>
          </a:solidFill>
          <a:ln cap="flat" cmpd="sng" w="19050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4"/>
          <p:cNvSpPr/>
          <p:nvPr/>
        </p:nvSpPr>
        <p:spPr>
          <a:xfrm>
            <a:off x="2876702" y="5186476"/>
            <a:ext cx="924458" cy="256946"/>
          </a:xfrm>
          <a:prstGeom prst="roundRect">
            <a:avLst>
              <a:gd fmla="val 22220" name="adj"/>
            </a:avLst>
          </a:prstGeom>
          <a:solidFill>
            <a:srgbClr val="FBEA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4"/>
          <p:cNvSpPr txBox="1"/>
          <p:nvPr/>
        </p:nvSpPr>
        <p:spPr>
          <a:xfrm>
            <a:off x="2876702" y="5186476"/>
            <a:ext cx="942746" cy="256946"/>
          </a:xfrm>
          <a:prstGeom prst="rect">
            <a:avLst/>
          </a:prstGeom>
          <a:noFill/>
          <a:ln>
            <a:noFill/>
          </a:ln>
        </p:spPr>
        <p:txBody>
          <a:bodyPr anchorCtr="0" anchor="t" bIns="9125" lIns="66750" spcFirstLastPara="1" rIns="66750" wrap="square" tIns="91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500"/>
              <a:buFont typeface="Helvetica Neue"/>
              <a:buNone/>
            </a:pPr>
            <a:r>
              <a:rPr b="1" i="0" lang="en-US" sz="1500" u="none" cap="none" strike="noStrike">
                <a:solidFill>
                  <a:srgbClr val="D9775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@Claude</a:t>
            </a:r>
            <a:endParaRPr/>
          </a:p>
        </p:txBody>
      </p:sp>
      <p:sp>
        <p:nvSpPr>
          <p:cNvPr id="879" name="Google Shape;879;p24"/>
          <p:cNvSpPr txBox="1"/>
          <p:nvPr/>
        </p:nvSpPr>
        <p:spPr>
          <a:xfrm>
            <a:off x="3896258" y="5201107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500"/>
              <a:buFont typeface="Helvetica Neue"/>
              <a:buNone/>
            </a:pPr>
            <a:r>
              <a:rPr b="0" i="0" lang="en-US" sz="15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let's get started</a:t>
            </a:r>
            <a:endParaRPr/>
          </a:p>
        </p:txBody>
      </p:sp>
      <p:sp>
        <p:nvSpPr>
          <p:cNvPr id="880" name="Google Shape;880;p24"/>
          <p:cNvSpPr/>
          <p:nvPr/>
        </p:nvSpPr>
        <p:spPr>
          <a:xfrm>
            <a:off x="5318150" y="5210251"/>
            <a:ext cx="19202" cy="209397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4"/>
          <p:cNvSpPr txBox="1"/>
          <p:nvPr/>
        </p:nvSpPr>
        <p:spPr>
          <a:xfrm>
            <a:off x="9176004" y="5229453"/>
            <a:ext cx="142646" cy="171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1D1C1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➤</a:t>
            </a:r>
            <a:endParaRPr/>
          </a:p>
        </p:txBody>
      </p:sp>
      <p:sp>
        <p:nvSpPr>
          <p:cNvPr id="882" name="Google Shape;882;p24"/>
          <p:cNvSpPr txBox="1"/>
          <p:nvPr/>
        </p:nvSpPr>
        <p:spPr>
          <a:xfrm>
            <a:off x="2598724" y="5790895"/>
            <a:ext cx="6995160" cy="152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8FA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98FAA"/>
                </a:solidFill>
                <a:latin typeface="Arial"/>
                <a:ea typeface="Arial"/>
                <a:cs typeface="Arial"/>
                <a:sym typeface="Arial"/>
              </a:rPr>
              <a:t>CLAUDE TAG · ANTHROPIC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