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428292" y="2781604"/>
            <a:ext cx="3905402" cy="3905402"/>
          </a:xfrm>
          <a:prstGeom prst="rect">
            <a:avLst/>
          </a:prstGeom>
        </p:spPr>
      </p:pic>
      <p:sp>
        <p:nvSpPr>
          <p:cNvPr id="5" name="h2p-1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7" name="h2p-1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9" name="h2p-1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1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1" name="h2p-1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1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3" name="h2p-1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-text-11"/>
          <p:cNvSpPr txBox="1"/>
          <p:nvPr/>
        </p:nvSpPr>
        <p:spPr>
          <a:xfrm>
            <a:off x="1428292" y="1123797"/>
            <a:ext cx="7383779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D97757"/>
                </a:solidFill>
                <a:latin typeface="Menlo"/>
              </a:rPr>
              <a:t>INTRODUCING · CLAUDE TAG</a:t>
            </a:r>
          </a:p>
        </p:txBody>
      </p:sp>
      <p:sp>
        <p:nvSpPr>
          <p:cNvPr id="16" name="h2p-1-text-12"/>
          <p:cNvSpPr txBox="1"/>
          <p:nvPr/>
        </p:nvSpPr>
        <p:spPr>
          <a:xfrm>
            <a:off x="1428292" y="1505102"/>
            <a:ext cx="7383779" cy="16322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6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6300">
                <a:solidFill>
                  <a:srgbClr val="FFFFFF"/>
                </a:solidFill>
                <a:latin typeface="Helvetica Neue"/>
              </a:rPr>
              <a:t>Meet </a:t>
            </a:r>
            <a:r>
              <a:rPr b="1" sz="6300">
                <a:solidFill>
                  <a:srgbClr val="D97757"/>
                </a:solidFill>
                <a:latin typeface="Helvetica Neue"/>
              </a:rPr>
              <a:t>@Claude</a:t>
            </a:r>
            <a:r>
              <a:rPr b="1" sz="6300">
                <a:solidFill>
                  <a:srgbClr val="FFFFFF"/>
                </a:solidFill>
                <a:latin typeface="Helvetica Neue"/>
              </a:rPr>
              <a:t>,</a:t>
            </a:r>
          </a:p>
          <a:p>
            <a:pPr marL="0" indent="0" algn="l">
              <a:lnSpc>
                <a:spcPts val="64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6300">
                <a:solidFill>
                  <a:srgbClr val="FFFFFF"/>
                </a:solidFill>
                <a:latin typeface="Helvetica Neue"/>
              </a:rPr>
              <a:t>now on your team.</a:t>
            </a:r>
          </a:p>
        </p:txBody>
      </p:sp>
      <p:sp>
        <p:nvSpPr>
          <p:cNvPr id="17" name="h2p-1-text-13"/>
          <p:cNvSpPr txBox="1"/>
          <p:nvPr/>
        </p:nvSpPr>
        <p:spPr>
          <a:xfrm>
            <a:off x="1428292" y="3384194"/>
            <a:ext cx="5829300" cy="98572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5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0">
                <a:solidFill>
                  <a:srgbClr val="E4D6E4"/>
                </a:solidFill>
                <a:latin typeface="Helvetica Neue"/>
              </a:rPr>
              <a:t>Claude Tag turns Anthropic's most capable model into a teammate that lives inside your Slack — tagged, trusted, and always working.</a:t>
            </a:r>
          </a:p>
        </p:txBody>
      </p:sp>
      <p:sp>
        <p:nvSpPr>
          <p:cNvPr id="18" name="h2p-1-box-14"/>
          <p:cNvSpPr/>
          <p:nvPr/>
        </p:nvSpPr>
        <p:spPr>
          <a:xfrm>
            <a:off x="7629753" y="2935224"/>
            <a:ext cx="4187037" cy="2367381"/>
          </a:xfrm>
          <a:prstGeom prst="roundRect">
            <a:avLst>
              <a:gd name="adj" fmla="val 7240"/>
            </a:avLst>
          </a:prstGeom>
          <a:solidFill>
            <a:srgbClr val="2B0F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1-box-15"/>
          <p:cNvSpPr/>
          <p:nvPr/>
        </p:nvSpPr>
        <p:spPr>
          <a:xfrm>
            <a:off x="7488936" y="2769717"/>
            <a:ext cx="4205325" cy="2786176"/>
          </a:xfrm>
          <a:prstGeom prst="roundRect">
            <a:avLst>
              <a:gd name="adj" fmla="val 61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1-box-16"/>
          <p:cNvSpPr/>
          <p:nvPr/>
        </p:nvSpPr>
        <p:spPr>
          <a:xfrm>
            <a:off x="7726679" y="3129076"/>
            <a:ext cx="437083" cy="437083"/>
          </a:xfrm>
          <a:prstGeom prst="roundRect">
            <a:avLst>
              <a:gd name="adj" fmla="val 2398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1-text-17"/>
          <p:cNvSpPr txBox="1"/>
          <p:nvPr/>
        </p:nvSpPr>
        <p:spPr>
          <a:xfrm>
            <a:off x="7726679" y="3129076"/>
            <a:ext cx="445312" cy="43708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FFFFFF"/>
                </a:solidFill>
                <a:latin typeface="Helvetica Neue"/>
              </a:rPr>
              <a:t>DR</a:t>
            </a:r>
          </a:p>
        </p:txBody>
      </p:sp>
      <p:sp>
        <p:nvSpPr>
          <p:cNvPr id="22" name="h2p-1-text-18"/>
          <p:cNvSpPr txBox="1"/>
          <p:nvPr/>
        </p:nvSpPr>
        <p:spPr>
          <a:xfrm>
            <a:off x="8288121" y="3095244"/>
            <a:ext cx="666597" cy="2468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Dana R.</a:t>
            </a:r>
          </a:p>
        </p:txBody>
      </p:sp>
      <p:sp>
        <p:nvSpPr>
          <p:cNvPr id="23" name="h2p-1-text-19"/>
          <p:cNvSpPr txBox="1"/>
          <p:nvPr/>
        </p:nvSpPr>
        <p:spPr>
          <a:xfrm>
            <a:off x="9019641" y="3108960"/>
            <a:ext cx="479145" cy="1627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9:41 AM</a:t>
            </a:r>
          </a:p>
        </p:txBody>
      </p:sp>
      <p:sp>
        <p:nvSpPr>
          <p:cNvPr id="24" name="h2p-1-text-20"/>
          <p:cNvSpPr txBox="1"/>
          <p:nvPr/>
        </p:nvSpPr>
        <p:spPr>
          <a:xfrm>
            <a:off x="8299094" y="3246120"/>
            <a:ext cx="3161080" cy="72420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D97757"/>
                </a:solidFill>
                <a:latin typeface="Helvetica Neue"/>
              </a:rPr>
              <a:t>@Claude</a:t>
            </a:r>
            <a:r>
              <a:rPr sz="1500">
                <a:solidFill>
                  <a:srgbClr val="1D1C1D"/>
                </a:solidFill>
                <a:latin typeface="Helvetica Neue"/>
              </a:rPr>
              <a:t> can you draft the launch FAQ?</a:t>
            </a:r>
          </a:p>
        </p:txBody>
      </p:sp>
      <p:pic>
        <p:nvPicPr>
          <p:cNvPr id="25" name="Picture 24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9656" y="4128515"/>
            <a:ext cx="437083" cy="437083"/>
          </a:xfrm>
          <a:prstGeom prst="rect">
            <a:avLst/>
          </a:prstGeom>
        </p:spPr>
      </p:pic>
      <p:sp>
        <p:nvSpPr>
          <p:cNvPr id="26" name="h2p-1-text-21"/>
          <p:cNvSpPr txBox="1"/>
          <p:nvPr/>
        </p:nvSpPr>
        <p:spPr>
          <a:xfrm>
            <a:off x="8331098" y="4097426"/>
            <a:ext cx="595274" cy="2441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Claude</a:t>
            </a:r>
          </a:p>
        </p:txBody>
      </p:sp>
      <p:sp>
        <p:nvSpPr>
          <p:cNvPr id="27" name="h2p-1-box-22"/>
          <p:cNvSpPr/>
          <p:nvPr/>
        </p:nvSpPr>
        <p:spPr>
          <a:xfrm>
            <a:off x="8992209" y="4107484"/>
            <a:ext cx="341985" cy="176479"/>
          </a:xfrm>
          <a:prstGeom prst="roundRect">
            <a:avLst>
              <a:gd name="adj" fmla="val 2160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1-text-23"/>
          <p:cNvSpPr txBox="1"/>
          <p:nvPr/>
        </p:nvSpPr>
        <p:spPr>
          <a:xfrm>
            <a:off x="8992209" y="4107484"/>
            <a:ext cx="349300" cy="176479"/>
          </a:xfrm>
          <a:prstGeom prst="rect">
            <a:avLst/>
          </a:prstGeom>
          <a:noFill/>
        </p:spPr>
        <p:txBody>
          <a:bodyPr wrap="square" lIns="56692" tIns="19202" rIns="56692" bIns="19202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B65A3C"/>
                </a:solidFill>
                <a:latin typeface="Helvetica Neue"/>
              </a:rPr>
              <a:t>APP</a:t>
            </a:r>
          </a:p>
        </p:txBody>
      </p:sp>
      <p:sp>
        <p:nvSpPr>
          <p:cNvPr id="29" name="h2p-1-text-24"/>
          <p:cNvSpPr txBox="1"/>
          <p:nvPr/>
        </p:nvSpPr>
        <p:spPr>
          <a:xfrm>
            <a:off x="9413748" y="4092854"/>
            <a:ext cx="479145" cy="16276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9:41 AM</a:t>
            </a:r>
          </a:p>
        </p:txBody>
      </p:sp>
      <p:sp>
        <p:nvSpPr>
          <p:cNvPr id="30" name="h2p-1-text-25"/>
          <p:cNvSpPr txBox="1"/>
          <p:nvPr/>
        </p:nvSpPr>
        <p:spPr>
          <a:xfrm>
            <a:off x="8342985" y="4244644"/>
            <a:ext cx="3161080" cy="7242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D1C1D"/>
                </a:solidFill>
                <a:latin typeface="Helvetica Neue"/>
              </a:rPr>
              <a:t>On it — pulling context from </a:t>
            </a:r>
            <a:r>
              <a:rPr b="1" sz="1500">
                <a:solidFill>
                  <a:srgbClr val="1264A3"/>
                </a:solidFill>
                <a:latin typeface="Helvetica Neue"/>
              </a:rPr>
              <a:t>#launch</a:t>
            </a:r>
            <a:r>
              <a:rPr sz="1500">
                <a:solidFill>
                  <a:srgbClr val="1D1C1D"/>
                </a:solidFill>
                <a:latin typeface="Helvetica Neue"/>
              </a:rPr>
              <a:t> now.</a:t>
            </a:r>
          </a:p>
        </p:txBody>
      </p:sp>
      <p:sp>
        <p:nvSpPr>
          <p:cNvPr id="31" name="h2p-1-box-26"/>
          <p:cNvSpPr/>
          <p:nvPr/>
        </p:nvSpPr>
        <p:spPr>
          <a:xfrm>
            <a:off x="8373160" y="5052974"/>
            <a:ext cx="484632" cy="258775"/>
          </a:xfrm>
          <a:prstGeom prst="roundRect">
            <a:avLst>
              <a:gd name="adj" fmla="val 47890"/>
            </a:avLst>
          </a:prstGeom>
          <a:solidFill>
            <a:srgbClr val="EAF1FA"/>
          </a:solidFill>
          <a:ln w="1016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1-box-27"/>
          <p:cNvSpPr/>
          <p:nvPr/>
        </p:nvSpPr>
        <p:spPr>
          <a:xfrm>
            <a:off x="8490204" y="5130698"/>
            <a:ext cx="108813" cy="108813"/>
          </a:xfrm>
          <a:prstGeom prst="roundRect">
            <a:avLst>
              <a:gd name="adj" fmla="val 50000"/>
            </a:avLst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-box-28"/>
          <p:cNvSpPr/>
          <p:nvPr/>
        </p:nvSpPr>
        <p:spPr>
          <a:xfrm>
            <a:off x="8922715" y="5029200"/>
            <a:ext cx="484632" cy="258775"/>
          </a:xfrm>
          <a:prstGeom prst="roundRect">
            <a:avLst>
              <a:gd name="adj" fmla="val 47890"/>
            </a:avLst>
          </a:prstGeom>
          <a:solidFill>
            <a:srgbClr val="EAF1FA"/>
          </a:solidFill>
          <a:ln w="1016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h2p-1-box-29"/>
          <p:cNvSpPr/>
          <p:nvPr/>
        </p:nvSpPr>
        <p:spPr>
          <a:xfrm>
            <a:off x="9039758" y="5106924"/>
            <a:ext cx="108813" cy="108813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2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39304" y="-1428292"/>
            <a:ext cx="4953304" cy="4953304"/>
          </a:xfrm>
          <a:prstGeom prst="rect">
            <a:avLst/>
          </a:prstGeom>
        </p:spPr>
      </p:pic>
      <p:sp>
        <p:nvSpPr>
          <p:cNvPr id="5" name="h2p-2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7" name="h2p-2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2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9" name="h2p-2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2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1" name="h2p-2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2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3" name="h2p-2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2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2-text-11"/>
          <p:cNvSpPr txBox="1"/>
          <p:nvPr/>
        </p:nvSpPr>
        <p:spPr>
          <a:xfrm>
            <a:off x="1428292" y="1428292"/>
            <a:ext cx="893826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D97757"/>
                </a:solidFill>
                <a:latin typeface="Menlo"/>
              </a:rPr>
              <a:t>THE WHOLE IDEA</a:t>
            </a:r>
          </a:p>
        </p:txBody>
      </p:sp>
      <p:sp>
        <p:nvSpPr>
          <p:cNvPr id="16" name="h2p-2-text-12"/>
          <p:cNvSpPr txBox="1"/>
          <p:nvPr/>
        </p:nvSpPr>
        <p:spPr>
          <a:xfrm>
            <a:off x="1428292" y="1848002"/>
            <a:ext cx="8938260" cy="24003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6000">
                <a:solidFill>
                  <a:srgbClr val="FFFFFF"/>
                </a:solidFill>
                <a:latin typeface="Helvetica Neue"/>
              </a:rPr>
              <a:t>Tag it.</a:t>
            </a:r>
          </a:p>
          <a:p>
            <a:pPr marL="0" indent="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6000">
                <a:solidFill>
                  <a:srgbClr val="FFFFFF"/>
                </a:solidFill>
                <a:latin typeface="Helvetica Neue"/>
              </a:rPr>
              <a:t>Then go do</a:t>
            </a:r>
          </a:p>
          <a:p>
            <a:pPr marL="0" indent="0" algn="l">
              <a:lnSpc>
                <a:spcPts val="63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6000">
                <a:solidFill>
                  <a:srgbClr val="FFFFFF"/>
                </a:solidFill>
                <a:latin typeface="Helvetica Neue"/>
              </a:rPr>
              <a:t>something else.</a:t>
            </a:r>
          </a:p>
        </p:txBody>
      </p:sp>
      <p:sp>
        <p:nvSpPr>
          <p:cNvPr id="17" name="h2p-2-text-13"/>
          <p:cNvSpPr txBox="1"/>
          <p:nvPr/>
        </p:nvSpPr>
        <p:spPr>
          <a:xfrm>
            <a:off x="1428292" y="4515307"/>
            <a:ext cx="6217920" cy="5138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E4D6E4"/>
                </a:solidFill>
                <a:latin typeface="Helvetica Neue"/>
              </a:rPr>
              <a:t>No new app to learn. No prompt to perfect. You already know how to @mention a teammate.</a:t>
            </a:r>
          </a:p>
        </p:txBody>
      </p:sp>
      <p:sp>
        <p:nvSpPr>
          <p:cNvPr id="18" name="h2p-2-box-14"/>
          <p:cNvSpPr/>
          <p:nvPr/>
        </p:nvSpPr>
        <p:spPr>
          <a:xfrm>
            <a:off x="1428292" y="5257800"/>
            <a:ext cx="8001000" cy="629107"/>
          </a:xfrm>
          <a:prstGeom prst="roundRect">
            <a:avLst>
              <a:gd name="adj" fmla="val 21210"/>
            </a:avLst>
          </a:prstGeom>
          <a:solidFill>
            <a:srgbClr val="FFFFFF"/>
          </a:solidFill>
          <a:ln w="1905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2-box-15"/>
          <p:cNvSpPr/>
          <p:nvPr/>
        </p:nvSpPr>
        <p:spPr>
          <a:xfrm>
            <a:off x="1638604" y="5443423"/>
            <a:ext cx="924458" cy="256946"/>
          </a:xfrm>
          <a:prstGeom prst="roundRect">
            <a:avLst>
              <a:gd name="adj" fmla="val 2222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2-text-16"/>
          <p:cNvSpPr txBox="1"/>
          <p:nvPr/>
        </p:nvSpPr>
        <p:spPr>
          <a:xfrm>
            <a:off x="1638604" y="5443423"/>
            <a:ext cx="942746" cy="256946"/>
          </a:xfrm>
          <a:prstGeom prst="rect">
            <a:avLst/>
          </a:prstGeom>
          <a:noFill/>
        </p:spPr>
        <p:txBody>
          <a:bodyPr wrap="square" lIns="66751" tIns="9144" rIns="66751" bIns="9144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D97757"/>
                </a:solidFill>
                <a:latin typeface="Helvetica Neue"/>
              </a:rPr>
              <a:t>@Claude</a:t>
            </a:r>
          </a:p>
        </p:txBody>
      </p:sp>
      <p:sp>
        <p:nvSpPr>
          <p:cNvPr id="21" name="h2p-2-text-17"/>
          <p:cNvSpPr txBox="1"/>
          <p:nvPr/>
        </p:nvSpPr>
        <p:spPr>
          <a:xfrm>
            <a:off x="2658160" y="5458053"/>
            <a:ext cx="4910328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D1C1D"/>
                </a:solidFill>
                <a:latin typeface="Helvetica Neue"/>
              </a:rPr>
              <a:t>summarize today's standup and DM me the action items</a:t>
            </a:r>
          </a:p>
        </p:txBody>
      </p:sp>
      <p:sp>
        <p:nvSpPr>
          <p:cNvPr id="22" name="h2p-2-box-18"/>
          <p:cNvSpPr/>
          <p:nvPr/>
        </p:nvSpPr>
        <p:spPr>
          <a:xfrm>
            <a:off x="7566660" y="5467197"/>
            <a:ext cx="19202" cy="209397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2-text-19"/>
          <p:cNvSpPr txBox="1"/>
          <p:nvPr/>
        </p:nvSpPr>
        <p:spPr>
          <a:xfrm>
            <a:off x="9080906" y="5486400"/>
            <a:ext cx="14264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D1C1D"/>
                </a:solidFill>
                <a:latin typeface="Helvetica Neue"/>
              </a:rPr>
              <a:t>➤</a:t>
            </a:r>
          </a:p>
        </p:txBody>
      </p:sp>
      <p:sp>
        <p:nvSpPr>
          <p:cNvPr id="24" name="h2p-2-text-20"/>
          <p:cNvSpPr txBox="1"/>
          <p:nvPr/>
        </p:nvSpPr>
        <p:spPr>
          <a:xfrm>
            <a:off x="1428292" y="6000292"/>
            <a:ext cx="8161020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B9A7BA"/>
                </a:solidFill>
                <a:latin typeface="Menlo"/>
              </a:rPr>
              <a:t>message #team-standup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3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2p-3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6" name="h2p-3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3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8" name="h2p-3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3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0" name="h2p-3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3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2" name="h2p-3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3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3-box-11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4204" y="604418"/>
            <a:ext cx="2571293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2p-3-text-13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FBFD0"/>
                </a:solidFill>
                <a:latin typeface="Helvetica Neue"/>
              </a:rPr>
              <a:t>▾</a:t>
            </a:r>
          </a:p>
        </p:txBody>
      </p:sp>
      <p:sp>
        <p:nvSpPr>
          <p:cNvPr id="17" name="h2p-3-text-14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</p:spPr>
        <p:txBody>
          <a:bodyPr wrap="square" lIns="152704" tIns="171907" rIns="152704" bIns="56692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A98FAA"/>
                </a:solidFill>
                <a:latin typeface="Helvetica Neue"/>
              </a:rPr>
              <a:t>CHANNELS</a:t>
            </a:r>
          </a:p>
        </p:txBody>
      </p:sp>
      <p:sp>
        <p:nvSpPr>
          <p:cNvPr id="18" name="h2p-3-text-15"/>
          <p:cNvSpPr txBox="1"/>
          <p:nvPr/>
        </p:nvSpPr>
        <p:spPr>
          <a:xfrm>
            <a:off x="875995" y="1047902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19" name="h2p-3-text-16"/>
          <p:cNvSpPr txBox="1"/>
          <p:nvPr/>
        </p:nvSpPr>
        <p:spPr>
          <a:xfrm>
            <a:off x="875995" y="1380744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0" name="h2p-3-box-17"/>
          <p:cNvSpPr/>
          <p:nvPr/>
        </p:nvSpPr>
        <p:spPr>
          <a:xfrm>
            <a:off x="2946196" y="1399946"/>
            <a:ext cx="196596" cy="161848"/>
          </a:xfrm>
          <a:prstGeom prst="roundRect">
            <a:avLst>
              <a:gd name="adj" fmla="val 50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3-text-18"/>
          <p:cNvSpPr txBox="1"/>
          <p:nvPr/>
        </p:nvSpPr>
        <p:spPr>
          <a:xfrm>
            <a:off x="2946196" y="1399946"/>
            <a:ext cx="201168" cy="161848"/>
          </a:xfrm>
          <a:prstGeom prst="rect">
            <a:avLst/>
          </a:prstGeom>
          <a:noFill/>
        </p:spPr>
        <p:txBody>
          <a:bodyPr wrap="square" lIns="66751" tIns="9144" rIns="66751" bIns="9144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2" name="h2p-3-box-19"/>
          <p:cNvSpPr/>
          <p:nvPr/>
        </p:nvSpPr>
        <p:spPr>
          <a:xfrm>
            <a:off x="724204" y="1647748"/>
            <a:ext cx="2571292" cy="333756"/>
          </a:xfrm>
          <a:prstGeom prst="rect">
            <a:avLst/>
          </a:prstGeom>
          <a:solidFill>
            <a:srgbClr val="11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3-text-20"/>
          <p:cNvSpPr txBox="1"/>
          <p:nvPr/>
        </p:nvSpPr>
        <p:spPr>
          <a:xfrm>
            <a:off x="875995" y="1714500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FFFFFF"/>
                </a:solidFill>
                <a:latin typeface="Helvetica Neue"/>
              </a:rPr>
              <a:t>#</a:t>
            </a:r>
          </a:p>
        </p:txBody>
      </p:sp>
      <p:sp>
        <p:nvSpPr>
          <p:cNvPr id="24" name="h2p-3-text-21"/>
          <p:cNvSpPr txBox="1"/>
          <p:nvPr/>
        </p:nvSpPr>
        <p:spPr>
          <a:xfrm>
            <a:off x="875995" y="2048256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5" name="h2p-3-text-22"/>
          <p:cNvSpPr txBox="1"/>
          <p:nvPr/>
        </p:nvSpPr>
        <p:spPr>
          <a:xfrm>
            <a:off x="875995" y="2381097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6" name="h2p-3-text-23"/>
          <p:cNvSpPr txBox="1"/>
          <p:nvPr/>
        </p:nvSpPr>
        <p:spPr>
          <a:xfrm>
            <a:off x="724204" y="2648102"/>
            <a:ext cx="2623413" cy="371246"/>
          </a:xfrm>
          <a:prstGeom prst="rect">
            <a:avLst/>
          </a:prstGeom>
          <a:noFill/>
        </p:spPr>
        <p:txBody>
          <a:bodyPr wrap="square" lIns="152704" tIns="171907" rIns="152704" bIns="56692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A98FAA"/>
                </a:solidFill>
                <a:latin typeface="Helvetica Neue"/>
              </a:rPr>
              <a:t>DIRECT MESSAGES</a:t>
            </a:r>
          </a:p>
        </p:txBody>
      </p:sp>
      <p:pic>
        <p:nvPicPr>
          <p:cNvPr id="27" name="Picture 26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" y="3086100"/>
            <a:ext cx="190195" cy="190195"/>
          </a:xfrm>
          <a:prstGeom prst="rect">
            <a:avLst/>
          </a:prstGeom>
        </p:spPr>
      </p:pic>
      <p:sp>
        <p:nvSpPr>
          <p:cNvPr id="28" name="h2p-3-box-24"/>
          <p:cNvSpPr/>
          <p:nvPr/>
        </p:nvSpPr>
        <p:spPr>
          <a:xfrm>
            <a:off x="3057753" y="3138220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3-box-25"/>
          <p:cNvSpPr/>
          <p:nvPr/>
        </p:nvSpPr>
        <p:spPr>
          <a:xfrm>
            <a:off x="875995" y="3409797"/>
            <a:ext cx="190195" cy="190195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3-text-26"/>
          <p:cNvSpPr txBox="1"/>
          <p:nvPr/>
        </p:nvSpPr>
        <p:spPr>
          <a:xfrm>
            <a:off x="875995" y="3409797"/>
            <a:ext cx="193852" cy="1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31" name="h2p-3-box-27"/>
          <p:cNvSpPr/>
          <p:nvPr/>
        </p:nvSpPr>
        <p:spPr>
          <a:xfrm>
            <a:off x="3057753" y="3461918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3-box-28"/>
          <p:cNvSpPr/>
          <p:nvPr/>
        </p:nvSpPr>
        <p:spPr>
          <a:xfrm>
            <a:off x="875995" y="3733495"/>
            <a:ext cx="190195" cy="190195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3-text-29"/>
          <p:cNvSpPr txBox="1"/>
          <p:nvPr/>
        </p:nvSpPr>
        <p:spPr>
          <a:xfrm>
            <a:off x="875995" y="3733495"/>
            <a:ext cx="193852" cy="1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34" name="h2p-3-box-30"/>
          <p:cNvSpPr/>
          <p:nvPr/>
        </p:nvSpPr>
        <p:spPr>
          <a:xfrm>
            <a:off x="3057753" y="3786530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3-box-31"/>
          <p:cNvSpPr/>
          <p:nvPr/>
        </p:nvSpPr>
        <p:spPr>
          <a:xfrm>
            <a:off x="3295497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295497" y="604418"/>
            <a:ext cx="8896198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2p-3-text-32"/>
          <p:cNvSpPr txBox="1"/>
          <p:nvPr/>
        </p:nvSpPr>
        <p:spPr>
          <a:xfrm>
            <a:off x="3562502" y="181051"/>
            <a:ext cx="10789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96769"/>
                </a:solidFill>
                <a:latin typeface="Helvetica Neue"/>
              </a:rPr>
              <a:t>#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821631" y="219456"/>
            <a:ext cx="0" cy="16184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h2p-3-text-34"/>
          <p:cNvSpPr txBox="1"/>
          <p:nvPr/>
        </p:nvSpPr>
        <p:spPr>
          <a:xfrm>
            <a:off x="4817059" y="219456"/>
            <a:ext cx="1527962" cy="161848"/>
          </a:xfrm>
          <a:prstGeom prst="rect">
            <a:avLst/>
          </a:prstGeom>
          <a:noFill/>
        </p:spPr>
        <p:txBody>
          <a:bodyPr wrap="square" lIns="133502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696769"/>
                </a:solidFill>
                <a:latin typeface="Helvetica Neue"/>
              </a:rPr>
              <a:t>What is this, exactly?</a:t>
            </a:r>
          </a:p>
        </p:txBody>
      </p:sp>
      <p:sp>
        <p:nvSpPr>
          <p:cNvPr id="40" name="h2p-3-box-35"/>
          <p:cNvSpPr/>
          <p:nvPr/>
        </p:nvSpPr>
        <p:spPr>
          <a:xfrm>
            <a:off x="11069726" y="128930"/>
            <a:ext cx="854964" cy="342900"/>
          </a:xfrm>
          <a:prstGeom prst="roundRect">
            <a:avLst>
              <a:gd name="adj" fmla="val 22220"/>
            </a:avLst>
          </a:prstGeom>
          <a:noFill/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2p-3-box-36"/>
          <p:cNvSpPr/>
          <p:nvPr/>
        </p:nvSpPr>
        <p:spPr>
          <a:xfrm>
            <a:off x="111172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2p-3-text-37"/>
          <p:cNvSpPr txBox="1"/>
          <p:nvPr/>
        </p:nvSpPr>
        <p:spPr>
          <a:xfrm>
            <a:off x="111172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43" name="h2p-3-box-38"/>
          <p:cNvSpPr/>
          <p:nvPr/>
        </p:nvSpPr>
        <p:spPr>
          <a:xfrm>
            <a:off x="11289182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3-text-39"/>
          <p:cNvSpPr txBox="1"/>
          <p:nvPr/>
        </p:nvSpPr>
        <p:spPr>
          <a:xfrm>
            <a:off x="11289182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45" name="h2p-3-box-40"/>
          <p:cNvSpPr/>
          <p:nvPr/>
        </p:nvSpPr>
        <p:spPr>
          <a:xfrm>
            <a:off x="114601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EB6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2p-3-text-41"/>
          <p:cNvSpPr txBox="1"/>
          <p:nvPr/>
        </p:nvSpPr>
        <p:spPr>
          <a:xfrm>
            <a:off x="114601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S</a:t>
            </a:r>
          </a:p>
        </p:txBody>
      </p:sp>
      <p:sp>
        <p:nvSpPr>
          <p:cNvPr id="47" name="h2p-3-box-42"/>
          <p:cNvSpPr/>
          <p:nvPr/>
        </p:nvSpPr>
        <p:spPr>
          <a:xfrm>
            <a:off x="3676802" y="895197"/>
            <a:ext cx="418795" cy="418795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2p-3-text-43"/>
          <p:cNvSpPr txBox="1"/>
          <p:nvPr/>
        </p:nvSpPr>
        <p:spPr>
          <a:xfrm>
            <a:off x="3676802" y="895197"/>
            <a:ext cx="427939" cy="4187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FFFFFF"/>
                </a:solidFill>
                <a:latin typeface="Helvetica Neue"/>
              </a:rPr>
              <a:t>DR</a:t>
            </a:r>
          </a:p>
        </p:txBody>
      </p:sp>
      <p:sp>
        <p:nvSpPr>
          <p:cNvPr id="49" name="h2p-3-text-44"/>
          <p:cNvSpPr txBox="1"/>
          <p:nvPr/>
        </p:nvSpPr>
        <p:spPr>
          <a:xfrm>
            <a:off x="4238244" y="895197"/>
            <a:ext cx="65745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Dana R.</a:t>
            </a:r>
          </a:p>
        </p:txBody>
      </p:sp>
      <p:sp>
        <p:nvSpPr>
          <p:cNvPr id="50" name="h2p-3-text-45"/>
          <p:cNvSpPr txBox="1"/>
          <p:nvPr/>
        </p:nvSpPr>
        <p:spPr>
          <a:xfrm>
            <a:off x="4968849" y="933602"/>
            <a:ext cx="543153" cy="142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10:02 AM</a:t>
            </a:r>
          </a:p>
        </p:txBody>
      </p:sp>
      <p:sp>
        <p:nvSpPr>
          <p:cNvPr id="51" name="h2p-3-text-46"/>
          <p:cNvSpPr txBox="1"/>
          <p:nvPr/>
        </p:nvSpPr>
        <p:spPr>
          <a:xfrm>
            <a:off x="4238244" y="1152144"/>
            <a:ext cx="7723936" cy="2953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D1C1D"/>
                </a:solidFill>
                <a:latin typeface="Helvetica Neue"/>
              </a:rPr>
              <a:t>So what are you, exactly? A bot?</a:t>
            </a:r>
          </a:p>
        </p:txBody>
      </p:sp>
      <p:pic>
        <p:nvPicPr>
          <p:cNvPr id="52" name="Picture 51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802" y="1656892"/>
            <a:ext cx="418795" cy="418795"/>
          </a:xfrm>
          <a:prstGeom prst="rect">
            <a:avLst/>
          </a:prstGeom>
        </p:spPr>
      </p:pic>
      <p:sp>
        <p:nvSpPr>
          <p:cNvPr id="53" name="h2p-3-text-47"/>
          <p:cNvSpPr txBox="1"/>
          <p:nvPr/>
        </p:nvSpPr>
        <p:spPr>
          <a:xfrm>
            <a:off x="4238244" y="1656892"/>
            <a:ext cx="58613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Claude</a:t>
            </a:r>
          </a:p>
        </p:txBody>
      </p:sp>
      <p:sp>
        <p:nvSpPr>
          <p:cNvPr id="54" name="h2p-3-box-48"/>
          <p:cNvSpPr/>
          <p:nvPr/>
        </p:nvSpPr>
        <p:spPr>
          <a:xfrm>
            <a:off x="4899355" y="1686153"/>
            <a:ext cx="335584" cy="161848"/>
          </a:xfrm>
          <a:prstGeom prst="roundRect">
            <a:avLst>
              <a:gd name="adj" fmla="val 2353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h2p-3-text-49"/>
          <p:cNvSpPr txBox="1"/>
          <p:nvPr/>
        </p:nvSpPr>
        <p:spPr>
          <a:xfrm>
            <a:off x="4899355" y="1686153"/>
            <a:ext cx="341985" cy="161848"/>
          </a:xfrm>
          <a:prstGeom prst="rect">
            <a:avLst/>
          </a:prstGeom>
          <a:noFill/>
        </p:spPr>
        <p:txBody>
          <a:bodyPr wrap="square" lIns="56692" tIns="19202" rIns="56692" bIns="19202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B65A3C"/>
                </a:solidFill>
                <a:latin typeface="Helvetica Neue"/>
              </a:rPr>
              <a:t>APP</a:t>
            </a:r>
          </a:p>
        </p:txBody>
      </p:sp>
      <p:sp>
        <p:nvSpPr>
          <p:cNvPr id="56" name="h2p-3-text-50"/>
          <p:cNvSpPr txBox="1"/>
          <p:nvPr/>
        </p:nvSpPr>
        <p:spPr>
          <a:xfrm>
            <a:off x="5319979" y="1695297"/>
            <a:ext cx="543153" cy="142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10:02 AM</a:t>
            </a:r>
          </a:p>
        </p:txBody>
      </p:sp>
      <p:sp>
        <p:nvSpPr>
          <p:cNvPr id="57" name="h2p-3-text-51"/>
          <p:cNvSpPr txBox="1"/>
          <p:nvPr/>
        </p:nvSpPr>
        <p:spPr>
          <a:xfrm>
            <a:off x="4238244" y="1914753"/>
            <a:ext cx="7723936" cy="21433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80">
                <a:solidFill>
                  <a:srgbClr val="1D1C1D"/>
                </a:solidFill>
                <a:latin typeface="Helvetica Neue"/>
              </a:rPr>
              <a:t>Not a bot — a </a:t>
            </a:r>
            <a:r>
              <a:rPr b="1" sz="1880">
                <a:solidFill>
                  <a:srgbClr val="1D1C1D"/>
                </a:solidFill>
                <a:latin typeface="Helvetica Neue"/>
              </a:rPr>
              <a:t>teammate</a:t>
            </a:r>
            <a:r>
              <a:rPr sz="1880">
                <a:solidFill>
                  <a:srgbClr val="1D1C1D"/>
                </a:solidFill>
                <a:latin typeface="Helvetica Neue"/>
              </a:rPr>
              <a:t>. There's one of me in this channel, working alongside all of you.</a:t>
            </a:r>
          </a:p>
          <a:p>
            <a:pPr marL="0" indent="0" algn="l">
              <a:lnSpc>
                <a:spcPts val="28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880">
                <a:solidFill>
                  <a:srgbClr val="1D1C1D"/>
                </a:solidFill>
                <a:latin typeface="Helvetica Neue"/>
              </a:rPr>
              <a:t>You </a:t>
            </a:r>
            <a:r>
              <a:rPr b="1" sz="1880">
                <a:solidFill>
                  <a:srgbClr val="D97757"/>
                </a:solidFill>
                <a:latin typeface="Helvetica Neue"/>
              </a:rPr>
              <a:t>@Claude</a:t>
            </a:r>
            <a:r>
              <a:rPr sz="1880">
                <a:solidFill>
                  <a:srgbClr val="1D1C1D"/>
                </a:solidFill>
                <a:latin typeface="Helvetica Neue"/>
              </a:rPr>
              <a:t> me like anyone else. I read the channel, pick up context, break the request into steps, use the tools I'm given, and reply right here in the thread.</a:t>
            </a:r>
          </a:p>
        </p:txBody>
      </p:sp>
      <p:sp>
        <p:nvSpPr>
          <p:cNvPr id="58" name="h2p-3-box-52"/>
          <p:cNvSpPr/>
          <p:nvPr/>
        </p:nvSpPr>
        <p:spPr>
          <a:xfrm>
            <a:off x="4238244" y="4162348"/>
            <a:ext cx="474573" cy="23774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 w="1016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h2p-3-box-53"/>
          <p:cNvSpPr/>
          <p:nvPr/>
        </p:nvSpPr>
        <p:spPr>
          <a:xfrm>
            <a:off x="4352544" y="4229100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h2p-3-box-54"/>
          <p:cNvSpPr/>
          <p:nvPr/>
        </p:nvSpPr>
        <p:spPr>
          <a:xfrm>
            <a:off x="4788712" y="4162348"/>
            <a:ext cx="474573" cy="23774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 w="1016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h2p-3-box-55"/>
          <p:cNvSpPr/>
          <p:nvPr/>
        </p:nvSpPr>
        <p:spPr>
          <a:xfrm>
            <a:off x="4903012" y="4229100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h2p-3-box-56"/>
          <p:cNvSpPr/>
          <p:nvPr/>
        </p:nvSpPr>
        <p:spPr>
          <a:xfrm>
            <a:off x="5340096" y="4162348"/>
            <a:ext cx="474573" cy="23774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 w="1016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h2p-3-box-57"/>
          <p:cNvSpPr/>
          <p:nvPr/>
        </p:nvSpPr>
        <p:spPr>
          <a:xfrm>
            <a:off x="5454396" y="4229100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4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2p-4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6" name="h2p-4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4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8" name="h2p-4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4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0" name="h2p-4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4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2" name="h2p-4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4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4-box-11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4204" y="604418"/>
            <a:ext cx="2571293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2p-4-text-13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FBFD0"/>
                </a:solidFill>
                <a:latin typeface="Helvetica Neue"/>
              </a:rPr>
              <a:t>▾</a:t>
            </a:r>
          </a:p>
        </p:txBody>
      </p:sp>
      <p:sp>
        <p:nvSpPr>
          <p:cNvPr id="17" name="h2p-4-text-14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</p:spPr>
        <p:txBody>
          <a:bodyPr wrap="square" lIns="152704" tIns="171907" rIns="152704" bIns="56692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A98FAA"/>
                </a:solidFill>
                <a:latin typeface="Helvetica Neue"/>
              </a:rPr>
              <a:t>CHANNELS</a:t>
            </a:r>
          </a:p>
        </p:txBody>
      </p:sp>
      <p:sp>
        <p:nvSpPr>
          <p:cNvPr id="18" name="h2p-4-text-15"/>
          <p:cNvSpPr txBox="1"/>
          <p:nvPr/>
        </p:nvSpPr>
        <p:spPr>
          <a:xfrm>
            <a:off x="875995" y="1047902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19" name="h2p-4-text-16"/>
          <p:cNvSpPr txBox="1"/>
          <p:nvPr/>
        </p:nvSpPr>
        <p:spPr>
          <a:xfrm>
            <a:off x="875995" y="1380744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0" name="h2p-4-box-17"/>
          <p:cNvSpPr/>
          <p:nvPr/>
        </p:nvSpPr>
        <p:spPr>
          <a:xfrm>
            <a:off x="2946196" y="1399946"/>
            <a:ext cx="196596" cy="161848"/>
          </a:xfrm>
          <a:prstGeom prst="roundRect">
            <a:avLst>
              <a:gd name="adj" fmla="val 50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4-text-18"/>
          <p:cNvSpPr txBox="1"/>
          <p:nvPr/>
        </p:nvSpPr>
        <p:spPr>
          <a:xfrm>
            <a:off x="2946196" y="1399946"/>
            <a:ext cx="201168" cy="161848"/>
          </a:xfrm>
          <a:prstGeom prst="rect">
            <a:avLst/>
          </a:prstGeom>
          <a:noFill/>
        </p:spPr>
        <p:txBody>
          <a:bodyPr wrap="square" lIns="66751" tIns="9144" rIns="66751" bIns="9144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2" name="h2p-4-box-19"/>
          <p:cNvSpPr/>
          <p:nvPr/>
        </p:nvSpPr>
        <p:spPr>
          <a:xfrm>
            <a:off x="724204" y="1647748"/>
            <a:ext cx="2571292" cy="333756"/>
          </a:xfrm>
          <a:prstGeom prst="rect">
            <a:avLst/>
          </a:prstGeom>
          <a:solidFill>
            <a:srgbClr val="11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4-text-20"/>
          <p:cNvSpPr txBox="1"/>
          <p:nvPr/>
        </p:nvSpPr>
        <p:spPr>
          <a:xfrm>
            <a:off x="875995" y="1714500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FFFFFF"/>
                </a:solidFill>
                <a:latin typeface="Helvetica Neue"/>
              </a:rPr>
              <a:t>#</a:t>
            </a:r>
          </a:p>
        </p:txBody>
      </p:sp>
      <p:sp>
        <p:nvSpPr>
          <p:cNvPr id="24" name="h2p-4-text-21"/>
          <p:cNvSpPr txBox="1"/>
          <p:nvPr/>
        </p:nvSpPr>
        <p:spPr>
          <a:xfrm>
            <a:off x="875995" y="2048256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5" name="h2p-4-text-22"/>
          <p:cNvSpPr txBox="1"/>
          <p:nvPr/>
        </p:nvSpPr>
        <p:spPr>
          <a:xfrm>
            <a:off x="875995" y="2381097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6" name="h2p-4-text-23"/>
          <p:cNvSpPr txBox="1"/>
          <p:nvPr/>
        </p:nvSpPr>
        <p:spPr>
          <a:xfrm>
            <a:off x="724204" y="2648102"/>
            <a:ext cx="2623413" cy="371246"/>
          </a:xfrm>
          <a:prstGeom prst="rect">
            <a:avLst/>
          </a:prstGeom>
          <a:noFill/>
        </p:spPr>
        <p:txBody>
          <a:bodyPr wrap="square" lIns="152704" tIns="171907" rIns="152704" bIns="56692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A98FAA"/>
                </a:solidFill>
                <a:latin typeface="Helvetica Neue"/>
              </a:rPr>
              <a:t>DIRECT MESSAGES</a:t>
            </a:r>
          </a:p>
        </p:txBody>
      </p:sp>
      <p:pic>
        <p:nvPicPr>
          <p:cNvPr id="27" name="Picture 26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" y="3086100"/>
            <a:ext cx="190195" cy="190195"/>
          </a:xfrm>
          <a:prstGeom prst="rect">
            <a:avLst/>
          </a:prstGeom>
        </p:spPr>
      </p:pic>
      <p:sp>
        <p:nvSpPr>
          <p:cNvPr id="28" name="h2p-4-box-24"/>
          <p:cNvSpPr/>
          <p:nvPr/>
        </p:nvSpPr>
        <p:spPr>
          <a:xfrm>
            <a:off x="3057753" y="3138220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4-box-25"/>
          <p:cNvSpPr/>
          <p:nvPr/>
        </p:nvSpPr>
        <p:spPr>
          <a:xfrm>
            <a:off x="875995" y="3409797"/>
            <a:ext cx="190195" cy="190195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4-text-26"/>
          <p:cNvSpPr txBox="1"/>
          <p:nvPr/>
        </p:nvSpPr>
        <p:spPr>
          <a:xfrm>
            <a:off x="875995" y="3409797"/>
            <a:ext cx="193852" cy="1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31" name="h2p-4-box-27"/>
          <p:cNvSpPr/>
          <p:nvPr/>
        </p:nvSpPr>
        <p:spPr>
          <a:xfrm>
            <a:off x="3057753" y="3461918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4-box-28"/>
          <p:cNvSpPr/>
          <p:nvPr/>
        </p:nvSpPr>
        <p:spPr>
          <a:xfrm>
            <a:off x="875995" y="3733495"/>
            <a:ext cx="190195" cy="190195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4-text-29"/>
          <p:cNvSpPr txBox="1"/>
          <p:nvPr/>
        </p:nvSpPr>
        <p:spPr>
          <a:xfrm>
            <a:off x="875995" y="3733495"/>
            <a:ext cx="193852" cy="1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34" name="h2p-4-box-30"/>
          <p:cNvSpPr/>
          <p:nvPr/>
        </p:nvSpPr>
        <p:spPr>
          <a:xfrm>
            <a:off x="3057753" y="3786530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4-box-31"/>
          <p:cNvSpPr/>
          <p:nvPr/>
        </p:nvSpPr>
        <p:spPr>
          <a:xfrm>
            <a:off x="3295497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295497" y="604418"/>
            <a:ext cx="8896198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2p-4-text-32"/>
          <p:cNvSpPr txBox="1"/>
          <p:nvPr/>
        </p:nvSpPr>
        <p:spPr>
          <a:xfrm>
            <a:off x="3562502" y="181051"/>
            <a:ext cx="10789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96769"/>
                </a:solidFill>
                <a:latin typeface="Helvetica Neue"/>
              </a:rPr>
              <a:t>#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451299" y="219456"/>
            <a:ext cx="0" cy="16184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h2p-4-text-34"/>
          <p:cNvSpPr txBox="1"/>
          <p:nvPr/>
        </p:nvSpPr>
        <p:spPr>
          <a:xfrm>
            <a:off x="4446727" y="219456"/>
            <a:ext cx="2075688" cy="161848"/>
          </a:xfrm>
          <a:prstGeom prst="rect">
            <a:avLst/>
          </a:prstGeom>
          <a:noFill/>
        </p:spPr>
        <p:txBody>
          <a:bodyPr wrap="square" lIns="133502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696769"/>
                </a:solidFill>
                <a:latin typeface="Helvetica Neue"/>
              </a:rPr>
              <a:t>One Claude. The whole team.</a:t>
            </a:r>
          </a:p>
        </p:txBody>
      </p:sp>
      <p:sp>
        <p:nvSpPr>
          <p:cNvPr id="40" name="h2p-4-box-35"/>
          <p:cNvSpPr/>
          <p:nvPr/>
        </p:nvSpPr>
        <p:spPr>
          <a:xfrm>
            <a:off x="11069726" y="128930"/>
            <a:ext cx="854964" cy="342900"/>
          </a:xfrm>
          <a:prstGeom prst="roundRect">
            <a:avLst>
              <a:gd name="adj" fmla="val 22220"/>
            </a:avLst>
          </a:prstGeom>
          <a:noFill/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2p-4-box-36"/>
          <p:cNvSpPr/>
          <p:nvPr/>
        </p:nvSpPr>
        <p:spPr>
          <a:xfrm>
            <a:off x="111172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2p-4-text-37"/>
          <p:cNvSpPr txBox="1"/>
          <p:nvPr/>
        </p:nvSpPr>
        <p:spPr>
          <a:xfrm>
            <a:off x="111172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43" name="h2p-4-box-38"/>
          <p:cNvSpPr/>
          <p:nvPr/>
        </p:nvSpPr>
        <p:spPr>
          <a:xfrm>
            <a:off x="11289182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4-text-39"/>
          <p:cNvSpPr txBox="1"/>
          <p:nvPr/>
        </p:nvSpPr>
        <p:spPr>
          <a:xfrm>
            <a:off x="11289182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45" name="h2p-4-box-40"/>
          <p:cNvSpPr/>
          <p:nvPr/>
        </p:nvSpPr>
        <p:spPr>
          <a:xfrm>
            <a:off x="114601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EB6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2p-4-text-41"/>
          <p:cNvSpPr txBox="1"/>
          <p:nvPr/>
        </p:nvSpPr>
        <p:spPr>
          <a:xfrm>
            <a:off x="114601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S</a:t>
            </a:r>
          </a:p>
        </p:txBody>
      </p:sp>
      <p:sp>
        <p:nvSpPr>
          <p:cNvPr id="47" name="h2p-4-box-42"/>
          <p:cNvSpPr/>
          <p:nvPr/>
        </p:nvSpPr>
        <p:spPr>
          <a:xfrm>
            <a:off x="3676802" y="838504"/>
            <a:ext cx="418795" cy="418795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2p-4-text-43"/>
          <p:cNvSpPr txBox="1"/>
          <p:nvPr/>
        </p:nvSpPr>
        <p:spPr>
          <a:xfrm>
            <a:off x="3676802" y="838504"/>
            <a:ext cx="427939" cy="4187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FFFFFF"/>
                </a:solidFill>
                <a:latin typeface="Helvetica Neue"/>
              </a:rPr>
              <a:t>DR</a:t>
            </a:r>
          </a:p>
        </p:txBody>
      </p:sp>
      <p:sp>
        <p:nvSpPr>
          <p:cNvPr id="49" name="h2p-4-text-44"/>
          <p:cNvSpPr txBox="1"/>
          <p:nvPr/>
        </p:nvSpPr>
        <p:spPr>
          <a:xfrm>
            <a:off x="4238244" y="838504"/>
            <a:ext cx="65745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Dana R.</a:t>
            </a:r>
          </a:p>
        </p:txBody>
      </p:sp>
      <p:sp>
        <p:nvSpPr>
          <p:cNvPr id="50" name="h2p-4-text-45"/>
          <p:cNvSpPr txBox="1"/>
          <p:nvPr/>
        </p:nvSpPr>
        <p:spPr>
          <a:xfrm>
            <a:off x="4968849" y="875995"/>
            <a:ext cx="543153" cy="142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11:14 AM</a:t>
            </a:r>
          </a:p>
        </p:txBody>
      </p:sp>
      <p:sp>
        <p:nvSpPr>
          <p:cNvPr id="51" name="h2p-4-text-46"/>
          <p:cNvSpPr txBox="1"/>
          <p:nvPr/>
        </p:nvSpPr>
        <p:spPr>
          <a:xfrm>
            <a:off x="4238244" y="1095451"/>
            <a:ext cx="7723936" cy="2953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D97757"/>
                </a:solidFill>
                <a:latin typeface="Helvetica Neue"/>
              </a:rPr>
              <a:t>@Claude</a:t>
            </a:r>
            <a:r>
              <a:rPr sz="1500">
                <a:solidFill>
                  <a:srgbClr val="1D1C1D"/>
                </a:solidFill>
                <a:latin typeface="Helvetica Neue"/>
              </a:rPr>
              <a:t> what's left before we ship?</a:t>
            </a:r>
          </a:p>
        </p:txBody>
      </p:sp>
      <p:pic>
        <p:nvPicPr>
          <p:cNvPr id="52" name="Picture 51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802" y="1600200"/>
            <a:ext cx="418795" cy="418795"/>
          </a:xfrm>
          <a:prstGeom prst="rect">
            <a:avLst/>
          </a:prstGeom>
        </p:spPr>
      </p:pic>
      <p:sp>
        <p:nvSpPr>
          <p:cNvPr id="53" name="h2p-4-text-47"/>
          <p:cNvSpPr txBox="1"/>
          <p:nvPr/>
        </p:nvSpPr>
        <p:spPr>
          <a:xfrm>
            <a:off x="4238244" y="1600200"/>
            <a:ext cx="58613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Claude</a:t>
            </a:r>
          </a:p>
        </p:txBody>
      </p:sp>
      <p:sp>
        <p:nvSpPr>
          <p:cNvPr id="54" name="h2p-4-box-48"/>
          <p:cNvSpPr/>
          <p:nvPr/>
        </p:nvSpPr>
        <p:spPr>
          <a:xfrm>
            <a:off x="4899355" y="1628546"/>
            <a:ext cx="335584" cy="161848"/>
          </a:xfrm>
          <a:prstGeom prst="roundRect">
            <a:avLst>
              <a:gd name="adj" fmla="val 2353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h2p-4-text-49"/>
          <p:cNvSpPr txBox="1"/>
          <p:nvPr/>
        </p:nvSpPr>
        <p:spPr>
          <a:xfrm>
            <a:off x="4899355" y="1628546"/>
            <a:ext cx="341985" cy="161848"/>
          </a:xfrm>
          <a:prstGeom prst="rect">
            <a:avLst/>
          </a:prstGeom>
          <a:noFill/>
        </p:spPr>
        <p:txBody>
          <a:bodyPr wrap="square" lIns="56692" tIns="19202" rIns="56692" bIns="19202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B65A3C"/>
                </a:solidFill>
                <a:latin typeface="Helvetica Neue"/>
              </a:rPr>
              <a:t>APP</a:t>
            </a:r>
          </a:p>
        </p:txBody>
      </p:sp>
      <p:sp>
        <p:nvSpPr>
          <p:cNvPr id="56" name="h2p-4-text-50"/>
          <p:cNvSpPr txBox="1"/>
          <p:nvPr/>
        </p:nvSpPr>
        <p:spPr>
          <a:xfrm>
            <a:off x="5319979" y="1638604"/>
            <a:ext cx="543153" cy="142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11:14 AM</a:t>
            </a:r>
          </a:p>
        </p:txBody>
      </p:sp>
      <p:sp>
        <p:nvSpPr>
          <p:cNvPr id="57" name="h2p-4-text-51"/>
          <p:cNvSpPr txBox="1"/>
          <p:nvPr/>
        </p:nvSpPr>
        <p:spPr>
          <a:xfrm>
            <a:off x="4238244" y="1857146"/>
            <a:ext cx="7723936" cy="2953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D1C1D"/>
                </a:solidFill>
                <a:latin typeface="Helvetica Neue"/>
              </a:rPr>
              <a:t>3 open items. I'll keep this thread updated as they close.</a:t>
            </a:r>
          </a:p>
        </p:txBody>
      </p:sp>
      <p:sp>
        <p:nvSpPr>
          <p:cNvPr id="58" name="h2p-4-box-52"/>
          <p:cNvSpPr/>
          <p:nvPr/>
        </p:nvSpPr>
        <p:spPr>
          <a:xfrm>
            <a:off x="3676802" y="2361895"/>
            <a:ext cx="418795" cy="418795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h2p-4-text-53"/>
          <p:cNvSpPr txBox="1"/>
          <p:nvPr/>
        </p:nvSpPr>
        <p:spPr>
          <a:xfrm>
            <a:off x="3676802" y="2361895"/>
            <a:ext cx="427939" cy="4187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FFFFFF"/>
                </a:solidFill>
                <a:latin typeface="Helvetica Neue"/>
              </a:rPr>
              <a:t>MT</a:t>
            </a:r>
          </a:p>
        </p:txBody>
      </p:sp>
      <p:sp>
        <p:nvSpPr>
          <p:cNvPr id="60" name="h2p-4-text-54"/>
          <p:cNvSpPr txBox="1"/>
          <p:nvPr/>
        </p:nvSpPr>
        <p:spPr>
          <a:xfrm>
            <a:off x="4238244" y="2361895"/>
            <a:ext cx="588873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Mike T.</a:t>
            </a:r>
          </a:p>
        </p:txBody>
      </p:sp>
      <p:sp>
        <p:nvSpPr>
          <p:cNvPr id="61" name="h2p-4-text-55"/>
          <p:cNvSpPr txBox="1"/>
          <p:nvPr/>
        </p:nvSpPr>
        <p:spPr>
          <a:xfrm>
            <a:off x="4902098" y="2400300"/>
            <a:ext cx="543153" cy="142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11:16 AM</a:t>
            </a:r>
          </a:p>
        </p:txBody>
      </p:sp>
      <p:sp>
        <p:nvSpPr>
          <p:cNvPr id="62" name="h2p-4-text-56"/>
          <p:cNvSpPr txBox="1"/>
          <p:nvPr/>
        </p:nvSpPr>
        <p:spPr>
          <a:xfrm>
            <a:off x="4238244" y="2619756"/>
            <a:ext cx="7723936" cy="2953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D97757"/>
                </a:solidFill>
                <a:latin typeface="Helvetica Neue"/>
              </a:rPr>
              <a:t>@Claude</a:t>
            </a:r>
            <a:r>
              <a:rPr sz="1500">
                <a:solidFill>
                  <a:srgbClr val="1D1C1D"/>
                </a:solidFill>
                <a:latin typeface="Helvetica Neue"/>
              </a:rPr>
              <a:t> add the security review to that list</a:t>
            </a:r>
          </a:p>
        </p:txBody>
      </p:sp>
      <p:pic>
        <p:nvPicPr>
          <p:cNvPr id="63" name="Picture 62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802" y="3124504"/>
            <a:ext cx="418795" cy="418795"/>
          </a:xfrm>
          <a:prstGeom prst="rect">
            <a:avLst/>
          </a:prstGeom>
        </p:spPr>
      </p:pic>
      <p:sp>
        <p:nvSpPr>
          <p:cNvPr id="64" name="h2p-4-text-57"/>
          <p:cNvSpPr txBox="1"/>
          <p:nvPr/>
        </p:nvSpPr>
        <p:spPr>
          <a:xfrm>
            <a:off x="4238244" y="3124504"/>
            <a:ext cx="58613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Claude</a:t>
            </a:r>
          </a:p>
        </p:txBody>
      </p:sp>
      <p:sp>
        <p:nvSpPr>
          <p:cNvPr id="65" name="h2p-4-box-58"/>
          <p:cNvSpPr/>
          <p:nvPr/>
        </p:nvSpPr>
        <p:spPr>
          <a:xfrm>
            <a:off x="4899355" y="3152851"/>
            <a:ext cx="335584" cy="161848"/>
          </a:xfrm>
          <a:prstGeom prst="roundRect">
            <a:avLst>
              <a:gd name="adj" fmla="val 2353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h2p-4-text-59"/>
          <p:cNvSpPr txBox="1"/>
          <p:nvPr/>
        </p:nvSpPr>
        <p:spPr>
          <a:xfrm>
            <a:off x="4899355" y="3152851"/>
            <a:ext cx="341985" cy="161848"/>
          </a:xfrm>
          <a:prstGeom prst="rect">
            <a:avLst/>
          </a:prstGeom>
          <a:noFill/>
        </p:spPr>
        <p:txBody>
          <a:bodyPr wrap="square" lIns="56692" tIns="19202" rIns="56692" bIns="19202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B65A3C"/>
                </a:solidFill>
                <a:latin typeface="Helvetica Neue"/>
              </a:rPr>
              <a:t>APP</a:t>
            </a:r>
          </a:p>
        </p:txBody>
      </p:sp>
      <p:sp>
        <p:nvSpPr>
          <p:cNvPr id="67" name="h2p-4-text-60"/>
          <p:cNvSpPr txBox="1"/>
          <p:nvPr/>
        </p:nvSpPr>
        <p:spPr>
          <a:xfrm>
            <a:off x="5319979" y="3161995"/>
            <a:ext cx="543153" cy="142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11:16 AM</a:t>
            </a:r>
          </a:p>
        </p:txBody>
      </p:sp>
      <p:sp>
        <p:nvSpPr>
          <p:cNvPr id="68" name="h2p-4-text-61"/>
          <p:cNvSpPr txBox="1"/>
          <p:nvPr/>
        </p:nvSpPr>
        <p:spPr>
          <a:xfrm>
            <a:off x="4238244" y="3381451"/>
            <a:ext cx="7723936" cy="29535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D1C1D"/>
                </a:solidFill>
                <a:latin typeface="Helvetica Neue"/>
              </a:rPr>
              <a:t>Added. Same list, same Claude — everyone here sees one shared source of truth.</a:t>
            </a:r>
          </a:p>
        </p:txBody>
      </p:sp>
      <p:sp>
        <p:nvSpPr>
          <p:cNvPr id="69" name="h2p-4-box-62"/>
          <p:cNvSpPr/>
          <p:nvPr/>
        </p:nvSpPr>
        <p:spPr>
          <a:xfrm>
            <a:off x="4238244" y="3781044"/>
            <a:ext cx="474573" cy="23774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 w="1016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h2p-4-box-63"/>
          <p:cNvSpPr/>
          <p:nvPr/>
        </p:nvSpPr>
        <p:spPr>
          <a:xfrm>
            <a:off x="4352544" y="3847795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h2p-4-box-64"/>
          <p:cNvSpPr/>
          <p:nvPr/>
        </p:nvSpPr>
        <p:spPr>
          <a:xfrm>
            <a:off x="4788712" y="3781044"/>
            <a:ext cx="474573" cy="23774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 w="1016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h2p-4-box-65"/>
          <p:cNvSpPr/>
          <p:nvPr/>
        </p:nvSpPr>
        <p:spPr>
          <a:xfrm>
            <a:off x="4903012" y="3847795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h2p-4-box-66"/>
          <p:cNvSpPr/>
          <p:nvPr/>
        </p:nvSpPr>
        <p:spPr>
          <a:xfrm>
            <a:off x="3676802" y="5876848"/>
            <a:ext cx="8134502" cy="733348"/>
          </a:xfrm>
          <a:prstGeom prst="roundRect">
            <a:avLst>
              <a:gd name="adj" fmla="val 15580"/>
            </a:avLst>
          </a:prstGeom>
          <a:solidFill>
            <a:srgbClr val="3F0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h2p-4-text-67"/>
          <p:cNvSpPr txBox="1"/>
          <p:nvPr/>
        </p:nvSpPr>
        <p:spPr>
          <a:xfrm>
            <a:off x="3676802" y="5876848"/>
            <a:ext cx="8297265" cy="733348"/>
          </a:xfrm>
          <a:prstGeom prst="rect">
            <a:avLst/>
          </a:prstGeom>
          <a:noFill/>
        </p:spPr>
        <p:txBody>
          <a:bodyPr wrap="square" lIns="209397" tIns="152704" rIns="209397" bIns="152704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FFFFFF"/>
                </a:solidFill>
                <a:latin typeface="Helvetica Neue"/>
              </a:rPr>
              <a:t>Multiplayer by default.</a:t>
            </a:r>
            <a:r>
              <a:rPr sz="1350">
                <a:solidFill>
                  <a:srgbClr val="FFFFFF"/>
                </a:solidFill>
                <a:latin typeface="Helvetica Neue"/>
              </a:rPr>
              <a:t> </a:t>
            </a:r>
            <a:r>
              <a:rPr sz="1350">
                <a:solidFill>
                  <a:srgbClr val="E4D6E4"/>
                </a:solidFill>
                <a:latin typeface="Helvetica Neue"/>
              </a:rPr>
              <a:t>Within a channel there's one Claude that interacts with everyone — no private silos, no repeated context.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5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2p-5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6" name="h2p-5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5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8" name="h2p-5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5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0" name="h2p-5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5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2" name="h2p-5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5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5-box-11"/>
          <p:cNvSpPr/>
          <p:nvPr/>
        </p:nvSpPr>
        <p:spPr>
          <a:xfrm>
            <a:off x="724204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4204" y="604418"/>
            <a:ext cx="8896198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2p-5-text-12"/>
          <p:cNvSpPr txBox="1"/>
          <p:nvPr/>
        </p:nvSpPr>
        <p:spPr>
          <a:xfrm>
            <a:off x="990295" y="181051"/>
            <a:ext cx="10789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96769"/>
                </a:solidFill>
                <a:latin typeface="Helvetica Neue"/>
              </a:rPr>
              <a:t>#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194913" y="219456"/>
            <a:ext cx="0" cy="16184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2p-5-text-14"/>
          <p:cNvSpPr txBox="1"/>
          <p:nvPr/>
        </p:nvSpPr>
        <p:spPr>
          <a:xfrm>
            <a:off x="3190341" y="219456"/>
            <a:ext cx="2507284" cy="161848"/>
          </a:xfrm>
          <a:prstGeom prst="rect">
            <a:avLst/>
          </a:prstGeom>
          <a:noFill/>
        </p:spPr>
        <p:txBody>
          <a:bodyPr wrap="square" lIns="133502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696769"/>
                </a:solidFill>
                <a:latin typeface="Helvetica Neue"/>
              </a:rPr>
              <a:t>It gets sharper the longer it's around</a:t>
            </a:r>
          </a:p>
        </p:txBody>
      </p:sp>
      <p:sp>
        <p:nvSpPr>
          <p:cNvPr id="19" name="h2p-5-box-15"/>
          <p:cNvSpPr/>
          <p:nvPr/>
        </p:nvSpPr>
        <p:spPr>
          <a:xfrm>
            <a:off x="8498433" y="128930"/>
            <a:ext cx="854964" cy="342900"/>
          </a:xfrm>
          <a:prstGeom prst="roundRect">
            <a:avLst>
              <a:gd name="adj" fmla="val 22220"/>
            </a:avLst>
          </a:prstGeom>
          <a:noFill/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5-box-16"/>
          <p:cNvSpPr/>
          <p:nvPr/>
        </p:nvSpPr>
        <p:spPr>
          <a:xfrm>
            <a:off x="8545982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5-text-17"/>
          <p:cNvSpPr txBox="1"/>
          <p:nvPr/>
        </p:nvSpPr>
        <p:spPr>
          <a:xfrm>
            <a:off x="8545982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22" name="h2p-5-box-18"/>
          <p:cNvSpPr/>
          <p:nvPr/>
        </p:nvSpPr>
        <p:spPr>
          <a:xfrm>
            <a:off x="87169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5-text-19"/>
          <p:cNvSpPr txBox="1"/>
          <p:nvPr/>
        </p:nvSpPr>
        <p:spPr>
          <a:xfrm>
            <a:off x="87169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24" name="h2p-5-box-20"/>
          <p:cNvSpPr/>
          <p:nvPr/>
        </p:nvSpPr>
        <p:spPr>
          <a:xfrm>
            <a:off x="8888882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EB6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5-text-21"/>
          <p:cNvSpPr txBox="1"/>
          <p:nvPr/>
        </p:nvSpPr>
        <p:spPr>
          <a:xfrm>
            <a:off x="8888882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S</a:t>
            </a:r>
          </a:p>
        </p:txBody>
      </p:sp>
      <p:sp>
        <p:nvSpPr>
          <p:cNvPr id="26" name="h2p-5-text-22"/>
          <p:cNvSpPr txBox="1"/>
          <p:nvPr/>
        </p:nvSpPr>
        <p:spPr>
          <a:xfrm>
            <a:off x="1390802" y="1047902"/>
            <a:ext cx="10337292" cy="533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450">
                <a:solidFill>
                  <a:srgbClr val="1D1C1D"/>
                </a:solidFill>
                <a:latin typeface="Helvetica Neue"/>
              </a:rPr>
              <a:t>It remembers.</a:t>
            </a:r>
          </a:p>
        </p:txBody>
      </p:sp>
      <p:sp>
        <p:nvSpPr>
          <p:cNvPr id="27" name="h2p-5-text-23"/>
          <p:cNvSpPr txBox="1"/>
          <p:nvPr/>
        </p:nvSpPr>
        <p:spPr>
          <a:xfrm>
            <a:off x="1390802" y="1676095"/>
            <a:ext cx="66065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96769"/>
                </a:solidFill>
                <a:latin typeface="Helvetica Neue"/>
              </a:rPr>
              <a:t>Claude accumulates context over time — and, with permission, learns from your other channels and connected data sources.</a:t>
            </a:r>
          </a:p>
        </p:txBody>
      </p:sp>
      <p:sp>
        <p:nvSpPr>
          <p:cNvPr id="28" name="h2p-5-box-24"/>
          <p:cNvSpPr/>
          <p:nvPr/>
        </p:nvSpPr>
        <p:spPr>
          <a:xfrm>
            <a:off x="1390802" y="2691079"/>
            <a:ext cx="2857500" cy="504748"/>
          </a:xfrm>
          <a:prstGeom prst="roundRect">
            <a:avLst>
              <a:gd name="adj" fmla="val 20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390802" y="2695651"/>
            <a:ext cx="2857500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243730" y="2691079"/>
            <a:ext cx="0" cy="504749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90802" y="3191256"/>
            <a:ext cx="2857500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414576" y="2691079"/>
            <a:ext cx="0" cy="504749"/>
          </a:xfrm>
          <a:prstGeom prst="line">
            <a:avLst/>
          </a:prstGeom>
          <a:ln w="48260">
            <a:solidFill>
              <a:srgbClr val="2EB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h2p-5-text-25"/>
          <p:cNvSpPr txBox="1"/>
          <p:nvPr/>
        </p:nvSpPr>
        <p:spPr>
          <a:xfrm>
            <a:off x="1390802" y="2691079"/>
            <a:ext cx="2915107" cy="504748"/>
          </a:xfrm>
          <a:prstGeom prst="rect">
            <a:avLst/>
          </a:prstGeom>
          <a:noFill/>
        </p:spPr>
        <p:txBody>
          <a:bodyPr wrap="square" lIns="171907" tIns="142646" rIns="171907" bIns="142646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696769"/>
                </a:solidFill>
                <a:latin typeface="Helvetica Neue"/>
              </a:rPr>
              <a:t>#</a:t>
            </a:r>
            <a:r>
              <a:rPr b="1" sz="1280">
                <a:solidFill>
                  <a:srgbClr val="1D1C1D"/>
                </a:solidFill>
                <a:latin typeface="Helvetica Neue"/>
              </a:rPr>
              <a:t> every channel</a:t>
            </a:r>
          </a:p>
        </p:txBody>
      </p:sp>
      <p:sp>
        <p:nvSpPr>
          <p:cNvPr id="34" name="h2p-5-box-26"/>
          <p:cNvSpPr/>
          <p:nvPr/>
        </p:nvSpPr>
        <p:spPr>
          <a:xfrm>
            <a:off x="1390802" y="3329330"/>
            <a:ext cx="2857500" cy="504748"/>
          </a:xfrm>
          <a:prstGeom prst="roundRect">
            <a:avLst>
              <a:gd name="adj" fmla="val 20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5" name="Connector 34"/>
          <p:cNvCxnSpPr/>
          <p:nvPr/>
        </p:nvCxnSpPr>
        <p:spPr>
          <a:xfrm>
            <a:off x="1390802" y="3333902"/>
            <a:ext cx="2857500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4243730" y="3329330"/>
            <a:ext cx="0" cy="504749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1390802" y="3829507"/>
            <a:ext cx="2857500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1414576" y="3329330"/>
            <a:ext cx="0" cy="504749"/>
          </a:xfrm>
          <a:prstGeom prst="line">
            <a:avLst/>
          </a:prstGeom>
          <a:ln w="48260">
            <a:solidFill>
              <a:srgbClr val="36C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h2p-5-text-27"/>
          <p:cNvSpPr txBox="1"/>
          <p:nvPr/>
        </p:nvSpPr>
        <p:spPr>
          <a:xfrm>
            <a:off x="1390802" y="3329330"/>
            <a:ext cx="2915107" cy="504748"/>
          </a:xfrm>
          <a:prstGeom prst="rect">
            <a:avLst/>
          </a:prstGeom>
          <a:noFill/>
        </p:spPr>
        <p:txBody>
          <a:bodyPr wrap="square" lIns="171907" tIns="142646" rIns="171907" bIns="142646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D1C1D"/>
                </a:solidFill>
                <a:latin typeface="Helvetica Neue"/>
              </a:rPr>
              <a:t>Connected data sources</a:t>
            </a:r>
          </a:p>
        </p:txBody>
      </p:sp>
      <p:sp>
        <p:nvSpPr>
          <p:cNvPr id="40" name="h2p-5-box-28"/>
          <p:cNvSpPr/>
          <p:nvPr/>
        </p:nvSpPr>
        <p:spPr>
          <a:xfrm>
            <a:off x="1390802" y="3967581"/>
            <a:ext cx="2857500" cy="504748"/>
          </a:xfrm>
          <a:prstGeom prst="roundRect">
            <a:avLst>
              <a:gd name="adj" fmla="val 2075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1" name="Connector 40"/>
          <p:cNvCxnSpPr/>
          <p:nvPr/>
        </p:nvCxnSpPr>
        <p:spPr>
          <a:xfrm>
            <a:off x="1390802" y="3972153"/>
            <a:ext cx="2857500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43730" y="3967581"/>
            <a:ext cx="0" cy="504749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1390802" y="4466844"/>
            <a:ext cx="2857500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1414576" y="3967581"/>
            <a:ext cx="0" cy="504749"/>
          </a:xfrm>
          <a:prstGeom prst="line">
            <a:avLst/>
          </a:prstGeom>
          <a:ln w="48260">
            <a:solidFill>
              <a:srgbClr val="ECB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h2p-5-text-29"/>
          <p:cNvSpPr txBox="1"/>
          <p:nvPr/>
        </p:nvSpPr>
        <p:spPr>
          <a:xfrm>
            <a:off x="1390802" y="3967581"/>
            <a:ext cx="2915107" cy="504748"/>
          </a:xfrm>
          <a:prstGeom prst="rect">
            <a:avLst/>
          </a:prstGeom>
          <a:noFill/>
        </p:spPr>
        <p:txBody>
          <a:bodyPr wrap="square" lIns="171907" tIns="142646" rIns="171907" bIns="142646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1D1C1D"/>
                </a:solidFill>
                <a:latin typeface="Helvetica Neue"/>
              </a:rPr>
              <a:t>Past threads &amp; decisions</a:t>
            </a:r>
          </a:p>
        </p:txBody>
      </p:sp>
      <p:sp>
        <p:nvSpPr>
          <p:cNvPr id="46" name="h2p-5-text-30"/>
          <p:cNvSpPr txBox="1"/>
          <p:nvPr/>
        </p:nvSpPr>
        <p:spPr>
          <a:xfrm>
            <a:off x="4533595" y="3338474"/>
            <a:ext cx="413308" cy="485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000">
                <a:solidFill>
                  <a:srgbClr val="D97757"/>
                </a:solidFill>
                <a:latin typeface="Helvetica Neue"/>
              </a:rPr>
              <a:t>⟶</a:t>
            </a:r>
          </a:p>
        </p:txBody>
      </p:sp>
      <p:sp>
        <p:nvSpPr>
          <p:cNvPr id="47" name="h2p-5-box-31"/>
          <p:cNvSpPr/>
          <p:nvPr/>
        </p:nvSpPr>
        <p:spPr>
          <a:xfrm rot="360000">
            <a:off x="5395874" y="2799892"/>
            <a:ext cx="1561795" cy="1561795"/>
          </a:xfrm>
          <a:prstGeom prst="roundRect">
            <a:avLst>
              <a:gd name="adj" fmla="val 1707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h2p-5-box-32"/>
          <p:cNvSpPr/>
          <p:nvPr/>
        </p:nvSpPr>
        <p:spPr>
          <a:xfrm>
            <a:off x="5510174" y="2915107"/>
            <a:ext cx="1333195" cy="1333195"/>
          </a:xfrm>
          <a:prstGeom prst="roundRect">
            <a:avLst>
              <a:gd name="adj" fmla="val 17140"/>
            </a:avLst>
          </a:prstGeom>
          <a:solidFill>
            <a:srgbClr val="FFFFFF"/>
          </a:solidFill>
          <a:ln w="1905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1479" y="3038551"/>
            <a:ext cx="571500" cy="571500"/>
          </a:xfrm>
          <a:prstGeom prst="rect">
            <a:avLst/>
          </a:prstGeom>
        </p:spPr>
      </p:pic>
      <p:sp>
        <p:nvSpPr>
          <p:cNvPr id="50" name="h2p-5-text-33"/>
          <p:cNvSpPr txBox="1"/>
          <p:nvPr/>
        </p:nvSpPr>
        <p:spPr>
          <a:xfrm>
            <a:off x="5820156" y="3685946"/>
            <a:ext cx="728776" cy="437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Claude's</a:t>
            </a:r>
          </a:p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context</a:t>
            </a:r>
          </a:p>
        </p:txBody>
      </p:sp>
      <p:sp>
        <p:nvSpPr>
          <p:cNvPr id="51" name="h2p-5-text-34"/>
          <p:cNvSpPr txBox="1"/>
          <p:nvPr/>
        </p:nvSpPr>
        <p:spPr>
          <a:xfrm>
            <a:off x="7414869" y="3338474"/>
            <a:ext cx="413308" cy="485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000">
                <a:solidFill>
                  <a:srgbClr val="D97757"/>
                </a:solidFill>
                <a:latin typeface="Helvetica Neue"/>
              </a:rPr>
              <a:t>⟶</a:t>
            </a:r>
          </a:p>
        </p:txBody>
      </p:sp>
      <p:sp>
        <p:nvSpPr>
          <p:cNvPr id="52" name="h2p-5-box-35"/>
          <p:cNvSpPr/>
          <p:nvPr/>
        </p:nvSpPr>
        <p:spPr>
          <a:xfrm>
            <a:off x="8106156" y="2763316"/>
            <a:ext cx="3419856" cy="1634947"/>
          </a:xfrm>
          <a:prstGeom prst="roundRect">
            <a:avLst>
              <a:gd name="adj" fmla="val 9320"/>
            </a:avLst>
          </a:prstGeom>
          <a:solidFill>
            <a:srgbClr val="3F0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h2p-5-text-36"/>
          <p:cNvSpPr txBox="1"/>
          <p:nvPr/>
        </p:nvSpPr>
        <p:spPr>
          <a:xfrm>
            <a:off x="8353044" y="2991916"/>
            <a:ext cx="2982772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D7B9D8"/>
                </a:solidFill>
                <a:latin typeface="Menlo"/>
              </a:rPr>
              <a:t>THE PAYOFF</a:t>
            </a:r>
          </a:p>
        </p:txBody>
      </p:sp>
      <p:sp>
        <p:nvSpPr>
          <p:cNvPr id="54" name="h2p-5-text-37"/>
          <p:cNvSpPr txBox="1"/>
          <p:nvPr/>
        </p:nvSpPr>
        <p:spPr>
          <a:xfrm>
            <a:off x="8353044" y="3258921"/>
            <a:ext cx="2982772" cy="9116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3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650">
                <a:solidFill>
                  <a:srgbClr val="FFFFFF"/>
                </a:solidFill>
                <a:latin typeface="Helvetica Neue"/>
              </a:rPr>
              <a:t>Answers grounded in </a:t>
            </a:r>
            <a:r>
              <a:rPr b="1" sz="1650">
                <a:solidFill>
                  <a:srgbClr val="FFFFFF"/>
                </a:solidFill>
                <a:latin typeface="Helvetica Neue"/>
              </a:rPr>
              <a:t>how your team actually works</a:t>
            </a:r>
            <a:r>
              <a:rPr sz="1650">
                <a:solidFill>
                  <a:srgbClr val="FFFFFF"/>
                </a:solidFill>
                <a:latin typeface="Helvetica Neue"/>
              </a:rPr>
              <a:t> — not a blank slate every time.</a:t>
            </a:r>
          </a:p>
        </p:txBody>
      </p:sp>
      <p:sp>
        <p:nvSpPr>
          <p:cNvPr id="55" name="h2p-5-text-38"/>
          <p:cNvSpPr txBox="1"/>
          <p:nvPr/>
        </p:nvSpPr>
        <p:spPr>
          <a:xfrm>
            <a:off x="1390802" y="4819802"/>
            <a:ext cx="10337292" cy="237744"/>
          </a:xfrm>
          <a:prstGeom prst="rect">
            <a:avLst/>
          </a:prstGeom>
          <a:noFill/>
        </p:spPr>
        <p:txBody>
          <a:bodyPr wrap="square" lIns="0" tIns="0" rIns="0" bIns="0" anchor="b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696769"/>
                </a:solidFill>
                <a:latin typeface="Menlo"/>
              </a:rPr>
              <a:t>🔒 Access is admin-controlled — Claude only learns where it's granted permission.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6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2p-6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6" name="h2p-6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6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8" name="h2p-6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6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0" name="h2p-6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6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2" name="h2p-6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6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6-box-11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4204" y="604418"/>
            <a:ext cx="2571293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2p-6-text-13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FBFD0"/>
                </a:solidFill>
                <a:latin typeface="Helvetica Neue"/>
              </a:rPr>
              <a:t>▾</a:t>
            </a:r>
          </a:p>
        </p:txBody>
      </p:sp>
      <p:sp>
        <p:nvSpPr>
          <p:cNvPr id="17" name="h2p-6-text-14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</p:spPr>
        <p:txBody>
          <a:bodyPr wrap="square" lIns="152704" tIns="171907" rIns="152704" bIns="56692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A98FAA"/>
                </a:solidFill>
                <a:latin typeface="Helvetica Neue"/>
              </a:rPr>
              <a:t>CHANNELS</a:t>
            </a:r>
          </a:p>
        </p:txBody>
      </p:sp>
      <p:sp>
        <p:nvSpPr>
          <p:cNvPr id="18" name="h2p-6-text-15"/>
          <p:cNvSpPr txBox="1"/>
          <p:nvPr/>
        </p:nvSpPr>
        <p:spPr>
          <a:xfrm>
            <a:off x="875995" y="1047902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19" name="h2p-6-text-16"/>
          <p:cNvSpPr txBox="1"/>
          <p:nvPr/>
        </p:nvSpPr>
        <p:spPr>
          <a:xfrm>
            <a:off x="875995" y="1380744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0" name="h2p-6-box-17"/>
          <p:cNvSpPr/>
          <p:nvPr/>
        </p:nvSpPr>
        <p:spPr>
          <a:xfrm>
            <a:off x="2946196" y="1399946"/>
            <a:ext cx="196596" cy="161848"/>
          </a:xfrm>
          <a:prstGeom prst="roundRect">
            <a:avLst>
              <a:gd name="adj" fmla="val 50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6-text-18"/>
          <p:cNvSpPr txBox="1"/>
          <p:nvPr/>
        </p:nvSpPr>
        <p:spPr>
          <a:xfrm>
            <a:off x="2946196" y="1399946"/>
            <a:ext cx="201168" cy="161848"/>
          </a:xfrm>
          <a:prstGeom prst="rect">
            <a:avLst/>
          </a:prstGeom>
          <a:noFill/>
        </p:spPr>
        <p:txBody>
          <a:bodyPr wrap="square" lIns="66751" tIns="9144" rIns="66751" bIns="9144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2" name="h2p-6-box-19"/>
          <p:cNvSpPr/>
          <p:nvPr/>
        </p:nvSpPr>
        <p:spPr>
          <a:xfrm>
            <a:off x="724204" y="1647748"/>
            <a:ext cx="2571292" cy="333756"/>
          </a:xfrm>
          <a:prstGeom prst="rect">
            <a:avLst/>
          </a:prstGeom>
          <a:solidFill>
            <a:srgbClr val="11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6-text-20"/>
          <p:cNvSpPr txBox="1"/>
          <p:nvPr/>
        </p:nvSpPr>
        <p:spPr>
          <a:xfrm>
            <a:off x="875995" y="1714500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FFFFFF"/>
                </a:solidFill>
                <a:latin typeface="Helvetica Neue"/>
              </a:rPr>
              <a:t>#</a:t>
            </a:r>
          </a:p>
        </p:txBody>
      </p:sp>
      <p:sp>
        <p:nvSpPr>
          <p:cNvPr id="24" name="h2p-6-text-21"/>
          <p:cNvSpPr txBox="1"/>
          <p:nvPr/>
        </p:nvSpPr>
        <p:spPr>
          <a:xfrm>
            <a:off x="875995" y="2048256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5" name="h2p-6-text-22"/>
          <p:cNvSpPr txBox="1"/>
          <p:nvPr/>
        </p:nvSpPr>
        <p:spPr>
          <a:xfrm>
            <a:off x="875995" y="2381097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6" name="h2p-6-text-23"/>
          <p:cNvSpPr txBox="1"/>
          <p:nvPr/>
        </p:nvSpPr>
        <p:spPr>
          <a:xfrm>
            <a:off x="724204" y="2648102"/>
            <a:ext cx="2623413" cy="371246"/>
          </a:xfrm>
          <a:prstGeom prst="rect">
            <a:avLst/>
          </a:prstGeom>
          <a:noFill/>
        </p:spPr>
        <p:txBody>
          <a:bodyPr wrap="square" lIns="152704" tIns="171907" rIns="152704" bIns="56692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A98FAA"/>
                </a:solidFill>
                <a:latin typeface="Helvetica Neue"/>
              </a:rPr>
              <a:t>DIRECT MESSAGES</a:t>
            </a:r>
          </a:p>
        </p:txBody>
      </p:sp>
      <p:pic>
        <p:nvPicPr>
          <p:cNvPr id="27" name="Picture 26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" y="3086100"/>
            <a:ext cx="190195" cy="190195"/>
          </a:xfrm>
          <a:prstGeom prst="rect">
            <a:avLst/>
          </a:prstGeom>
        </p:spPr>
      </p:pic>
      <p:sp>
        <p:nvSpPr>
          <p:cNvPr id="28" name="h2p-6-box-24"/>
          <p:cNvSpPr/>
          <p:nvPr/>
        </p:nvSpPr>
        <p:spPr>
          <a:xfrm>
            <a:off x="3057753" y="3138220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6-box-25"/>
          <p:cNvSpPr/>
          <p:nvPr/>
        </p:nvSpPr>
        <p:spPr>
          <a:xfrm>
            <a:off x="875995" y="3409797"/>
            <a:ext cx="190195" cy="190195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6-text-26"/>
          <p:cNvSpPr txBox="1"/>
          <p:nvPr/>
        </p:nvSpPr>
        <p:spPr>
          <a:xfrm>
            <a:off x="875995" y="3409797"/>
            <a:ext cx="193852" cy="1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31" name="h2p-6-box-27"/>
          <p:cNvSpPr/>
          <p:nvPr/>
        </p:nvSpPr>
        <p:spPr>
          <a:xfrm>
            <a:off x="3057753" y="3461918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6-box-28"/>
          <p:cNvSpPr/>
          <p:nvPr/>
        </p:nvSpPr>
        <p:spPr>
          <a:xfrm>
            <a:off x="875995" y="3733495"/>
            <a:ext cx="190195" cy="190195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6-text-29"/>
          <p:cNvSpPr txBox="1"/>
          <p:nvPr/>
        </p:nvSpPr>
        <p:spPr>
          <a:xfrm>
            <a:off x="875995" y="3733495"/>
            <a:ext cx="193852" cy="1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34" name="h2p-6-box-30"/>
          <p:cNvSpPr/>
          <p:nvPr/>
        </p:nvSpPr>
        <p:spPr>
          <a:xfrm>
            <a:off x="3057753" y="3786530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6-box-31"/>
          <p:cNvSpPr/>
          <p:nvPr/>
        </p:nvSpPr>
        <p:spPr>
          <a:xfrm>
            <a:off x="3295497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295497" y="604418"/>
            <a:ext cx="8896198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2p-6-text-32"/>
          <p:cNvSpPr txBox="1"/>
          <p:nvPr/>
        </p:nvSpPr>
        <p:spPr>
          <a:xfrm>
            <a:off x="3562502" y="181051"/>
            <a:ext cx="10789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96769"/>
                </a:solidFill>
                <a:latin typeface="Helvetica Neue"/>
              </a:rPr>
              <a:t>#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821631" y="219456"/>
            <a:ext cx="0" cy="16184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h2p-6-text-34"/>
          <p:cNvSpPr txBox="1"/>
          <p:nvPr/>
        </p:nvSpPr>
        <p:spPr>
          <a:xfrm>
            <a:off x="4817059" y="219456"/>
            <a:ext cx="1388059" cy="161848"/>
          </a:xfrm>
          <a:prstGeom prst="rect">
            <a:avLst/>
          </a:prstGeom>
          <a:noFill/>
        </p:spPr>
        <p:txBody>
          <a:bodyPr wrap="square" lIns="133502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696769"/>
                </a:solidFill>
                <a:latin typeface="Helvetica Neue"/>
              </a:rPr>
              <a:t>Ambient mode · on</a:t>
            </a:r>
          </a:p>
        </p:txBody>
      </p:sp>
      <p:sp>
        <p:nvSpPr>
          <p:cNvPr id="40" name="h2p-6-box-35"/>
          <p:cNvSpPr/>
          <p:nvPr/>
        </p:nvSpPr>
        <p:spPr>
          <a:xfrm>
            <a:off x="11069726" y="128930"/>
            <a:ext cx="854964" cy="342900"/>
          </a:xfrm>
          <a:prstGeom prst="roundRect">
            <a:avLst>
              <a:gd name="adj" fmla="val 22220"/>
            </a:avLst>
          </a:prstGeom>
          <a:noFill/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2p-6-box-36"/>
          <p:cNvSpPr/>
          <p:nvPr/>
        </p:nvSpPr>
        <p:spPr>
          <a:xfrm>
            <a:off x="111172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2p-6-text-37"/>
          <p:cNvSpPr txBox="1"/>
          <p:nvPr/>
        </p:nvSpPr>
        <p:spPr>
          <a:xfrm>
            <a:off x="111172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43" name="h2p-6-box-38"/>
          <p:cNvSpPr/>
          <p:nvPr/>
        </p:nvSpPr>
        <p:spPr>
          <a:xfrm>
            <a:off x="11289182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6-text-39"/>
          <p:cNvSpPr txBox="1"/>
          <p:nvPr/>
        </p:nvSpPr>
        <p:spPr>
          <a:xfrm>
            <a:off x="11289182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45" name="h2p-6-box-40"/>
          <p:cNvSpPr/>
          <p:nvPr/>
        </p:nvSpPr>
        <p:spPr>
          <a:xfrm>
            <a:off x="114601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EB6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2p-6-text-41"/>
          <p:cNvSpPr txBox="1"/>
          <p:nvPr/>
        </p:nvSpPr>
        <p:spPr>
          <a:xfrm>
            <a:off x="114601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S</a:t>
            </a:r>
          </a:p>
        </p:txBody>
      </p:sp>
      <p:sp>
        <p:nvSpPr>
          <p:cNvPr id="47" name="h2p-6-text-42"/>
          <p:cNvSpPr txBox="1"/>
          <p:nvPr/>
        </p:nvSpPr>
        <p:spPr>
          <a:xfrm>
            <a:off x="3676802" y="895197"/>
            <a:ext cx="8297265" cy="5138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300">
                <a:solidFill>
                  <a:srgbClr val="1D1C1D"/>
                </a:solidFill>
                <a:latin typeface="Helvetica Neue"/>
              </a:rPr>
              <a:t>It speaks up first.</a:t>
            </a:r>
          </a:p>
        </p:txBody>
      </p:sp>
      <p:sp>
        <p:nvSpPr>
          <p:cNvPr id="48" name="h2p-6-text-43"/>
          <p:cNvSpPr txBox="1"/>
          <p:nvPr/>
        </p:nvSpPr>
        <p:spPr>
          <a:xfrm>
            <a:off x="3676802" y="1485900"/>
            <a:ext cx="69951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96769"/>
                </a:solidFill>
                <a:latin typeface="Helvetica Neue"/>
              </a:rPr>
              <a:t>Turn on ambient behavior and Claude proactively flags what you need to know — and follows up on what's still open.</a:t>
            </a:r>
          </a:p>
        </p:txBody>
      </p:sp>
      <p:sp>
        <p:nvSpPr>
          <p:cNvPr id="49" name="h2p-6-box-44"/>
          <p:cNvSpPr/>
          <p:nvPr/>
        </p:nvSpPr>
        <p:spPr>
          <a:xfrm>
            <a:off x="3847795" y="2553004"/>
            <a:ext cx="7239304" cy="1143000"/>
          </a:xfrm>
          <a:prstGeom prst="roundRect">
            <a:avLst>
              <a:gd name="adj" fmla="val 13330"/>
            </a:avLst>
          </a:prstGeom>
          <a:solidFill>
            <a:srgbClr val="F1EC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2p-6-box-45"/>
          <p:cNvSpPr/>
          <p:nvPr/>
        </p:nvSpPr>
        <p:spPr>
          <a:xfrm>
            <a:off x="3676802" y="2324404"/>
            <a:ext cx="7239304" cy="1457553"/>
          </a:xfrm>
          <a:prstGeom prst="roundRect">
            <a:avLst>
              <a:gd name="adj" fmla="val 10460"/>
            </a:avLst>
          </a:prstGeom>
          <a:solidFill>
            <a:srgbClr val="FFFFFF"/>
          </a:solidFill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14546" y="2523744"/>
            <a:ext cx="418795" cy="418795"/>
          </a:xfrm>
          <a:prstGeom prst="rect">
            <a:avLst/>
          </a:prstGeom>
        </p:spPr>
      </p:pic>
      <p:sp>
        <p:nvSpPr>
          <p:cNvPr id="52" name="h2p-6-text-46"/>
          <p:cNvSpPr txBox="1"/>
          <p:nvPr/>
        </p:nvSpPr>
        <p:spPr>
          <a:xfrm>
            <a:off x="4476902" y="2523744"/>
            <a:ext cx="58613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Claude</a:t>
            </a:r>
          </a:p>
        </p:txBody>
      </p:sp>
      <p:sp>
        <p:nvSpPr>
          <p:cNvPr id="53" name="h2p-6-box-47"/>
          <p:cNvSpPr/>
          <p:nvPr/>
        </p:nvSpPr>
        <p:spPr>
          <a:xfrm>
            <a:off x="5137099" y="2553004"/>
            <a:ext cx="335584" cy="161848"/>
          </a:xfrm>
          <a:prstGeom prst="roundRect">
            <a:avLst>
              <a:gd name="adj" fmla="val 2353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h2p-6-text-48"/>
          <p:cNvSpPr txBox="1"/>
          <p:nvPr/>
        </p:nvSpPr>
        <p:spPr>
          <a:xfrm>
            <a:off x="5137099" y="2553004"/>
            <a:ext cx="341985" cy="161848"/>
          </a:xfrm>
          <a:prstGeom prst="rect">
            <a:avLst/>
          </a:prstGeom>
          <a:noFill/>
        </p:spPr>
        <p:txBody>
          <a:bodyPr wrap="square" lIns="56692" tIns="19202" rIns="56692" bIns="19202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B65A3C"/>
                </a:solidFill>
                <a:latin typeface="Helvetica Neue"/>
              </a:rPr>
              <a:t>APP</a:t>
            </a:r>
          </a:p>
        </p:txBody>
      </p:sp>
      <p:sp>
        <p:nvSpPr>
          <p:cNvPr id="55" name="h2p-6-text-49"/>
          <p:cNvSpPr txBox="1"/>
          <p:nvPr/>
        </p:nvSpPr>
        <p:spPr>
          <a:xfrm>
            <a:off x="5557723" y="2562148"/>
            <a:ext cx="474573" cy="142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just now</a:t>
            </a:r>
          </a:p>
        </p:txBody>
      </p:sp>
      <p:sp>
        <p:nvSpPr>
          <p:cNvPr id="56" name="h2p-6-text-50"/>
          <p:cNvSpPr txBox="1"/>
          <p:nvPr/>
        </p:nvSpPr>
        <p:spPr>
          <a:xfrm>
            <a:off x="4476902" y="2781604"/>
            <a:ext cx="6324904" cy="5907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D1C1D"/>
                </a:solidFill>
                <a:latin typeface="Helvetica Neue"/>
              </a:rPr>
              <a:t>Heads up</a:t>
            </a:r>
            <a:r>
              <a:rPr sz="1500">
                <a:solidFill>
                  <a:srgbClr val="1D1C1D"/>
                </a:solidFill>
                <a:latin typeface="Helvetica Neue"/>
              </a:rPr>
              <a:t> — the vendor finally replied in </a:t>
            </a:r>
            <a:r>
              <a:rPr b="1" sz="1500">
                <a:solidFill>
                  <a:srgbClr val="1264A3"/>
                </a:solidFill>
                <a:latin typeface="Helvetica Neue"/>
              </a:rPr>
              <a:t>#legal</a:t>
            </a:r>
            <a:r>
              <a:rPr sz="1500">
                <a:solidFill>
                  <a:srgbClr val="1D1C1D"/>
                </a:solidFill>
                <a:latin typeface="Helvetica Neue"/>
              </a:rPr>
              <a:t>. The contract blocker you flagged Tuesday is cleared. Want me to ping the team?</a:t>
            </a:r>
          </a:p>
        </p:txBody>
      </p:sp>
      <p:sp>
        <p:nvSpPr>
          <p:cNvPr id="57" name="h2p-6-box-51"/>
          <p:cNvSpPr/>
          <p:nvPr/>
        </p:nvSpPr>
        <p:spPr>
          <a:xfrm>
            <a:off x="4533595" y="3962095"/>
            <a:ext cx="7239304" cy="1800453"/>
          </a:xfrm>
          <a:prstGeom prst="roundRect">
            <a:avLst>
              <a:gd name="adj" fmla="val 847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8" name="Connector 57"/>
          <p:cNvCxnSpPr/>
          <p:nvPr/>
        </p:nvCxnSpPr>
        <p:spPr>
          <a:xfrm>
            <a:off x="4533595" y="3967581"/>
            <a:ext cx="7239305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1768328" y="3962095"/>
            <a:ext cx="0" cy="1800453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4533595" y="5757976"/>
            <a:ext cx="7239305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4557369" y="3962095"/>
            <a:ext cx="0" cy="1800453"/>
          </a:xfrm>
          <a:prstGeom prst="line">
            <a:avLst/>
          </a:prstGeom>
          <a:ln w="48260">
            <a:solidFill>
              <a:srgbClr val="D9775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2" name="Picture 61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09744" y="4162348"/>
            <a:ext cx="418795" cy="418795"/>
          </a:xfrm>
          <a:prstGeom prst="rect">
            <a:avLst/>
          </a:prstGeom>
        </p:spPr>
      </p:pic>
      <p:sp>
        <p:nvSpPr>
          <p:cNvPr id="63" name="h2p-6-text-52"/>
          <p:cNvSpPr txBox="1"/>
          <p:nvPr/>
        </p:nvSpPr>
        <p:spPr>
          <a:xfrm>
            <a:off x="5372100" y="4162348"/>
            <a:ext cx="58613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Claude</a:t>
            </a:r>
          </a:p>
        </p:txBody>
      </p:sp>
      <p:sp>
        <p:nvSpPr>
          <p:cNvPr id="64" name="h2p-6-box-53"/>
          <p:cNvSpPr/>
          <p:nvPr/>
        </p:nvSpPr>
        <p:spPr>
          <a:xfrm>
            <a:off x="6032296" y="4190695"/>
            <a:ext cx="335584" cy="161848"/>
          </a:xfrm>
          <a:prstGeom prst="roundRect">
            <a:avLst>
              <a:gd name="adj" fmla="val 2353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h2p-6-text-54"/>
          <p:cNvSpPr txBox="1"/>
          <p:nvPr/>
        </p:nvSpPr>
        <p:spPr>
          <a:xfrm>
            <a:off x="6032296" y="4190695"/>
            <a:ext cx="341985" cy="161848"/>
          </a:xfrm>
          <a:prstGeom prst="rect">
            <a:avLst/>
          </a:prstGeom>
          <a:noFill/>
        </p:spPr>
        <p:txBody>
          <a:bodyPr wrap="square" lIns="56692" tIns="19202" rIns="56692" bIns="19202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B65A3C"/>
                </a:solidFill>
                <a:latin typeface="Helvetica Neue"/>
              </a:rPr>
              <a:t>APP</a:t>
            </a:r>
          </a:p>
        </p:txBody>
      </p:sp>
      <p:sp>
        <p:nvSpPr>
          <p:cNvPr id="66" name="h2p-6-text-55"/>
          <p:cNvSpPr txBox="1"/>
          <p:nvPr/>
        </p:nvSpPr>
        <p:spPr>
          <a:xfrm>
            <a:off x="6453835" y="4200753"/>
            <a:ext cx="472744" cy="142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8:00 AM</a:t>
            </a:r>
          </a:p>
        </p:txBody>
      </p:sp>
      <p:sp>
        <p:nvSpPr>
          <p:cNvPr id="67" name="h2p-6-text-56"/>
          <p:cNvSpPr txBox="1"/>
          <p:nvPr/>
        </p:nvSpPr>
        <p:spPr>
          <a:xfrm>
            <a:off x="5372100" y="4419295"/>
            <a:ext cx="6285585" cy="5907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D1C1D"/>
                </a:solidFill>
                <a:latin typeface="Helvetica Neue"/>
              </a:rPr>
              <a:t>Your 3 open items from yesterday: 2 done, 1 waiting on design. I'll nudge them at noon if it's still open.</a:t>
            </a:r>
          </a:p>
        </p:txBody>
      </p:sp>
      <p:sp>
        <p:nvSpPr>
          <p:cNvPr id="68" name="h2p-6-box-57"/>
          <p:cNvSpPr/>
          <p:nvPr/>
        </p:nvSpPr>
        <p:spPr>
          <a:xfrm>
            <a:off x="5372100" y="5115153"/>
            <a:ext cx="474573" cy="23774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 w="1016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h2p-6-box-58"/>
          <p:cNvSpPr/>
          <p:nvPr/>
        </p:nvSpPr>
        <p:spPr>
          <a:xfrm>
            <a:off x="5486400" y="5181904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7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5902" y="2971800"/>
            <a:ext cx="3714292" cy="3714292"/>
          </a:xfrm>
          <a:prstGeom prst="rect">
            <a:avLst/>
          </a:prstGeom>
        </p:spPr>
      </p:pic>
      <p:sp>
        <p:nvSpPr>
          <p:cNvPr id="5" name="h2p-7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7" name="h2p-7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7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9" name="h2p-7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7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1" name="h2p-7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7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3" name="h2p-7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7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7-text-11"/>
          <p:cNvSpPr txBox="1"/>
          <p:nvPr/>
        </p:nvSpPr>
        <p:spPr>
          <a:xfrm>
            <a:off x="1428292" y="914400"/>
            <a:ext cx="505206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D97757"/>
                </a:solidFill>
                <a:latin typeface="Menlo"/>
              </a:rPr>
              <a:t>ASYNCHRONOUS BY DESIGN</a:t>
            </a:r>
          </a:p>
        </p:txBody>
      </p:sp>
      <p:sp>
        <p:nvSpPr>
          <p:cNvPr id="16" name="h2p-7-text-12"/>
          <p:cNvSpPr txBox="1"/>
          <p:nvPr/>
        </p:nvSpPr>
        <p:spPr>
          <a:xfrm>
            <a:off x="1428292" y="1295704"/>
            <a:ext cx="5052060" cy="185988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650">
                <a:solidFill>
                  <a:srgbClr val="FFFFFF"/>
                </a:solidFill>
                <a:latin typeface="Helvetica Neue"/>
              </a:rPr>
              <a:t>It works</a:t>
            </a:r>
          </a:p>
          <a:p>
            <a:pPr marL="0" indent="0" algn="l">
              <a:lnSpc>
                <a:spcPts val="4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650">
                <a:solidFill>
                  <a:srgbClr val="FFFFFF"/>
                </a:solidFill>
                <a:latin typeface="Helvetica Neue"/>
              </a:rPr>
              <a:t>while you're</a:t>
            </a:r>
          </a:p>
          <a:p>
            <a:pPr marL="0" indent="0" algn="l">
              <a:lnSpc>
                <a:spcPts val="48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4650">
                <a:solidFill>
                  <a:srgbClr val="FFFFFF"/>
                </a:solidFill>
                <a:latin typeface="Helvetica Neue"/>
              </a:rPr>
              <a:t>away.</a:t>
            </a:r>
          </a:p>
        </p:txBody>
      </p:sp>
      <p:sp>
        <p:nvSpPr>
          <p:cNvPr id="17" name="h2p-7-text-13"/>
          <p:cNvSpPr txBox="1"/>
          <p:nvPr/>
        </p:nvSpPr>
        <p:spPr>
          <a:xfrm>
            <a:off x="1428292" y="3384194"/>
            <a:ext cx="4177893" cy="7141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8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80">
                <a:solidFill>
                  <a:srgbClr val="E4D6E4"/>
                </a:solidFill>
                <a:latin typeface="Helvetica Neue"/>
              </a:rPr>
              <a:t>Hand off a project and close the laptop. Claude schedules its own tasks and pursues the goal autonomously — over hours or days.</a:t>
            </a:r>
          </a:p>
        </p:txBody>
      </p:sp>
      <p:sp>
        <p:nvSpPr>
          <p:cNvPr id="18" name="h2p-7-box-14"/>
          <p:cNvSpPr/>
          <p:nvPr/>
        </p:nvSpPr>
        <p:spPr>
          <a:xfrm>
            <a:off x="6858000" y="1143000"/>
            <a:ext cx="4476902" cy="3323844"/>
          </a:xfrm>
          <a:prstGeom prst="roundRect">
            <a:avLst>
              <a:gd name="adj" fmla="val 516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7-text-15"/>
          <p:cNvSpPr txBox="1"/>
          <p:nvPr/>
        </p:nvSpPr>
        <p:spPr>
          <a:xfrm>
            <a:off x="7134148" y="1399946"/>
            <a:ext cx="4003243" cy="142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C9AFCB"/>
                </a:solidFill>
                <a:latin typeface="Menlo"/>
              </a:rPr>
              <a:t>THREAD · MIGRATE-BILLING</a:t>
            </a:r>
          </a:p>
        </p:txBody>
      </p:sp>
      <p:sp>
        <p:nvSpPr>
          <p:cNvPr id="20" name="h2p-7-box-16"/>
          <p:cNvSpPr/>
          <p:nvPr/>
        </p:nvSpPr>
        <p:spPr>
          <a:xfrm>
            <a:off x="7134148" y="1781251"/>
            <a:ext cx="133502" cy="133502"/>
          </a:xfrm>
          <a:prstGeom prst="roundRect">
            <a:avLst>
              <a:gd name="adj" fmla="val 50000"/>
            </a:avLst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7-text-17"/>
          <p:cNvSpPr txBox="1"/>
          <p:nvPr/>
        </p:nvSpPr>
        <p:spPr>
          <a:xfrm>
            <a:off x="7401153" y="1733702"/>
            <a:ext cx="2165299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FFFFFF"/>
                </a:solidFill>
                <a:latin typeface="Helvetica Neue"/>
              </a:rPr>
              <a:t>Mapped the legacy schema</a:t>
            </a:r>
          </a:p>
        </p:txBody>
      </p:sp>
      <p:sp>
        <p:nvSpPr>
          <p:cNvPr id="22" name="h2p-7-text-18"/>
          <p:cNvSpPr txBox="1"/>
          <p:nvPr/>
        </p:nvSpPr>
        <p:spPr>
          <a:xfrm>
            <a:off x="7401153" y="1952243"/>
            <a:ext cx="2165299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B79DB8"/>
                </a:solidFill>
                <a:latin typeface="Menlo"/>
              </a:rPr>
              <a:t>Mon 09:12 · done</a:t>
            </a:r>
          </a:p>
        </p:txBody>
      </p:sp>
      <p:sp>
        <p:nvSpPr>
          <p:cNvPr id="23" name="h2p-7-box-19"/>
          <p:cNvSpPr/>
          <p:nvPr/>
        </p:nvSpPr>
        <p:spPr>
          <a:xfrm>
            <a:off x="7134148" y="2324404"/>
            <a:ext cx="133502" cy="133502"/>
          </a:xfrm>
          <a:prstGeom prst="roundRect">
            <a:avLst>
              <a:gd name="adj" fmla="val 50000"/>
            </a:avLst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h2p-7-text-20"/>
          <p:cNvSpPr txBox="1"/>
          <p:nvPr/>
        </p:nvSpPr>
        <p:spPr>
          <a:xfrm>
            <a:off x="7401153" y="2276856"/>
            <a:ext cx="2147925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FFFFFF"/>
                </a:solidFill>
                <a:latin typeface="Helvetica Neue"/>
              </a:rPr>
              <a:t>Wrote + ran migration tests</a:t>
            </a:r>
          </a:p>
        </p:txBody>
      </p:sp>
      <p:sp>
        <p:nvSpPr>
          <p:cNvPr id="25" name="h2p-7-text-21"/>
          <p:cNvSpPr txBox="1"/>
          <p:nvPr/>
        </p:nvSpPr>
        <p:spPr>
          <a:xfrm>
            <a:off x="7401153" y="2495397"/>
            <a:ext cx="2147925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B79DB8"/>
                </a:solidFill>
                <a:latin typeface="Menlo"/>
              </a:rPr>
              <a:t>Mon 14:40 · done</a:t>
            </a:r>
          </a:p>
        </p:txBody>
      </p:sp>
      <p:sp>
        <p:nvSpPr>
          <p:cNvPr id="26" name="h2p-7-box-22"/>
          <p:cNvSpPr/>
          <p:nvPr/>
        </p:nvSpPr>
        <p:spPr>
          <a:xfrm>
            <a:off x="7134148" y="2866644"/>
            <a:ext cx="133502" cy="133502"/>
          </a:xfrm>
          <a:prstGeom prst="roundRect">
            <a:avLst>
              <a:gd name="adj" fmla="val 50000"/>
            </a:avLst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7-text-23"/>
          <p:cNvSpPr txBox="1"/>
          <p:nvPr/>
        </p:nvSpPr>
        <p:spPr>
          <a:xfrm>
            <a:off x="7401153" y="2819095"/>
            <a:ext cx="2242108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FFFFFF"/>
                </a:solidFill>
                <a:latin typeface="Helvetica Neue"/>
              </a:rPr>
              <a:t>Scheduled overnight backfill</a:t>
            </a:r>
          </a:p>
        </p:txBody>
      </p:sp>
      <p:sp>
        <p:nvSpPr>
          <p:cNvPr id="28" name="h2p-7-text-24"/>
          <p:cNvSpPr txBox="1"/>
          <p:nvPr/>
        </p:nvSpPr>
        <p:spPr>
          <a:xfrm>
            <a:off x="7401153" y="3038551"/>
            <a:ext cx="2242108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B79DB8"/>
                </a:solidFill>
                <a:latin typeface="Menlo"/>
              </a:rPr>
              <a:t>Mon 23:00 · queued</a:t>
            </a:r>
          </a:p>
        </p:txBody>
      </p:sp>
      <p:sp>
        <p:nvSpPr>
          <p:cNvPr id="29" name="h2p-7-box-25"/>
          <p:cNvSpPr/>
          <p:nvPr/>
        </p:nvSpPr>
        <p:spPr>
          <a:xfrm>
            <a:off x="7134148" y="3409797"/>
            <a:ext cx="133502" cy="133502"/>
          </a:xfrm>
          <a:prstGeom prst="roundRect">
            <a:avLst>
              <a:gd name="adj" fmla="val 5000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7-text-26"/>
          <p:cNvSpPr txBox="1"/>
          <p:nvPr/>
        </p:nvSpPr>
        <p:spPr>
          <a:xfrm>
            <a:off x="7401153" y="3362248"/>
            <a:ext cx="163769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80">
                <a:solidFill>
                  <a:srgbClr val="FFFFFF"/>
                </a:solidFill>
                <a:latin typeface="Helvetica Neue"/>
              </a:rPr>
              <a:t>Will report back here</a:t>
            </a:r>
          </a:p>
        </p:txBody>
      </p:sp>
      <p:sp>
        <p:nvSpPr>
          <p:cNvPr id="31" name="h2p-7-text-27"/>
          <p:cNvSpPr txBox="1"/>
          <p:nvPr/>
        </p:nvSpPr>
        <p:spPr>
          <a:xfrm>
            <a:off x="7401153" y="3581704"/>
            <a:ext cx="1637690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B79DB8"/>
                </a:solidFill>
                <a:latin typeface="Menlo"/>
              </a:rPr>
              <a:t>Tue 08:00 · upcoming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7134148" y="3909974"/>
            <a:ext cx="3924605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h2p-7-text-29"/>
          <p:cNvSpPr txBox="1"/>
          <p:nvPr/>
        </p:nvSpPr>
        <p:spPr>
          <a:xfrm>
            <a:off x="7134148" y="3905402"/>
            <a:ext cx="4003243" cy="304495"/>
          </a:xfrm>
          <a:prstGeom prst="rect">
            <a:avLst/>
          </a:prstGeom>
          <a:noFill/>
        </p:spPr>
        <p:txBody>
          <a:bodyPr wrap="square" lIns="0" tIns="133502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E4D6E4"/>
                </a:solidFill>
                <a:latin typeface="Helvetica Neue"/>
              </a:rPr>
              <a:t>No babysitting. It checks back in when it's done.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8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2p-8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6" name="h2p-8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8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8" name="h2p-8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8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0" name="h2p-8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8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2" name="h2p-8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8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8-box-11"/>
          <p:cNvSpPr/>
          <p:nvPr/>
        </p:nvSpPr>
        <p:spPr>
          <a:xfrm>
            <a:off x="724204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4204" y="604418"/>
            <a:ext cx="8896198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2p-8-text-12"/>
          <p:cNvSpPr txBox="1"/>
          <p:nvPr/>
        </p:nvSpPr>
        <p:spPr>
          <a:xfrm>
            <a:off x="990295" y="181051"/>
            <a:ext cx="10789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96769"/>
                </a:solidFill>
                <a:latin typeface="Helvetica Neue"/>
              </a:rPr>
              <a:t>#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2485339" y="219456"/>
            <a:ext cx="0" cy="16184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h2p-8-text-14"/>
          <p:cNvSpPr txBox="1"/>
          <p:nvPr/>
        </p:nvSpPr>
        <p:spPr>
          <a:xfrm>
            <a:off x="2480767" y="219456"/>
            <a:ext cx="1968703" cy="161848"/>
          </a:xfrm>
          <a:prstGeom prst="rect">
            <a:avLst/>
          </a:prstGeom>
          <a:noFill/>
        </p:spPr>
        <p:txBody>
          <a:bodyPr wrap="square" lIns="133502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696769"/>
                </a:solidFill>
                <a:latin typeface="Helvetica Neue"/>
              </a:rPr>
              <a:t>From @mention to delivered</a:t>
            </a:r>
          </a:p>
        </p:txBody>
      </p:sp>
      <p:sp>
        <p:nvSpPr>
          <p:cNvPr id="19" name="h2p-8-box-15"/>
          <p:cNvSpPr/>
          <p:nvPr/>
        </p:nvSpPr>
        <p:spPr>
          <a:xfrm>
            <a:off x="8498433" y="128930"/>
            <a:ext cx="854964" cy="342900"/>
          </a:xfrm>
          <a:prstGeom prst="roundRect">
            <a:avLst>
              <a:gd name="adj" fmla="val 22220"/>
            </a:avLst>
          </a:prstGeom>
          <a:noFill/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h2p-8-box-16"/>
          <p:cNvSpPr/>
          <p:nvPr/>
        </p:nvSpPr>
        <p:spPr>
          <a:xfrm>
            <a:off x="8545982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8-text-17"/>
          <p:cNvSpPr txBox="1"/>
          <p:nvPr/>
        </p:nvSpPr>
        <p:spPr>
          <a:xfrm>
            <a:off x="8545982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22" name="h2p-8-box-18"/>
          <p:cNvSpPr/>
          <p:nvPr/>
        </p:nvSpPr>
        <p:spPr>
          <a:xfrm>
            <a:off x="87169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8-text-19"/>
          <p:cNvSpPr txBox="1"/>
          <p:nvPr/>
        </p:nvSpPr>
        <p:spPr>
          <a:xfrm>
            <a:off x="87169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24" name="h2p-8-box-20"/>
          <p:cNvSpPr/>
          <p:nvPr/>
        </p:nvSpPr>
        <p:spPr>
          <a:xfrm>
            <a:off x="8888882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EB6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2p-8-text-21"/>
          <p:cNvSpPr txBox="1"/>
          <p:nvPr/>
        </p:nvSpPr>
        <p:spPr>
          <a:xfrm>
            <a:off x="8888882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S</a:t>
            </a:r>
          </a:p>
        </p:txBody>
      </p:sp>
      <p:sp>
        <p:nvSpPr>
          <p:cNvPr id="26" name="h2p-8-text-22"/>
          <p:cNvSpPr txBox="1"/>
          <p:nvPr/>
        </p:nvSpPr>
        <p:spPr>
          <a:xfrm>
            <a:off x="1333195" y="1028700"/>
            <a:ext cx="10453420" cy="53309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41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450">
                <a:solidFill>
                  <a:srgbClr val="1D1C1D"/>
                </a:solidFill>
                <a:latin typeface="Helvetica Neue"/>
              </a:rPr>
              <a:t>Four moves, every time.</a:t>
            </a:r>
          </a:p>
        </p:txBody>
      </p:sp>
      <p:sp>
        <p:nvSpPr>
          <p:cNvPr id="27" name="h2p-8-text-23"/>
          <p:cNvSpPr txBox="1"/>
          <p:nvPr/>
        </p:nvSpPr>
        <p:spPr>
          <a:xfrm>
            <a:off x="1333195" y="1656892"/>
            <a:ext cx="1045342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96769"/>
                </a:solidFill>
                <a:latin typeface="Helvetica Neue"/>
              </a:rPr>
              <a:t>The same loop, whether the task takes ten seconds or two days.</a:t>
            </a:r>
          </a:p>
        </p:txBody>
      </p:sp>
      <p:sp>
        <p:nvSpPr>
          <p:cNvPr id="28" name="h2p-8-box-24"/>
          <p:cNvSpPr/>
          <p:nvPr/>
        </p:nvSpPr>
        <p:spPr>
          <a:xfrm>
            <a:off x="1333195" y="2286000"/>
            <a:ext cx="2419502" cy="1853488"/>
          </a:xfrm>
          <a:prstGeom prst="roundRect">
            <a:avLst>
              <a:gd name="adj" fmla="val 82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9" name="Connector 28"/>
          <p:cNvCxnSpPr/>
          <p:nvPr/>
        </p:nvCxnSpPr>
        <p:spPr>
          <a:xfrm>
            <a:off x="1333195" y="2314346"/>
            <a:ext cx="2419502" cy="0"/>
          </a:xfrm>
          <a:prstGeom prst="line">
            <a:avLst/>
          </a:prstGeom>
          <a:ln w="57150">
            <a:solidFill>
              <a:srgbClr val="E01E5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748125" y="2286000"/>
            <a:ext cx="0" cy="185348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333195" y="4134916"/>
            <a:ext cx="2419502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338681" y="2286000"/>
            <a:ext cx="0" cy="185348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h2p-8-text-25"/>
          <p:cNvSpPr txBox="1"/>
          <p:nvPr/>
        </p:nvSpPr>
        <p:spPr>
          <a:xfrm>
            <a:off x="1552651" y="2571292"/>
            <a:ext cx="2020824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E01E5A"/>
                </a:solidFill>
                <a:latin typeface="Menlo"/>
              </a:rPr>
              <a:t>STEP 1</a:t>
            </a:r>
          </a:p>
        </p:txBody>
      </p:sp>
      <p:sp>
        <p:nvSpPr>
          <p:cNvPr id="34" name="h2p-8-text-26"/>
          <p:cNvSpPr txBox="1"/>
          <p:nvPr/>
        </p:nvSpPr>
        <p:spPr>
          <a:xfrm>
            <a:off x="1552651" y="2838297"/>
            <a:ext cx="2020824" cy="262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1D1C1D"/>
                </a:solidFill>
                <a:latin typeface="Helvetica Neue"/>
              </a:rPr>
              <a:t>You tag it</a:t>
            </a:r>
          </a:p>
        </p:txBody>
      </p:sp>
      <p:sp>
        <p:nvSpPr>
          <p:cNvPr id="35" name="h2p-8-text-27"/>
          <p:cNvSpPr txBox="1"/>
          <p:nvPr/>
        </p:nvSpPr>
        <p:spPr>
          <a:xfrm>
            <a:off x="1552651" y="3196742"/>
            <a:ext cx="20208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D97757"/>
                </a:solidFill>
                <a:latin typeface="Helvetica Neue"/>
              </a:rPr>
              <a:t>@Claude</a:t>
            </a:r>
            <a:r>
              <a:rPr sz="1200">
                <a:solidFill>
                  <a:srgbClr val="696769"/>
                </a:solidFill>
                <a:latin typeface="Helvetica Neue"/>
              </a:rPr>
              <a:t> plus a plain-language request, right in the channel.</a:t>
            </a:r>
          </a:p>
        </p:txBody>
      </p:sp>
      <p:sp>
        <p:nvSpPr>
          <p:cNvPr id="36" name="h2p-8-box-28"/>
          <p:cNvSpPr/>
          <p:nvPr/>
        </p:nvSpPr>
        <p:spPr>
          <a:xfrm>
            <a:off x="3942892" y="2286000"/>
            <a:ext cx="2419502" cy="1853488"/>
          </a:xfrm>
          <a:prstGeom prst="roundRect">
            <a:avLst>
              <a:gd name="adj" fmla="val 82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7" name="Connector 36"/>
          <p:cNvCxnSpPr/>
          <p:nvPr/>
        </p:nvCxnSpPr>
        <p:spPr>
          <a:xfrm>
            <a:off x="3942892" y="2314346"/>
            <a:ext cx="2419503" cy="0"/>
          </a:xfrm>
          <a:prstGeom prst="line">
            <a:avLst/>
          </a:prstGeom>
          <a:ln w="57150">
            <a:solidFill>
              <a:srgbClr val="36C5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6357823" y="2286000"/>
            <a:ext cx="0" cy="185348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42892" y="4134916"/>
            <a:ext cx="2419503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8379" y="2286000"/>
            <a:ext cx="0" cy="185348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h2p-8-text-29"/>
          <p:cNvSpPr txBox="1"/>
          <p:nvPr/>
        </p:nvSpPr>
        <p:spPr>
          <a:xfrm>
            <a:off x="4162348" y="2571292"/>
            <a:ext cx="2020824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36C5F0"/>
                </a:solidFill>
                <a:latin typeface="Menlo"/>
              </a:rPr>
              <a:t>STEP 2</a:t>
            </a:r>
          </a:p>
        </p:txBody>
      </p:sp>
      <p:sp>
        <p:nvSpPr>
          <p:cNvPr id="42" name="h2p-8-text-30"/>
          <p:cNvSpPr txBox="1"/>
          <p:nvPr/>
        </p:nvSpPr>
        <p:spPr>
          <a:xfrm>
            <a:off x="4162348" y="2838297"/>
            <a:ext cx="2020824" cy="262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1D1C1D"/>
                </a:solidFill>
                <a:latin typeface="Helvetica Neue"/>
              </a:rPr>
              <a:t>It plans</a:t>
            </a:r>
          </a:p>
        </p:txBody>
      </p:sp>
      <p:sp>
        <p:nvSpPr>
          <p:cNvPr id="43" name="h2p-8-text-31"/>
          <p:cNvSpPr txBox="1"/>
          <p:nvPr/>
        </p:nvSpPr>
        <p:spPr>
          <a:xfrm>
            <a:off x="4162348" y="3196742"/>
            <a:ext cx="20208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96769"/>
                </a:solidFill>
                <a:latin typeface="Helvetica Neue"/>
              </a:rPr>
              <a:t>Claude breaks the request into stages and decides what each one needs.</a:t>
            </a:r>
          </a:p>
        </p:txBody>
      </p:sp>
      <p:sp>
        <p:nvSpPr>
          <p:cNvPr id="44" name="h2p-8-box-32"/>
          <p:cNvSpPr/>
          <p:nvPr/>
        </p:nvSpPr>
        <p:spPr>
          <a:xfrm>
            <a:off x="6553504" y="2286000"/>
            <a:ext cx="2419502" cy="1853488"/>
          </a:xfrm>
          <a:prstGeom prst="roundRect">
            <a:avLst>
              <a:gd name="adj" fmla="val 82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6553504" y="2314346"/>
            <a:ext cx="2418588" cy="0"/>
          </a:xfrm>
          <a:prstGeom prst="line">
            <a:avLst/>
          </a:prstGeom>
          <a:ln w="57150">
            <a:solidFill>
              <a:srgbClr val="2EB67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67520" y="2286000"/>
            <a:ext cx="0" cy="185348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6553504" y="4134916"/>
            <a:ext cx="2418588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6558076" y="2286000"/>
            <a:ext cx="0" cy="185348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h2p-8-text-33"/>
          <p:cNvSpPr txBox="1"/>
          <p:nvPr/>
        </p:nvSpPr>
        <p:spPr>
          <a:xfrm>
            <a:off x="6772046" y="2571292"/>
            <a:ext cx="2020824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2EB67D"/>
                </a:solidFill>
                <a:latin typeface="Menlo"/>
              </a:rPr>
              <a:t>STEP 3</a:t>
            </a:r>
          </a:p>
        </p:txBody>
      </p:sp>
      <p:sp>
        <p:nvSpPr>
          <p:cNvPr id="50" name="h2p-8-text-34"/>
          <p:cNvSpPr txBox="1"/>
          <p:nvPr/>
        </p:nvSpPr>
        <p:spPr>
          <a:xfrm>
            <a:off x="6772046" y="2838297"/>
            <a:ext cx="2020824" cy="262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1D1C1D"/>
                </a:solidFill>
                <a:latin typeface="Helvetica Neue"/>
              </a:rPr>
              <a:t>It uses tools</a:t>
            </a:r>
          </a:p>
        </p:txBody>
      </p:sp>
      <p:sp>
        <p:nvSpPr>
          <p:cNvPr id="51" name="h2p-8-text-35"/>
          <p:cNvSpPr txBox="1"/>
          <p:nvPr/>
        </p:nvSpPr>
        <p:spPr>
          <a:xfrm>
            <a:off x="6772046" y="3196742"/>
            <a:ext cx="20208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96769"/>
                </a:solidFill>
                <a:latin typeface="Helvetica Neue"/>
              </a:rPr>
              <a:t>Working through the stages with the tools and data it's been granted.</a:t>
            </a:r>
          </a:p>
        </p:txBody>
      </p:sp>
      <p:sp>
        <p:nvSpPr>
          <p:cNvPr id="52" name="h2p-8-box-36"/>
          <p:cNvSpPr/>
          <p:nvPr/>
        </p:nvSpPr>
        <p:spPr>
          <a:xfrm>
            <a:off x="9163202" y="2286000"/>
            <a:ext cx="2419502" cy="1853488"/>
          </a:xfrm>
          <a:prstGeom prst="roundRect">
            <a:avLst>
              <a:gd name="adj" fmla="val 822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" name="Connector 52"/>
          <p:cNvCxnSpPr/>
          <p:nvPr/>
        </p:nvCxnSpPr>
        <p:spPr>
          <a:xfrm>
            <a:off x="9163202" y="2314346"/>
            <a:ext cx="2419502" cy="0"/>
          </a:xfrm>
          <a:prstGeom prst="line">
            <a:avLst/>
          </a:prstGeom>
          <a:ln w="57150">
            <a:solidFill>
              <a:srgbClr val="ECB22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11577218" y="2286000"/>
            <a:ext cx="0" cy="185348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163202" y="4134916"/>
            <a:ext cx="2419502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167774" y="2286000"/>
            <a:ext cx="0" cy="185348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h2p-8-text-37"/>
          <p:cNvSpPr txBox="1"/>
          <p:nvPr/>
        </p:nvSpPr>
        <p:spPr>
          <a:xfrm>
            <a:off x="9381744" y="2571292"/>
            <a:ext cx="2020824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050">
                <a:solidFill>
                  <a:srgbClr val="ECB22E"/>
                </a:solidFill>
                <a:latin typeface="Menlo"/>
              </a:rPr>
              <a:t>STEP 4</a:t>
            </a:r>
          </a:p>
        </p:txBody>
      </p:sp>
      <p:sp>
        <p:nvSpPr>
          <p:cNvPr id="58" name="h2p-8-text-38"/>
          <p:cNvSpPr txBox="1"/>
          <p:nvPr/>
        </p:nvSpPr>
        <p:spPr>
          <a:xfrm>
            <a:off x="9381744" y="2838297"/>
            <a:ext cx="2020824" cy="2624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800">
                <a:solidFill>
                  <a:srgbClr val="1D1C1D"/>
                </a:solidFill>
                <a:latin typeface="Helvetica Neue"/>
              </a:rPr>
              <a:t>It replies</a:t>
            </a:r>
          </a:p>
        </p:txBody>
      </p:sp>
      <p:sp>
        <p:nvSpPr>
          <p:cNvPr id="59" name="h2p-8-text-39"/>
          <p:cNvSpPr txBox="1"/>
          <p:nvPr/>
        </p:nvSpPr>
        <p:spPr>
          <a:xfrm>
            <a:off x="9381744" y="3196742"/>
            <a:ext cx="2020824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96769"/>
                </a:solidFill>
                <a:latin typeface="Helvetica Neue"/>
              </a:rPr>
              <a:t>Results land back in the thread — visible to the whole team.</a:t>
            </a:r>
          </a:p>
        </p:txBody>
      </p:sp>
      <p:sp>
        <p:nvSpPr>
          <p:cNvPr id="60" name="h2p-8-box-40"/>
          <p:cNvSpPr/>
          <p:nvPr/>
        </p:nvSpPr>
        <p:spPr>
          <a:xfrm>
            <a:off x="1333195" y="4463186"/>
            <a:ext cx="10248595" cy="847648"/>
          </a:xfrm>
          <a:prstGeom prst="roundRect">
            <a:avLst>
              <a:gd name="adj" fmla="val 13480"/>
            </a:avLst>
          </a:prstGeom>
          <a:solidFill>
            <a:srgbClr val="F5F3F0"/>
          </a:solidFill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h2p-8-text-41"/>
          <p:cNvSpPr txBox="1"/>
          <p:nvPr/>
        </p:nvSpPr>
        <p:spPr>
          <a:xfrm>
            <a:off x="1333195" y="4463186"/>
            <a:ext cx="10453420" cy="847648"/>
          </a:xfrm>
          <a:prstGeom prst="rect">
            <a:avLst/>
          </a:prstGeom>
          <a:noFill/>
        </p:spPr>
        <p:txBody>
          <a:bodyPr wrap="square" lIns="209397" tIns="171907" rIns="209397" bIns="171907" anchor="ctr">
            <a:spAutoFit/>
          </a:bodyPr>
          <a:lstStyle/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D97757"/>
                </a:solidFill>
                <a:latin typeface="Menlo"/>
              </a:rPr>
              <a:t>@Claude</a:t>
            </a:r>
            <a:r>
              <a:rPr sz="1120">
                <a:solidFill>
                  <a:srgbClr val="3A3A3A"/>
                </a:solidFill>
                <a:latin typeface="Menlo"/>
              </a:rPr>
              <a:t> reconcile the Q2 numbers against the data room and post a summary</a:t>
            </a:r>
          </a:p>
          <a:p>
            <a:pPr marL="0" indent="0" algn="l">
              <a:lnSpc>
                <a:spcPts val="19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2EB67D"/>
                </a:solidFill>
                <a:latin typeface="Menlo"/>
              </a:rPr>
              <a:t>✓ planning · reading data room · cross-checking · drafting</a:t>
            </a:r>
            <a:r>
              <a:rPr sz="1120">
                <a:solidFill>
                  <a:srgbClr val="3A3A3A"/>
                </a:solidFill>
                <a:latin typeface="Menlo"/>
              </a:rPr>
              <a:t> </a:t>
            </a:r>
            <a:r>
              <a:rPr sz="1120">
                <a:solidFill>
                  <a:srgbClr val="696769"/>
                </a:solidFill>
                <a:latin typeface="Menlo"/>
              </a:rPr>
              <a:t>→ reply in thread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9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2p-9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6" name="h2p-9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9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8" name="h2p-9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9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0" name="h2p-9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9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2" name="h2p-9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9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9-box-11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4204" y="604418"/>
            <a:ext cx="2571293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2p-9-text-13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FBFD0"/>
                </a:solidFill>
                <a:latin typeface="Helvetica Neue"/>
              </a:rPr>
              <a:t>▾</a:t>
            </a:r>
          </a:p>
        </p:txBody>
      </p:sp>
      <p:sp>
        <p:nvSpPr>
          <p:cNvPr id="17" name="h2p-9-text-14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</p:spPr>
        <p:txBody>
          <a:bodyPr wrap="square" lIns="152704" tIns="171907" rIns="152704" bIns="56692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A98FAA"/>
                </a:solidFill>
                <a:latin typeface="Helvetica Neue"/>
              </a:rPr>
              <a:t>CHANNELS</a:t>
            </a:r>
          </a:p>
        </p:txBody>
      </p:sp>
      <p:sp>
        <p:nvSpPr>
          <p:cNvPr id="18" name="h2p-9-text-15"/>
          <p:cNvSpPr txBox="1"/>
          <p:nvPr/>
        </p:nvSpPr>
        <p:spPr>
          <a:xfrm>
            <a:off x="875995" y="1047902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19" name="h2p-9-text-16"/>
          <p:cNvSpPr txBox="1"/>
          <p:nvPr/>
        </p:nvSpPr>
        <p:spPr>
          <a:xfrm>
            <a:off x="875995" y="1380744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0" name="h2p-9-box-17"/>
          <p:cNvSpPr/>
          <p:nvPr/>
        </p:nvSpPr>
        <p:spPr>
          <a:xfrm>
            <a:off x="2946196" y="1399946"/>
            <a:ext cx="196596" cy="161848"/>
          </a:xfrm>
          <a:prstGeom prst="roundRect">
            <a:avLst>
              <a:gd name="adj" fmla="val 50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9-text-18"/>
          <p:cNvSpPr txBox="1"/>
          <p:nvPr/>
        </p:nvSpPr>
        <p:spPr>
          <a:xfrm>
            <a:off x="2946196" y="1399946"/>
            <a:ext cx="201168" cy="161848"/>
          </a:xfrm>
          <a:prstGeom prst="rect">
            <a:avLst/>
          </a:prstGeom>
          <a:noFill/>
        </p:spPr>
        <p:txBody>
          <a:bodyPr wrap="square" lIns="66751" tIns="9144" rIns="66751" bIns="9144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2" name="h2p-9-box-19"/>
          <p:cNvSpPr/>
          <p:nvPr/>
        </p:nvSpPr>
        <p:spPr>
          <a:xfrm>
            <a:off x="724204" y="1647748"/>
            <a:ext cx="2571292" cy="333756"/>
          </a:xfrm>
          <a:prstGeom prst="rect">
            <a:avLst/>
          </a:prstGeom>
          <a:solidFill>
            <a:srgbClr val="11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9-text-20"/>
          <p:cNvSpPr txBox="1"/>
          <p:nvPr/>
        </p:nvSpPr>
        <p:spPr>
          <a:xfrm>
            <a:off x="875995" y="1714500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FFFFFF"/>
                </a:solidFill>
                <a:latin typeface="Helvetica Neue"/>
              </a:rPr>
              <a:t>#</a:t>
            </a:r>
          </a:p>
        </p:txBody>
      </p:sp>
      <p:sp>
        <p:nvSpPr>
          <p:cNvPr id="24" name="h2p-9-text-21"/>
          <p:cNvSpPr txBox="1"/>
          <p:nvPr/>
        </p:nvSpPr>
        <p:spPr>
          <a:xfrm>
            <a:off x="875995" y="2048256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5" name="h2p-9-text-22"/>
          <p:cNvSpPr txBox="1"/>
          <p:nvPr/>
        </p:nvSpPr>
        <p:spPr>
          <a:xfrm>
            <a:off x="875995" y="2381097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6" name="h2p-9-text-23"/>
          <p:cNvSpPr txBox="1"/>
          <p:nvPr/>
        </p:nvSpPr>
        <p:spPr>
          <a:xfrm>
            <a:off x="724204" y="2648102"/>
            <a:ext cx="2623413" cy="371246"/>
          </a:xfrm>
          <a:prstGeom prst="rect">
            <a:avLst/>
          </a:prstGeom>
          <a:noFill/>
        </p:spPr>
        <p:txBody>
          <a:bodyPr wrap="square" lIns="152704" tIns="171907" rIns="152704" bIns="56692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A98FAA"/>
                </a:solidFill>
                <a:latin typeface="Helvetica Neue"/>
              </a:rPr>
              <a:t>DIRECT MESSAGES</a:t>
            </a:r>
          </a:p>
        </p:txBody>
      </p:sp>
      <p:pic>
        <p:nvPicPr>
          <p:cNvPr id="27" name="Picture 26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" y="3086100"/>
            <a:ext cx="190195" cy="190195"/>
          </a:xfrm>
          <a:prstGeom prst="rect">
            <a:avLst/>
          </a:prstGeom>
        </p:spPr>
      </p:pic>
      <p:sp>
        <p:nvSpPr>
          <p:cNvPr id="28" name="h2p-9-box-24"/>
          <p:cNvSpPr/>
          <p:nvPr/>
        </p:nvSpPr>
        <p:spPr>
          <a:xfrm>
            <a:off x="3057753" y="3138220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9-box-25"/>
          <p:cNvSpPr/>
          <p:nvPr/>
        </p:nvSpPr>
        <p:spPr>
          <a:xfrm>
            <a:off x="875995" y="3409797"/>
            <a:ext cx="190195" cy="190195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9-text-26"/>
          <p:cNvSpPr txBox="1"/>
          <p:nvPr/>
        </p:nvSpPr>
        <p:spPr>
          <a:xfrm>
            <a:off x="875995" y="3409797"/>
            <a:ext cx="193852" cy="1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31" name="h2p-9-box-27"/>
          <p:cNvSpPr/>
          <p:nvPr/>
        </p:nvSpPr>
        <p:spPr>
          <a:xfrm>
            <a:off x="3057753" y="3461918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9-box-28"/>
          <p:cNvSpPr/>
          <p:nvPr/>
        </p:nvSpPr>
        <p:spPr>
          <a:xfrm>
            <a:off x="875995" y="3733495"/>
            <a:ext cx="190195" cy="190195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9-text-29"/>
          <p:cNvSpPr txBox="1"/>
          <p:nvPr/>
        </p:nvSpPr>
        <p:spPr>
          <a:xfrm>
            <a:off x="875995" y="3733495"/>
            <a:ext cx="193852" cy="1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34" name="h2p-9-box-30"/>
          <p:cNvSpPr/>
          <p:nvPr/>
        </p:nvSpPr>
        <p:spPr>
          <a:xfrm>
            <a:off x="3057753" y="3786530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9-box-31"/>
          <p:cNvSpPr/>
          <p:nvPr/>
        </p:nvSpPr>
        <p:spPr>
          <a:xfrm>
            <a:off x="3295497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295497" y="604418"/>
            <a:ext cx="8896198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2p-9-text-32"/>
          <p:cNvSpPr txBox="1"/>
          <p:nvPr/>
        </p:nvSpPr>
        <p:spPr>
          <a:xfrm>
            <a:off x="3562502" y="181051"/>
            <a:ext cx="10789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96769"/>
                </a:solidFill>
                <a:latin typeface="Helvetica Neue"/>
              </a:rPr>
              <a:t>#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209336" y="219456"/>
            <a:ext cx="0" cy="16184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h2p-9-text-34"/>
          <p:cNvSpPr txBox="1"/>
          <p:nvPr/>
        </p:nvSpPr>
        <p:spPr>
          <a:xfrm>
            <a:off x="5204764" y="219456"/>
            <a:ext cx="2415844" cy="161848"/>
          </a:xfrm>
          <a:prstGeom prst="rect">
            <a:avLst/>
          </a:prstGeom>
          <a:noFill/>
        </p:spPr>
        <p:txBody>
          <a:bodyPr wrap="square" lIns="133502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696769"/>
                </a:solidFill>
                <a:latin typeface="Helvetica Neue"/>
              </a:rPr>
              <a:t>You decide what Claude can touch</a:t>
            </a:r>
          </a:p>
        </p:txBody>
      </p:sp>
      <p:sp>
        <p:nvSpPr>
          <p:cNvPr id="40" name="h2p-9-box-35"/>
          <p:cNvSpPr/>
          <p:nvPr/>
        </p:nvSpPr>
        <p:spPr>
          <a:xfrm>
            <a:off x="11069726" y="128930"/>
            <a:ext cx="854964" cy="342900"/>
          </a:xfrm>
          <a:prstGeom prst="roundRect">
            <a:avLst>
              <a:gd name="adj" fmla="val 22220"/>
            </a:avLst>
          </a:prstGeom>
          <a:noFill/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2p-9-box-36"/>
          <p:cNvSpPr/>
          <p:nvPr/>
        </p:nvSpPr>
        <p:spPr>
          <a:xfrm>
            <a:off x="111172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2p-9-text-37"/>
          <p:cNvSpPr txBox="1"/>
          <p:nvPr/>
        </p:nvSpPr>
        <p:spPr>
          <a:xfrm>
            <a:off x="111172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43" name="h2p-9-box-38"/>
          <p:cNvSpPr/>
          <p:nvPr/>
        </p:nvSpPr>
        <p:spPr>
          <a:xfrm>
            <a:off x="11289182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9-text-39"/>
          <p:cNvSpPr txBox="1"/>
          <p:nvPr/>
        </p:nvSpPr>
        <p:spPr>
          <a:xfrm>
            <a:off x="11289182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45" name="h2p-9-box-40"/>
          <p:cNvSpPr/>
          <p:nvPr/>
        </p:nvSpPr>
        <p:spPr>
          <a:xfrm>
            <a:off x="114601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EB6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2p-9-text-41"/>
          <p:cNvSpPr txBox="1"/>
          <p:nvPr/>
        </p:nvSpPr>
        <p:spPr>
          <a:xfrm>
            <a:off x="114601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S</a:t>
            </a:r>
          </a:p>
        </p:txBody>
      </p:sp>
      <p:sp>
        <p:nvSpPr>
          <p:cNvPr id="47" name="h2p-9-text-42"/>
          <p:cNvSpPr txBox="1"/>
          <p:nvPr/>
        </p:nvSpPr>
        <p:spPr>
          <a:xfrm>
            <a:off x="3676802" y="933602"/>
            <a:ext cx="8297265" cy="4855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37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3150">
                <a:solidFill>
                  <a:srgbClr val="1D1C1D"/>
                </a:solidFill>
                <a:latin typeface="Helvetica Neue"/>
              </a:rPr>
              <a:t>Powerful, and on a leash.</a:t>
            </a:r>
          </a:p>
        </p:txBody>
      </p:sp>
      <p:sp>
        <p:nvSpPr>
          <p:cNvPr id="48" name="h2p-9-text-43"/>
          <p:cNvSpPr txBox="1"/>
          <p:nvPr/>
        </p:nvSpPr>
        <p:spPr>
          <a:xfrm>
            <a:off x="3676802" y="1495044"/>
            <a:ext cx="7383779" cy="43799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7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420">
                <a:solidFill>
                  <a:srgbClr val="696769"/>
                </a:solidFill>
                <a:latin typeface="Helvetica Neue"/>
              </a:rPr>
              <a:t>Admins configure tools and data access per channel — so the right Claude shows up in the right room.</a:t>
            </a:r>
          </a:p>
        </p:txBody>
      </p:sp>
      <p:sp>
        <p:nvSpPr>
          <p:cNvPr id="49" name="h2p-9-box-44"/>
          <p:cNvSpPr/>
          <p:nvPr/>
        </p:nvSpPr>
        <p:spPr>
          <a:xfrm>
            <a:off x="3676802" y="2219248"/>
            <a:ext cx="3981297" cy="133319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2p-9-box-45"/>
          <p:cNvSpPr/>
          <p:nvPr/>
        </p:nvSpPr>
        <p:spPr>
          <a:xfrm>
            <a:off x="3895344" y="2419502"/>
            <a:ext cx="362102" cy="362102"/>
          </a:xfrm>
          <a:prstGeom prst="roundRect">
            <a:avLst>
              <a:gd name="adj" fmla="val 2632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h2p-9-text-46"/>
          <p:cNvSpPr txBox="1"/>
          <p:nvPr/>
        </p:nvSpPr>
        <p:spPr>
          <a:xfrm>
            <a:off x="3895344" y="2419502"/>
            <a:ext cx="369417" cy="3621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FFFFFF"/>
                </a:solidFill>
                <a:latin typeface="Helvetica Neue"/>
              </a:rPr>
              <a:t>☉</a:t>
            </a:r>
          </a:p>
        </p:txBody>
      </p:sp>
      <p:sp>
        <p:nvSpPr>
          <p:cNvPr id="52" name="h2p-9-text-47"/>
          <p:cNvSpPr txBox="1"/>
          <p:nvPr/>
        </p:nvSpPr>
        <p:spPr>
          <a:xfrm>
            <a:off x="4371746" y="2481681"/>
            <a:ext cx="1737360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D1C1D"/>
                </a:solidFill>
                <a:latin typeface="Helvetica Neue"/>
              </a:rPr>
              <a:t>Separate identities</a:t>
            </a:r>
          </a:p>
        </p:txBody>
      </p:sp>
      <p:sp>
        <p:nvSpPr>
          <p:cNvPr id="53" name="h2p-9-text-48"/>
          <p:cNvSpPr txBox="1"/>
          <p:nvPr/>
        </p:nvSpPr>
        <p:spPr>
          <a:xfrm>
            <a:off x="3895344" y="2895904"/>
            <a:ext cx="361462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96769"/>
                </a:solidFill>
                <a:latin typeface="Helvetica Neue"/>
              </a:rPr>
              <a:t>A different Claude per channel — each with its own tools, data scope, and personality.</a:t>
            </a:r>
          </a:p>
        </p:txBody>
      </p:sp>
      <p:sp>
        <p:nvSpPr>
          <p:cNvPr id="54" name="h2p-9-box-49"/>
          <p:cNvSpPr/>
          <p:nvPr/>
        </p:nvSpPr>
        <p:spPr>
          <a:xfrm>
            <a:off x="7829092" y="2219248"/>
            <a:ext cx="3981297" cy="133319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h2p-9-box-50"/>
          <p:cNvSpPr/>
          <p:nvPr/>
        </p:nvSpPr>
        <p:spPr>
          <a:xfrm>
            <a:off x="8048548" y="2419502"/>
            <a:ext cx="362102" cy="362102"/>
          </a:xfrm>
          <a:prstGeom prst="roundRect">
            <a:avLst>
              <a:gd name="adj" fmla="val 2632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h2p-9-text-51"/>
          <p:cNvSpPr txBox="1"/>
          <p:nvPr/>
        </p:nvSpPr>
        <p:spPr>
          <a:xfrm>
            <a:off x="8048548" y="2419502"/>
            <a:ext cx="369417" cy="3621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FFFFFF"/>
                </a:solidFill>
                <a:latin typeface="Helvetica Neue"/>
              </a:rPr>
              <a:t>☉</a:t>
            </a:r>
          </a:p>
        </p:txBody>
      </p:sp>
      <p:sp>
        <p:nvSpPr>
          <p:cNvPr id="57" name="h2p-9-text-52"/>
          <p:cNvSpPr txBox="1"/>
          <p:nvPr/>
        </p:nvSpPr>
        <p:spPr>
          <a:xfrm>
            <a:off x="8524951" y="2481681"/>
            <a:ext cx="1414576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D1C1D"/>
                </a:solidFill>
                <a:latin typeface="Helvetica Neue"/>
              </a:rPr>
              <a:t>Scoped access</a:t>
            </a:r>
          </a:p>
        </p:txBody>
      </p:sp>
      <p:sp>
        <p:nvSpPr>
          <p:cNvPr id="58" name="h2p-9-text-53"/>
          <p:cNvSpPr txBox="1"/>
          <p:nvPr/>
        </p:nvSpPr>
        <p:spPr>
          <a:xfrm>
            <a:off x="8048548" y="2895904"/>
            <a:ext cx="361462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96769"/>
                </a:solidFill>
                <a:latin typeface="Helvetica Neue"/>
              </a:rPr>
              <a:t>Choose exactly which tools and data sources each Claude can reach.</a:t>
            </a:r>
          </a:p>
        </p:txBody>
      </p:sp>
      <p:sp>
        <p:nvSpPr>
          <p:cNvPr id="59" name="h2p-9-box-54"/>
          <p:cNvSpPr/>
          <p:nvPr/>
        </p:nvSpPr>
        <p:spPr>
          <a:xfrm>
            <a:off x="3676802" y="3724351"/>
            <a:ext cx="3981297" cy="133319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h2p-9-box-55"/>
          <p:cNvSpPr/>
          <p:nvPr/>
        </p:nvSpPr>
        <p:spPr>
          <a:xfrm>
            <a:off x="3895344" y="3924604"/>
            <a:ext cx="362102" cy="362102"/>
          </a:xfrm>
          <a:prstGeom prst="roundRect">
            <a:avLst>
              <a:gd name="adj" fmla="val 26320"/>
            </a:avLst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h2p-9-text-56"/>
          <p:cNvSpPr txBox="1"/>
          <p:nvPr/>
        </p:nvSpPr>
        <p:spPr>
          <a:xfrm>
            <a:off x="3895344" y="3924604"/>
            <a:ext cx="369417" cy="3621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FFFFFF"/>
                </a:solidFill>
                <a:latin typeface="Helvetica Neue"/>
              </a:rPr>
              <a:t>☉</a:t>
            </a:r>
          </a:p>
        </p:txBody>
      </p:sp>
      <p:sp>
        <p:nvSpPr>
          <p:cNvPr id="62" name="h2p-9-text-57"/>
          <p:cNvSpPr txBox="1"/>
          <p:nvPr/>
        </p:nvSpPr>
        <p:spPr>
          <a:xfrm>
            <a:off x="4371746" y="3985869"/>
            <a:ext cx="114391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D1C1D"/>
                </a:solidFill>
                <a:latin typeface="Helvetica Neue"/>
              </a:rPr>
              <a:t>Spend limits</a:t>
            </a:r>
          </a:p>
        </p:txBody>
      </p:sp>
      <p:sp>
        <p:nvSpPr>
          <p:cNvPr id="63" name="h2p-9-text-58"/>
          <p:cNvSpPr txBox="1"/>
          <p:nvPr/>
        </p:nvSpPr>
        <p:spPr>
          <a:xfrm>
            <a:off x="3895344" y="4400092"/>
            <a:ext cx="361462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96769"/>
                </a:solidFill>
                <a:latin typeface="Helvetica Neue"/>
              </a:rPr>
              <a:t>Set token budgets so usage stays predictable and under control.</a:t>
            </a:r>
          </a:p>
        </p:txBody>
      </p:sp>
      <p:sp>
        <p:nvSpPr>
          <p:cNvPr id="64" name="h2p-9-box-59"/>
          <p:cNvSpPr/>
          <p:nvPr/>
        </p:nvSpPr>
        <p:spPr>
          <a:xfrm>
            <a:off x="7829092" y="3724351"/>
            <a:ext cx="3981297" cy="1333195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h2p-9-box-60"/>
          <p:cNvSpPr/>
          <p:nvPr/>
        </p:nvSpPr>
        <p:spPr>
          <a:xfrm>
            <a:off x="8048548" y="3924604"/>
            <a:ext cx="362102" cy="362102"/>
          </a:xfrm>
          <a:prstGeom prst="roundRect">
            <a:avLst>
              <a:gd name="adj" fmla="val 26320"/>
            </a:avLst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h2p-9-text-61"/>
          <p:cNvSpPr txBox="1"/>
          <p:nvPr/>
        </p:nvSpPr>
        <p:spPr>
          <a:xfrm>
            <a:off x="8048548" y="3924604"/>
            <a:ext cx="369417" cy="3621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FFFFFF"/>
                </a:solidFill>
                <a:latin typeface="Helvetica Neue"/>
              </a:rPr>
              <a:t>☉</a:t>
            </a:r>
          </a:p>
        </p:txBody>
      </p:sp>
      <p:sp>
        <p:nvSpPr>
          <p:cNvPr id="67" name="h2p-9-text-62"/>
          <p:cNvSpPr txBox="1"/>
          <p:nvPr/>
        </p:nvSpPr>
        <p:spPr>
          <a:xfrm>
            <a:off x="8524951" y="3985869"/>
            <a:ext cx="1258214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D1C1D"/>
                </a:solidFill>
                <a:latin typeface="Helvetica Neue"/>
              </a:rPr>
              <a:t>Full audit trail</a:t>
            </a:r>
          </a:p>
        </p:txBody>
      </p:sp>
      <p:sp>
        <p:nvSpPr>
          <p:cNvPr id="68" name="h2p-9-text-63"/>
          <p:cNvSpPr txBox="1"/>
          <p:nvPr/>
        </p:nvSpPr>
        <p:spPr>
          <a:xfrm>
            <a:off x="8048548" y="4400092"/>
            <a:ext cx="3614623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696769"/>
                </a:solidFill>
                <a:latin typeface="Helvetica Neue"/>
              </a:rPr>
              <a:t>Every action Claude takes is logged and reviewable.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0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Picture 3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195" y="-1428292"/>
            <a:ext cx="4000500" cy="4000500"/>
          </a:xfrm>
          <a:prstGeom prst="rect">
            <a:avLst/>
          </a:prstGeom>
        </p:spPr>
      </p:pic>
      <p:sp>
        <p:nvSpPr>
          <p:cNvPr id="5" name="h2p-10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7" name="h2p-10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h2p-10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9" name="h2p-10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h2p-10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1" name="h2p-10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h2p-10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3" name="h2p-10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0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h2p-10-text-11"/>
          <p:cNvSpPr txBox="1"/>
          <p:nvPr/>
        </p:nvSpPr>
        <p:spPr>
          <a:xfrm>
            <a:off x="1428292" y="1123797"/>
            <a:ext cx="9715500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D97757"/>
                </a:solidFill>
                <a:latin typeface="Menlo"/>
              </a:rPr>
              <a:t>PROOF, FROM INSIDE ANTHROPIC</a:t>
            </a:r>
          </a:p>
        </p:txBody>
      </p:sp>
      <p:sp>
        <p:nvSpPr>
          <p:cNvPr id="16" name="h2p-10-text-12"/>
          <p:cNvSpPr txBox="1"/>
          <p:nvPr/>
        </p:nvSpPr>
        <p:spPr>
          <a:xfrm>
            <a:off x="1428292" y="1466697"/>
            <a:ext cx="3195828" cy="2266797"/>
          </a:xfrm>
          <a:prstGeom prst="rect">
            <a:avLst/>
          </a:prstGeom>
          <a:noFill/>
        </p:spPr>
        <p:txBody>
          <a:bodyPr wrap="square" lIns="0" tIns="0" rIns="381304" bIns="0">
            <a:spAutoFit/>
          </a:bodyPr>
          <a:lstStyle/>
          <a:p>
            <a:pPr marL="0" indent="0" algn="l">
              <a:lnSpc>
                <a:spcPts val="178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21000">
                <a:solidFill>
                  <a:srgbClr val="FFFFFF"/>
                </a:solidFill>
                <a:latin typeface="Helvetica Neue"/>
              </a:rPr>
              <a:t>65</a:t>
            </a:r>
          </a:p>
        </p:txBody>
      </p:sp>
      <p:sp>
        <p:nvSpPr>
          <p:cNvPr id="17" name="h2p-10-text-13"/>
          <p:cNvSpPr txBox="1"/>
          <p:nvPr/>
        </p:nvSpPr>
        <p:spPr>
          <a:xfrm>
            <a:off x="4657039" y="2609697"/>
            <a:ext cx="116586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9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0">
                <a:solidFill>
                  <a:srgbClr val="D97757"/>
                </a:solidFill>
                <a:latin typeface="Helvetica Neue"/>
              </a:rPr>
              <a:t>%</a:t>
            </a:r>
          </a:p>
        </p:txBody>
      </p:sp>
      <p:sp>
        <p:nvSpPr>
          <p:cNvPr id="18" name="h2p-10-text-14"/>
          <p:cNvSpPr txBox="1"/>
          <p:nvPr/>
        </p:nvSpPr>
        <p:spPr>
          <a:xfrm>
            <a:off x="1428292" y="4038904"/>
            <a:ext cx="6606540" cy="8229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32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2400">
                <a:solidFill>
                  <a:srgbClr val="FFFFFF"/>
                </a:solidFill>
                <a:latin typeface="Helvetica Neue"/>
              </a:rPr>
              <a:t>of our product team's code is now written by our internal version of </a:t>
            </a:r>
            <a:r>
              <a:rPr b="1" sz="2400">
                <a:solidFill>
                  <a:srgbClr val="FFFFFF"/>
                </a:solidFill>
                <a:latin typeface="Helvetica Neue"/>
              </a:rPr>
              <a:t>Claude Tag</a:t>
            </a:r>
            <a:r>
              <a:rPr sz="2400">
                <a:solidFill>
                  <a:srgbClr val="FFFFFF"/>
                </a:solidFill>
                <a:latin typeface="Helvetica Neue"/>
              </a:rPr>
              <a:t>.</a:t>
            </a:r>
          </a:p>
        </p:txBody>
      </p:sp>
      <p:sp>
        <p:nvSpPr>
          <p:cNvPr id="19" name="h2p-10-box-15"/>
          <p:cNvSpPr/>
          <p:nvPr/>
        </p:nvSpPr>
        <p:spPr>
          <a:xfrm>
            <a:off x="8286292" y="4058107"/>
            <a:ext cx="3143707" cy="2133295"/>
          </a:xfrm>
          <a:prstGeom prst="roundRect">
            <a:avLst>
              <a:gd name="adj" fmla="val 7140"/>
            </a:avLst>
          </a:prstGeom>
          <a:solidFill>
            <a:srgbClr val="FFFFFF"/>
          </a:solidFill>
          <a:ln w="1016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5748" y="4276648"/>
            <a:ext cx="418795" cy="418795"/>
          </a:xfrm>
          <a:prstGeom prst="rect">
            <a:avLst/>
          </a:prstGeom>
        </p:spPr>
      </p:pic>
      <p:sp>
        <p:nvSpPr>
          <p:cNvPr id="21" name="h2p-10-text-16"/>
          <p:cNvSpPr txBox="1"/>
          <p:nvPr/>
        </p:nvSpPr>
        <p:spPr>
          <a:xfrm>
            <a:off x="9068104" y="4276648"/>
            <a:ext cx="58613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Claude</a:t>
            </a:r>
          </a:p>
        </p:txBody>
      </p:sp>
      <p:sp>
        <p:nvSpPr>
          <p:cNvPr id="22" name="h2p-10-box-17"/>
          <p:cNvSpPr/>
          <p:nvPr/>
        </p:nvSpPr>
        <p:spPr>
          <a:xfrm>
            <a:off x="9728301" y="4304995"/>
            <a:ext cx="335584" cy="161848"/>
          </a:xfrm>
          <a:prstGeom prst="roundRect">
            <a:avLst>
              <a:gd name="adj" fmla="val 2353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0-text-18"/>
          <p:cNvSpPr txBox="1"/>
          <p:nvPr/>
        </p:nvSpPr>
        <p:spPr>
          <a:xfrm>
            <a:off x="9728301" y="4304995"/>
            <a:ext cx="341985" cy="161848"/>
          </a:xfrm>
          <a:prstGeom prst="rect">
            <a:avLst/>
          </a:prstGeom>
          <a:noFill/>
        </p:spPr>
        <p:txBody>
          <a:bodyPr wrap="square" lIns="56692" tIns="19202" rIns="56692" bIns="19202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B65A3C"/>
                </a:solidFill>
                <a:latin typeface="Helvetica Neue"/>
              </a:rPr>
              <a:t>APP</a:t>
            </a:r>
          </a:p>
        </p:txBody>
      </p:sp>
      <p:sp>
        <p:nvSpPr>
          <p:cNvPr id="24" name="h2p-10-text-19"/>
          <p:cNvSpPr txBox="1"/>
          <p:nvPr/>
        </p:nvSpPr>
        <p:spPr>
          <a:xfrm>
            <a:off x="9068104" y="4533595"/>
            <a:ext cx="2186330" cy="886053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3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D1C1D"/>
                </a:solidFill>
                <a:latin typeface="Helvetica Neue"/>
              </a:rPr>
              <a:t>Shipped 14 PRs this week. Review queue is clear.</a:t>
            </a:r>
          </a:p>
        </p:txBody>
      </p:sp>
      <p:sp>
        <p:nvSpPr>
          <p:cNvPr id="25" name="h2p-10-box-20"/>
          <p:cNvSpPr/>
          <p:nvPr/>
        </p:nvSpPr>
        <p:spPr>
          <a:xfrm>
            <a:off x="9068104" y="5524804"/>
            <a:ext cx="548640" cy="23774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 w="1016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h2p-10-box-21"/>
          <p:cNvSpPr/>
          <p:nvPr/>
        </p:nvSpPr>
        <p:spPr>
          <a:xfrm>
            <a:off x="9182404" y="5591556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h2p-10-box-22"/>
          <p:cNvSpPr/>
          <p:nvPr/>
        </p:nvSpPr>
        <p:spPr>
          <a:xfrm>
            <a:off x="9692640" y="5524804"/>
            <a:ext cx="474573" cy="237744"/>
          </a:xfrm>
          <a:prstGeom prst="roundRect">
            <a:avLst>
              <a:gd name="adj" fmla="val 50000"/>
            </a:avLst>
          </a:prstGeom>
          <a:solidFill>
            <a:srgbClr val="EAF1FA"/>
          </a:solidFill>
          <a:ln w="10160">
            <a:solidFill>
              <a:srgbClr val="D7E3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h2p-10-box-23"/>
          <p:cNvSpPr/>
          <p:nvPr/>
        </p:nvSpPr>
        <p:spPr>
          <a:xfrm>
            <a:off x="9806940" y="5591556"/>
            <a:ext cx="105156" cy="105156"/>
          </a:xfrm>
          <a:prstGeom prst="roundRect">
            <a:avLst>
              <a:gd name="adj" fmla="val 5000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1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pap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2p-11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6" name="h2p-11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1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8" name="h2p-11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11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0" name="h2p-11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11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2" name="h2p-11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1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h2p-11-box-11"/>
          <p:cNvSpPr/>
          <p:nvPr/>
        </p:nvSpPr>
        <p:spPr>
          <a:xfrm>
            <a:off x="724204" y="0"/>
            <a:ext cx="2571292" cy="6858000"/>
          </a:xfrm>
          <a:prstGeom prst="rect">
            <a:avLst/>
          </a:prstGeom>
          <a:solidFill>
            <a:srgbClr val="3F0E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" name="Connector 14"/>
          <p:cNvCxnSpPr/>
          <p:nvPr/>
        </p:nvCxnSpPr>
        <p:spPr>
          <a:xfrm>
            <a:off x="724204" y="604418"/>
            <a:ext cx="2571293" cy="0"/>
          </a:xfrm>
          <a:prstGeom prst="line">
            <a:avLst/>
          </a:prstGeom>
          <a:ln w="1016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h2p-11-text-13"/>
          <p:cNvSpPr txBox="1"/>
          <p:nvPr/>
        </p:nvSpPr>
        <p:spPr>
          <a:xfrm>
            <a:off x="3020263" y="219456"/>
            <a:ext cx="86868" cy="1618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CFBFD0"/>
                </a:solidFill>
                <a:latin typeface="Helvetica Neue"/>
              </a:rPr>
              <a:t>▾</a:t>
            </a:r>
          </a:p>
        </p:txBody>
      </p:sp>
      <p:sp>
        <p:nvSpPr>
          <p:cNvPr id="17" name="h2p-11-text-14"/>
          <p:cNvSpPr txBox="1"/>
          <p:nvPr/>
        </p:nvSpPr>
        <p:spPr>
          <a:xfrm>
            <a:off x="724204" y="609904"/>
            <a:ext cx="2623413" cy="371246"/>
          </a:xfrm>
          <a:prstGeom prst="rect">
            <a:avLst/>
          </a:prstGeom>
          <a:noFill/>
        </p:spPr>
        <p:txBody>
          <a:bodyPr wrap="square" lIns="152704" tIns="171907" rIns="152704" bIns="56692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A98FAA"/>
                </a:solidFill>
                <a:latin typeface="Helvetica Neue"/>
              </a:rPr>
              <a:t>CHANNELS</a:t>
            </a:r>
          </a:p>
        </p:txBody>
      </p:sp>
      <p:sp>
        <p:nvSpPr>
          <p:cNvPr id="18" name="h2p-11-text-15"/>
          <p:cNvSpPr txBox="1"/>
          <p:nvPr/>
        </p:nvSpPr>
        <p:spPr>
          <a:xfrm>
            <a:off x="875995" y="1047902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19" name="h2p-11-text-16"/>
          <p:cNvSpPr txBox="1"/>
          <p:nvPr/>
        </p:nvSpPr>
        <p:spPr>
          <a:xfrm>
            <a:off x="875995" y="1380744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0" name="h2p-11-box-17"/>
          <p:cNvSpPr/>
          <p:nvPr/>
        </p:nvSpPr>
        <p:spPr>
          <a:xfrm>
            <a:off x="2946196" y="1399946"/>
            <a:ext cx="196596" cy="161848"/>
          </a:xfrm>
          <a:prstGeom prst="roundRect">
            <a:avLst>
              <a:gd name="adj" fmla="val 50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h2p-11-text-18"/>
          <p:cNvSpPr txBox="1"/>
          <p:nvPr/>
        </p:nvSpPr>
        <p:spPr>
          <a:xfrm>
            <a:off x="2946196" y="1399946"/>
            <a:ext cx="201168" cy="161848"/>
          </a:xfrm>
          <a:prstGeom prst="rect">
            <a:avLst/>
          </a:prstGeom>
          <a:noFill/>
        </p:spPr>
        <p:txBody>
          <a:bodyPr wrap="square" lIns="66751" tIns="9144" rIns="66751" bIns="9144">
            <a:spAutoFit/>
          </a:bodyPr>
          <a:lstStyle/>
          <a:p>
            <a:pPr marL="0" indent="0" algn="l">
              <a:lnSpc>
                <a:spcPts val="10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900">
                <a:solidFill>
                  <a:srgbClr val="FFFFFF"/>
                </a:solidFill>
                <a:latin typeface="Helvetica Neue"/>
              </a:rPr>
              <a:t>2</a:t>
            </a:r>
          </a:p>
        </p:txBody>
      </p:sp>
      <p:sp>
        <p:nvSpPr>
          <p:cNvPr id="22" name="h2p-11-box-19"/>
          <p:cNvSpPr/>
          <p:nvPr/>
        </p:nvSpPr>
        <p:spPr>
          <a:xfrm>
            <a:off x="724204" y="1647748"/>
            <a:ext cx="2571292" cy="333756"/>
          </a:xfrm>
          <a:prstGeom prst="rect">
            <a:avLst/>
          </a:prstGeom>
          <a:solidFill>
            <a:srgbClr val="1164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h2p-11-text-20"/>
          <p:cNvSpPr txBox="1"/>
          <p:nvPr/>
        </p:nvSpPr>
        <p:spPr>
          <a:xfrm>
            <a:off x="875995" y="1714500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FFFFFF"/>
                </a:solidFill>
                <a:latin typeface="Helvetica Neue"/>
              </a:rPr>
              <a:t>#</a:t>
            </a:r>
          </a:p>
        </p:txBody>
      </p:sp>
      <p:sp>
        <p:nvSpPr>
          <p:cNvPr id="24" name="h2p-11-text-21"/>
          <p:cNvSpPr txBox="1"/>
          <p:nvPr/>
        </p:nvSpPr>
        <p:spPr>
          <a:xfrm>
            <a:off x="875995" y="2048256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5" name="h2p-11-text-22"/>
          <p:cNvSpPr txBox="1"/>
          <p:nvPr/>
        </p:nvSpPr>
        <p:spPr>
          <a:xfrm>
            <a:off x="875995" y="2381097"/>
            <a:ext cx="91440" cy="200253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5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80">
                <a:solidFill>
                  <a:srgbClr val="9C829D"/>
                </a:solidFill>
                <a:latin typeface="Helvetica Neue"/>
              </a:rPr>
              <a:t>#</a:t>
            </a:r>
          </a:p>
        </p:txBody>
      </p:sp>
      <p:sp>
        <p:nvSpPr>
          <p:cNvPr id="26" name="h2p-11-text-23"/>
          <p:cNvSpPr txBox="1"/>
          <p:nvPr/>
        </p:nvSpPr>
        <p:spPr>
          <a:xfrm>
            <a:off x="724204" y="2648102"/>
            <a:ext cx="2623413" cy="371246"/>
          </a:xfrm>
          <a:prstGeom prst="rect">
            <a:avLst/>
          </a:prstGeom>
          <a:noFill/>
        </p:spPr>
        <p:txBody>
          <a:bodyPr wrap="square" lIns="152704" tIns="171907" rIns="152704" bIns="56692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A98FAA"/>
                </a:solidFill>
                <a:latin typeface="Helvetica Neue"/>
              </a:rPr>
              <a:t>DIRECT MESSAGES</a:t>
            </a:r>
          </a:p>
        </p:txBody>
      </p:sp>
      <p:pic>
        <p:nvPicPr>
          <p:cNvPr id="27" name="Picture 26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" y="3086100"/>
            <a:ext cx="190195" cy="190195"/>
          </a:xfrm>
          <a:prstGeom prst="rect">
            <a:avLst/>
          </a:prstGeom>
        </p:spPr>
      </p:pic>
      <p:sp>
        <p:nvSpPr>
          <p:cNvPr id="28" name="h2p-11-box-24"/>
          <p:cNvSpPr/>
          <p:nvPr/>
        </p:nvSpPr>
        <p:spPr>
          <a:xfrm>
            <a:off x="3057753" y="3138220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h2p-11-box-25"/>
          <p:cNvSpPr/>
          <p:nvPr/>
        </p:nvSpPr>
        <p:spPr>
          <a:xfrm>
            <a:off x="875995" y="3409797"/>
            <a:ext cx="190195" cy="190195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h2p-11-text-26"/>
          <p:cNvSpPr txBox="1"/>
          <p:nvPr/>
        </p:nvSpPr>
        <p:spPr>
          <a:xfrm>
            <a:off x="875995" y="3409797"/>
            <a:ext cx="193852" cy="1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31" name="h2p-11-box-27"/>
          <p:cNvSpPr/>
          <p:nvPr/>
        </p:nvSpPr>
        <p:spPr>
          <a:xfrm>
            <a:off x="3057753" y="3461918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h2p-11-box-28"/>
          <p:cNvSpPr/>
          <p:nvPr/>
        </p:nvSpPr>
        <p:spPr>
          <a:xfrm>
            <a:off x="875995" y="3733495"/>
            <a:ext cx="190195" cy="190195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h2p-11-text-29"/>
          <p:cNvSpPr txBox="1"/>
          <p:nvPr/>
        </p:nvSpPr>
        <p:spPr>
          <a:xfrm>
            <a:off x="875995" y="3733495"/>
            <a:ext cx="193852" cy="190195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34" name="h2p-11-box-30"/>
          <p:cNvSpPr/>
          <p:nvPr/>
        </p:nvSpPr>
        <p:spPr>
          <a:xfrm>
            <a:off x="3057753" y="3786530"/>
            <a:ext cx="85953" cy="85953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h2p-11-box-31"/>
          <p:cNvSpPr/>
          <p:nvPr/>
        </p:nvSpPr>
        <p:spPr>
          <a:xfrm>
            <a:off x="3295497" y="0"/>
            <a:ext cx="8896197" cy="6099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>
            <a:off x="3295497" y="604418"/>
            <a:ext cx="8896198" cy="0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h2p-11-text-32"/>
          <p:cNvSpPr txBox="1"/>
          <p:nvPr/>
        </p:nvSpPr>
        <p:spPr>
          <a:xfrm>
            <a:off x="3562502" y="181051"/>
            <a:ext cx="107899" cy="2377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696769"/>
                </a:solidFill>
                <a:latin typeface="Helvetica Neue"/>
              </a:rPr>
              <a:t>#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305348" y="219456"/>
            <a:ext cx="0" cy="161848"/>
          </a:xfrm>
          <a:prstGeom prst="line">
            <a:avLst/>
          </a:prstGeom>
          <a:ln w="10160">
            <a:solidFill>
              <a:srgbClr val="E6E3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h2p-11-text-34"/>
          <p:cNvSpPr txBox="1"/>
          <p:nvPr/>
        </p:nvSpPr>
        <p:spPr>
          <a:xfrm>
            <a:off x="5300776" y="219456"/>
            <a:ext cx="928115" cy="161848"/>
          </a:xfrm>
          <a:prstGeom prst="rect">
            <a:avLst/>
          </a:prstGeom>
          <a:noFill/>
        </p:spPr>
        <p:txBody>
          <a:bodyPr wrap="square" lIns="133502" tIns="0" rIns="0" bIns="0">
            <a:spAutoFit/>
          </a:bodyPr>
          <a:lstStyle/>
          <a:p>
            <a:pPr marL="0" indent="0" algn="l">
              <a:lnSpc>
                <a:spcPts val="135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20">
                <a:solidFill>
                  <a:srgbClr val="696769"/>
                </a:solidFill>
                <a:latin typeface="Helvetica Neue"/>
              </a:rPr>
              <a:t>Now in beta</a:t>
            </a:r>
          </a:p>
        </p:txBody>
      </p:sp>
      <p:sp>
        <p:nvSpPr>
          <p:cNvPr id="40" name="h2p-11-box-35"/>
          <p:cNvSpPr/>
          <p:nvPr/>
        </p:nvSpPr>
        <p:spPr>
          <a:xfrm>
            <a:off x="11069726" y="128930"/>
            <a:ext cx="854964" cy="342900"/>
          </a:xfrm>
          <a:prstGeom prst="roundRect">
            <a:avLst>
              <a:gd name="adj" fmla="val 22220"/>
            </a:avLst>
          </a:prstGeom>
          <a:noFill/>
          <a:ln w="10160">
            <a:solidFill>
              <a:srgbClr val="E6E3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h2p-11-box-36"/>
          <p:cNvSpPr/>
          <p:nvPr/>
        </p:nvSpPr>
        <p:spPr>
          <a:xfrm>
            <a:off x="111172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E01E5A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h2p-11-text-37"/>
          <p:cNvSpPr txBox="1"/>
          <p:nvPr/>
        </p:nvSpPr>
        <p:spPr>
          <a:xfrm>
            <a:off x="111172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D</a:t>
            </a:r>
          </a:p>
        </p:txBody>
      </p:sp>
      <p:sp>
        <p:nvSpPr>
          <p:cNvPr id="43" name="h2p-11-box-38"/>
          <p:cNvSpPr/>
          <p:nvPr/>
        </p:nvSpPr>
        <p:spPr>
          <a:xfrm>
            <a:off x="11289182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36C5F0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h2p-11-text-39"/>
          <p:cNvSpPr txBox="1"/>
          <p:nvPr/>
        </p:nvSpPr>
        <p:spPr>
          <a:xfrm>
            <a:off x="11289182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M</a:t>
            </a:r>
          </a:p>
        </p:txBody>
      </p:sp>
      <p:sp>
        <p:nvSpPr>
          <p:cNvPr id="45" name="h2p-11-box-40"/>
          <p:cNvSpPr/>
          <p:nvPr/>
        </p:nvSpPr>
        <p:spPr>
          <a:xfrm>
            <a:off x="11460175" y="185623"/>
            <a:ext cx="228600" cy="228600"/>
          </a:xfrm>
          <a:prstGeom prst="roundRect">
            <a:avLst>
              <a:gd name="adj" fmla="val 25000"/>
            </a:avLst>
          </a:prstGeom>
          <a:solidFill>
            <a:srgbClr val="2EB67D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h2p-11-text-41"/>
          <p:cNvSpPr txBox="1"/>
          <p:nvPr/>
        </p:nvSpPr>
        <p:spPr>
          <a:xfrm>
            <a:off x="11460175" y="185623"/>
            <a:ext cx="233172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FFFFFF"/>
                </a:solidFill>
                <a:latin typeface="Helvetica Neue"/>
              </a:rPr>
              <a:t>S</a:t>
            </a:r>
          </a:p>
        </p:txBody>
      </p:sp>
      <p:pic>
        <p:nvPicPr>
          <p:cNvPr id="47" name="Picture 46" descr="claude_ava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6802" y="895197"/>
            <a:ext cx="418795" cy="418795"/>
          </a:xfrm>
          <a:prstGeom prst="rect">
            <a:avLst/>
          </a:prstGeom>
        </p:spPr>
      </p:pic>
      <p:sp>
        <p:nvSpPr>
          <p:cNvPr id="48" name="h2p-11-text-42"/>
          <p:cNvSpPr txBox="1"/>
          <p:nvPr/>
        </p:nvSpPr>
        <p:spPr>
          <a:xfrm>
            <a:off x="4238244" y="895197"/>
            <a:ext cx="586130" cy="21945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1D1C1D"/>
                </a:solidFill>
                <a:latin typeface="Helvetica Neue"/>
              </a:rPr>
              <a:t>Claude</a:t>
            </a:r>
          </a:p>
        </p:txBody>
      </p:sp>
      <p:sp>
        <p:nvSpPr>
          <p:cNvPr id="49" name="h2p-11-box-43"/>
          <p:cNvSpPr/>
          <p:nvPr/>
        </p:nvSpPr>
        <p:spPr>
          <a:xfrm>
            <a:off x="4899355" y="923544"/>
            <a:ext cx="335584" cy="161848"/>
          </a:xfrm>
          <a:prstGeom prst="roundRect">
            <a:avLst>
              <a:gd name="adj" fmla="val 2353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h2p-11-text-44"/>
          <p:cNvSpPr txBox="1"/>
          <p:nvPr/>
        </p:nvSpPr>
        <p:spPr>
          <a:xfrm>
            <a:off x="4899355" y="923544"/>
            <a:ext cx="341985" cy="161848"/>
          </a:xfrm>
          <a:prstGeom prst="rect">
            <a:avLst/>
          </a:prstGeom>
          <a:noFill/>
        </p:spPr>
        <p:txBody>
          <a:bodyPr wrap="square" lIns="56692" tIns="19202" rIns="56692" bIns="19202">
            <a:spAutoFit/>
          </a:bodyPr>
          <a:lstStyle/>
          <a:p>
            <a:pPr marL="0" indent="0" algn="l">
              <a:lnSpc>
                <a:spcPts val="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819">
                <a:solidFill>
                  <a:srgbClr val="B65A3C"/>
                </a:solidFill>
                <a:latin typeface="Helvetica Neue"/>
              </a:rPr>
              <a:t>APP</a:t>
            </a:r>
          </a:p>
        </p:txBody>
      </p:sp>
      <p:sp>
        <p:nvSpPr>
          <p:cNvPr id="51" name="h2p-11-text-45"/>
          <p:cNvSpPr txBox="1"/>
          <p:nvPr/>
        </p:nvSpPr>
        <p:spPr>
          <a:xfrm>
            <a:off x="5319979" y="933602"/>
            <a:ext cx="336499" cy="14264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1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80">
                <a:solidFill>
                  <a:srgbClr val="696769"/>
                </a:solidFill>
                <a:latin typeface="Helvetica Neue"/>
              </a:rPr>
              <a:t>Today</a:t>
            </a:r>
          </a:p>
        </p:txBody>
      </p:sp>
      <p:sp>
        <p:nvSpPr>
          <p:cNvPr id="52" name="h2p-11-text-46"/>
          <p:cNvSpPr txBox="1"/>
          <p:nvPr/>
        </p:nvSpPr>
        <p:spPr>
          <a:xfrm>
            <a:off x="4238244" y="1152144"/>
            <a:ext cx="7723936" cy="371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9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950">
                <a:solidFill>
                  <a:srgbClr val="1D1C1D"/>
                </a:solidFill>
                <a:latin typeface="Helvetica Neue"/>
              </a:rPr>
              <a:t>Claude Tag is live in beta.</a:t>
            </a:r>
          </a:p>
        </p:txBody>
      </p:sp>
      <p:sp>
        <p:nvSpPr>
          <p:cNvPr id="53" name="h2p-11-box-47"/>
          <p:cNvSpPr/>
          <p:nvPr/>
        </p:nvSpPr>
        <p:spPr>
          <a:xfrm>
            <a:off x="4238244" y="1733702"/>
            <a:ext cx="247802" cy="247802"/>
          </a:xfrm>
          <a:prstGeom prst="roundRect">
            <a:avLst>
              <a:gd name="adj" fmla="val 26920"/>
            </a:avLst>
          </a:prstGeom>
          <a:solidFill>
            <a:srgbClr val="2EB6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h2p-11-text-48"/>
          <p:cNvSpPr txBox="1"/>
          <p:nvPr/>
        </p:nvSpPr>
        <p:spPr>
          <a:xfrm>
            <a:off x="4238244" y="1733702"/>
            <a:ext cx="252374" cy="2478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55" name="h2p-11-text-49"/>
          <p:cNvSpPr txBox="1"/>
          <p:nvPr/>
        </p:nvSpPr>
        <p:spPr>
          <a:xfrm>
            <a:off x="4610404" y="1733702"/>
            <a:ext cx="6708952" cy="2761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D1C1D"/>
                </a:solidFill>
                <a:latin typeface="Helvetica Neue"/>
              </a:rPr>
              <a:t>For Enterprise &amp; Team customers.</a:t>
            </a:r>
            <a:r>
              <a:rPr sz="1500">
                <a:solidFill>
                  <a:srgbClr val="1D1C1D"/>
                </a:solidFill>
                <a:latin typeface="Helvetica Neue"/>
              </a:rPr>
              <a:t> Rolling out now to eligible organizations.</a:t>
            </a:r>
          </a:p>
        </p:txBody>
      </p:sp>
      <p:sp>
        <p:nvSpPr>
          <p:cNvPr id="56" name="h2p-11-box-50"/>
          <p:cNvSpPr/>
          <p:nvPr/>
        </p:nvSpPr>
        <p:spPr>
          <a:xfrm>
            <a:off x="4238244" y="2143353"/>
            <a:ext cx="247802" cy="247802"/>
          </a:xfrm>
          <a:prstGeom prst="roundRect">
            <a:avLst>
              <a:gd name="adj" fmla="val 2692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h2p-11-text-51"/>
          <p:cNvSpPr txBox="1"/>
          <p:nvPr/>
        </p:nvSpPr>
        <p:spPr>
          <a:xfrm>
            <a:off x="4238244" y="2143353"/>
            <a:ext cx="252374" cy="2478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58" name="h2p-11-text-52"/>
          <p:cNvSpPr txBox="1"/>
          <p:nvPr/>
        </p:nvSpPr>
        <p:spPr>
          <a:xfrm>
            <a:off x="4610404" y="2143353"/>
            <a:ext cx="6807708" cy="2761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D1C1D"/>
                </a:solidFill>
                <a:latin typeface="Helvetica Neue"/>
              </a:rPr>
              <a:t>Replaces the existing Claude in Slack app</a:t>
            </a:r>
            <a:r>
              <a:rPr sz="1500">
                <a:solidFill>
                  <a:srgbClr val="1D1C1D"/>
                </a:solidFill>
                <a:latin typeface="Helvetica Neue"/>
              </a:rPr>
              <a:t> — same place, far more capable.</a:t>
            </a:r>
          </a:p>
        </p:txBody>
      </p:sp>
      <p:sp>
        <p:nvSpPr>
          <p:cNvPr id="59" name="h2p-11-box-53"/>
          <p:cNvSpPr/>
          <p:nvPr/>
        </p:nvSpPr>
        <p:spPr>
          <a:xfrm>
            <a:off x="4238244" y="2553004"/>
            <a:ext cx="247802" cy="247802"/>
          </a:xfrm>
          <a:prstGeom prst="roundRect">
            <a:avLst>
              <a:gd name="adj" fmla="val 26920"/>
            </a:avLst>
          </a:prstGeom>
          <a:solidFill>
            <a:srgbClr val="ECB2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h2p-11-text-54"/>
          <p:cNvSpPr txBox="1"/>
          <p:nvPr/>
        </p:nvSpPr>
        <p:spPr>
          <a:xfrm>
            <a:off x="4238244" y="2553004"/>
            <a:ext cx="252374" cy="2478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FFFFFF"/>
                </a:solidFill>
                <a:latin typeface="Helvetica Neue"/>
              </a:rPr>
              <a:t>✓</a:t>
            </a:r>
          </a:p>
        </p:txBody>
      </p:sp>
      <p:sp>
        <p:nvSpPr>
          <p:cNvPr id="61" name="h2p-11-text-55"/>
          <p:cNvSpPr txBox="1"/>
          <p:nvPr/>
        </p:nvSpPr>
        <p:spPr>
          <a:xfrm>
            <a:off x="4610404" y="2553004"/>
            <a:ext cx="4787798" cy="2761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1D1C1D"/>
                </a:solidFill>
                <a:latin typeface="Helvetica Neue"/>
              </a:rPr>
              <a:t>Launch credits</a:t>
            </a:r>
            <a:r>
              <a:rPr sz="1500">
                <a:solidFill>
                  <a:srgbClr val="1D1C1D"/>
                </a:solidFill>
                <a:latin typeface="Helvetica Neue"/>
              </a:rPr>
              <a:t> provided to eligible orgs to get started.</a:t>
            </a:r>
          </a:p>
        </p:txBody>
      </p:sp>
      <p:sp>
        <p:nvSpPr>
          <p:cNvPr id="62" name="h2p-11-box-56"/>
          <p:cNvSpPr/>
          <p:nvPr/>
        </p:nvSpPr>
        <p:spPr>
          <a:xfrm>
            <a:off x="4238244" y="2962656"/>
            <a:ext cx="247802" cy="247802"/>
          </a:xfrm>
          <a:prstGeom prst="roundRect">
            <a:avLst>
              <a:gd name="adj" fmla="val 26920"/>
            </a:avLst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h2p-11-text-57"/>
          <p:cNvSpPr txBox="1"/>
          <p:nvPr/>
        </p:nvSpPr>
        <p:spPr>
          <a:xfrm>
            <a:off x="4238244" y="2962656"/>
            <a:ext cx="252374" cy="24780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200">
                <a:solidFill>
                  <a:srgbClr val="FFFFFF"/>
                </a:solidFill>
                <a:latin typeface="Helvetica Neue"/>
              </a:rPr>
              <a:t>☉</a:t>
            </a:r>
          </a:p>
        </p:txBody>
      </p:sp>
      <p:sp>
        <p:nvSpPr>
          <p:cNvPr id="64" name="h2p-11-text-58"/>
          <p:cNvSpPr txBox="1"/>
          <p:nvPr/>
        </p:nvSpPr>
        <p:spPr>
          <a:xfrm>
            <a:off x="4610404" y="2962656"/>
            <a:ext cx="4762195" cy="27614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2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D1C1D"/>
                </a:solidFill>
                <a:latin typeface="Helvetica Neue"/>
              </a:rPr>
              <a:t>Runs on </a:t>
            </a:r>
            <a:r>
              <a:rPr b="1" sz="1500">
                <a:solidFill>
                  <a:srgbClr val="1D1C1D"/>
                </a:solidFill>
                <a:latin typeface="Helvetica Neue"/>
              </a:rPr>
              <a:t>Claude Opus 4.8</a:t>
            </a:r>
            <a:r>
              <a:rPr sz="1500">
                <a:solidFill>
                  <a:srgbClr val="1D1C1D"/>
                </a:solidFill>
                <a:latin typeface="Helvetica Neue"/>
              </a:rPr>
              <a:t> — our most capable model.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h2p-12-box-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bg_da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h2p-12-box-2"/>
          <p:cNvSpPr/>
          <p:nvPr/>
        </p:nvSpPr>
        <p:spPr>
          <a:xfrm>
            <a:off x="0" y="0"/>
            <a:ext cx="724204" cy="6858000"/>
          </a:xfrm>
          <a:prstGeom prst="rect">
            <a:avLst/>
          </a:prstGeom>
          <a:solidFill>
            <a:srgbClr val="350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646" y="171907"/>
            <a:ext cx="437997" cy="437997"/>
          </a:xfrm>
          <a:prstGeom prst="rect">
            <a:avLst/>
          </a:prstGeom>
        </p:spPr>
      </p:pic>
      <p:sp>
        <p:nvSpPr>
          <p:cNvPr id="6" name="h2p-12-box-3"/>
          <p:cNvSpPr/>
          <p:nvPr/>
        </p:nvSpPr>
        <p:spPr>
          <a:xfrm>
            <a:off x="142646" y="761695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h2p-12-text-4"/>
          <p:cNvSpPr txBox="1"/>
          <p:nvPr/>
        </p:nvSpPr>
        <p:spPr>
          <a:xfrm>
            <a:off x="142646" y="761695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8" name="h2p-12-box-5"/>
          <p:cNvSpPr/>
          <p:nvPr/>
        </p:nvSpPr>
        <p:spPr>
          <a:xfrm>
            <a:off x="142646" y="1352397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h2p-12-text-6"/>
          <p:cNvSpPr txBox="1"/>
          <p:nvPr/>
        </p:nvSpPr>
        <p:spPr>
          <a:xfrm>
            <a:off x="142646" y="1352397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0" name="h2p-12-box-7"/>
          <p:cNvSpPr/>
          <p:nvPr/>
        </p:nvSpPr>
        <p:spPr>
          <a:xfrm>
            <a:off x="142646" y="1943100"/>
            <a:ext cx="437997" cy="437997"/>
          </a:xfrm>
          <a:prstGeom prst="roundRect">
            <a:avLst>
              <a:gd name="adj" fmla="val 2826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h2p-12-text-8"/>
          <p:cNvSpPr txBox="1"/>
          <p:nvPr/>
        </p:nvSpPr>
        <p:spPr>
          <a:xfrm>
            <a:off x="142646" y="1943100"/>
            <a:ext cx="447141" cy="43799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lnSpc>
                <a:spcPts val="16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350">
                <a:solidFill>
                  <a:srgbClr val="D7C4D7"/>
                </a:solidFill>
                <a:latin typeface="Helvetica Neue"/>
              </a:rPr>
              <a:t>#</a:t>
            </a:r>
          </a:p>
        </p:txBody>
      </p:sp>
      <p:sp>
        <p:nvSpPr>
          <p:cNvPr id="12" name="h2p-12-box-9"/>
          <p:cNvSpPr/>
          <p:nvPr/>
        </p:nvSpPr>
        <p:spPr>
          <a:xfrm>
            <a:off x="161848" y="6286500"/>
            <a:ext cx="400507" cy="400507"/>
          </a:xfrm>
          <a:prstGeom prst="roundRect">
            <a:avLst>
              <a:gd name="adj" fmla="val 26190"/>
            </a:avLst>
          </a:prstGeom>
          <a:solidFill>
            <a:srgbClr val="36C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2p-12-box-10"/>
          <p:cNvSpPr/>
          <p:nvPr/>
        </p:nvSpPr>
        <p:spPr>
          <a:xfrm>
            <a:off x="448056" y="6572707"/>
            <a:ext cx="142646" cy="142646"/>
          </a:xfrm>
          <a:prstGeom prst="roundRect">
            <a:avLst>
              <a:gd name="adj" fmla="val 50000"/>
            </a:avLst>
          </a:prstGeom>
          <a:solidFill>
            <a:srgbClr val="2BAC76"/>
          </a:solidFill>
          <a:ln w="27940">
            <a:solidFill>
              <a:srgbClr val="350D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h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9104" y="990295"/>
            <a:ext cx="914400" cy="914400"/>
          </a:xfrm>
          <a:prstGeom prst="rect">
            <a:avLst/>
          </a:prstGeom>
        </p:spPr>
      </p:pic>
      <p:sp>
        <p:nvSpPr>
          <p:cNvPr id="15" name="h2p-12-text-11"/>
          <p:cNvSpPr txBox="1"/>
          <p:nvPr/>
        </p:nvSpPr>
        <p:spPr>
          <a:xfrm>
            <a:off x="-121615" y="2381097"/>
            <a:ext cx="12435840" cy="8577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665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5550">
                <a:solidFill>
                  <a:srgbClr val="FFFFFF"/>
                </a:solidFill>
                <a:latin typeface="Helvetica Neue"/>
              </a:rPr>
              <a:t>Your team just got bigger.</a:t>
            </a:r>
          </a:p>
        </p:txBody>
      </p:sp>
      <p:sp>
        <p:nvSpPr>
          <p:cNvPr id="16" name="h2p-12-text-12"/>
          <p:cNvSpPr txBox="1"/>
          <p:nvPr/>
        </p:nvSpPr>
        <p:spPr>
          <a:xfrm>
            <a:off x="-121615" y="3448202"/>
            <a:ext cx="12435840" cy="2670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2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720">
                <a:solidFill>
                  <a:srgbClr val="E4D6E4"/>
                </a:solidFill>
                <a:latin typeface="Helvetica Neue"/>
              </a:rPr>
              <a:t>Open Slack. Tag Claude. See what it does.</a:t>
            </a:r>
          </a:p>
        </p:txBody>
      </p:sp>
      <p:sp>
        <p:nvSpPr>
          <p:cNvPr id="17" name="h2p-12-box-13"/>
          <p:cNvSpPr/>
          <p:nvPr/>
        </p:nvSpPr>
        <p:spPr>
          <a:xfrm>
            <a:off x="2667304" y="5009997"/>
            <a:ext cx="6858000" cy="609904"/>
          </a:xfrm>
          <a:prstGeom prst="roundRect">
            <a:avLst>
              <a:gd name="adj" fmla="val 21880"/>
            </a:avLst>
          </a:prstGeom>
          <a:solidFill>
            <a:srgbClr val="FFFFFF"/>
          </a:solidFill>
          <a:ln w="19050">
            <a:solidFill>
              <a:srgbClr val="D977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h2p-12-box-14"/>
          <p:cNvSpPr/>
          <p:nvPr/>
        </p:nvSpPr>
        <p:spPr>
          <a:xfrm>
            <a:off x="2876702" y="5186476"/>
            <a:ext cx="924458" cy="256946"/>
          </a:xfrm>
          <a:prstGeom prst="roundRect">
            <a:avLst>
              <a:gd name="adj" fmla="val 22220"/>
            </a:avLst>
          </a:prstGeom>
          <a:solidFill>
            <a:srgbClr val="FBEA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2p-12-text-15"/>
          <p:cNvSpPr txBox="1"/>
          <p:nvPr/>
        </p:nvSpPr>
        <p:spPr>
          <a:xfrm>
            <a:off x="2876702" y="5186476"/>
            <a:ext cx="942746" cy="256946"/>
          </a:xfrm>
          <a:prstGeom prst="rect">
            <a:avLst/>
          </a:prstGeom>
          <a:noFill/>
        </p:spPr>
        <p:txBody>
          <a:bodyPr wrap="square" lIns="66751" tIns="9144" rIns="66751" bIns="9144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sz="1500">
                <a:solidFill>
                  <a:srgbClr val="D97757"/>
                </a:solidFill>
                <a:latin typeface="Helvetica Neue"/>
              </a:rPr>
              <a:t>@Claude</a:t>
            </a:r>
          </a:p>
        </p:txBody>
      </p:sp>
      <p:sp>
        <p:nvSpPr>
          <p:cNvPr id="20" name="h2p-12-text-16"/>
          <p:cNvSpPr txBox="1"/>
          <p:nvPr/>
        </p:nvSpPr>
        <p:spPr>
          <a:xfrm>
            <a:off x="3896258" y="5201107"/>
            <a:ext cx="1353312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500">
                <a:solidFill>
                  <a:srgbClr val="1D1C1D"/>
                </a:solidFill>
                <a:latin typeface="Helvetica Neue"/>
              </a:rPr>
              <a:t>let's get started</a:t>
            </a:r>
          </a:p>
        </p:txBody>
      </p:sp>
      <p:sp>
        <p:nvSpPr>
          <p:cNvPr id="21" name="h2p-12-box-17"/>
          <p:cNvSpPr/>
          <p:nvPr/>
        </p:nvSpPr>
        <p:spPr>
          <a:xfrm>
            <a:off x="5318150" y="5210251"/>
            <a:ext cx="19202" cy="209397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h2p-12-text-18"/>
          <p:cNvSpPr txBox="1"/>
          <p:nvPr/>
        </p:nvSpPr>
        <p:spPr>
          <a:xfrm>
            <a:off x="9176004" y="5229453"/>
            <a:ext cx="142646" cy="17190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l">
              <a:lnSpc>
                <a:spcPts val="14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200">
                <a:solidFill>
                  <a:srgbClr val="1D1C1D"/>
                </a:solidFill>
                <a:latin typeface="Helvetica Neue"/>
              </a:rPr>
              <a:t>➤</a:t>
            </a:r>
          </a:p>
        </p:txBody>
      </p:sp>
      <p:sp>
        <p:nvSpPr>
          <p:cNvPr id="23" name="h2p-12-text-19"/>
          <p:cNvSpPr txBox="1"/>
          <p:nvPr/>
        </p:nvSpPr>
        <p:spPr>
          <a:xfrm>
            <a:off x="2598724" y="5790895"/>
            <a:ext cx="6995160" cy="1527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indent="0" algn="ctr">
              <a:lnSpc>
                <a:spcPts val="12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50">
                <a:solidFill>
                  <a:srgbClr val="A98FAA"/>
                </a:solidFill>
                <a:latin typeface="Menlo"/>
              </a:rPr>
              <a:t>CLAUDE TAG · ANTHROPIC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